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开场先让观众记住动作：捏一下，它就抱住你。本案是设计管理课程中的校园纪念品产品提案；苏大与品牌均未授权，图片是AI概念可视化，并非实物照片。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这是一条决策链，而非公司介绍。第一步是研究假设，后续必须以学生访谈、样机体验与付费意愿测试验证。设计总监负责让用户价值、机构可行性和成本约束指向同一个动作。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此页按要求完全留白，供汇报人插入角色介绍图片。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牌口号与产品名称用于建立研究对象。此处展示代表产品的发展线索，不作为逐年发布年表。已核对官方产品页的五款产品与行为描述；本页按体验演进组织，不以页面上传路径推断上市年份。下页开始的象限与分类是本项目的设计研究解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矩阵把产品按互动入口与身体接触关系分组，不是统计测量。BOCCO承担家庭沟通，其他代表产品把感知集中到某个生活动作；我们重点借鉴后者的清晰程度，而非照搬机构。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代表行为用于解释品牌的产品识别方式。每件产品可能有多种内部逻辑和操作，本页强调用户首先感知到的动作，不主张其真实功能仅有一种。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这里的低技术感描述用户体验，不代表内部技术简单。鼠大转译的是体验原则：让动作可解释、触觉优先；其机械方案仍需工程验证。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生态图是按使用关系建立的研究图，不表示设备互联或官方产品架构。鼠大的位置是随身与触觉的交叉：校园纪念品通过单一动作进入日常。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象限是提案的目标定位而非客观评分。Yukai各产品有差异，这里只概括其触觉陪伴代表产品的体验气质。鼠大能否提供高情绪价值，必须用用户实验验证。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这是校园纪念品研究的初步观察，并非对所有学校商品的普查结论。后续应抽样校内文创商店与线上售卖页面，核实互动型商品覆盖情况。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核心对象为18至25岁在校学生和年轻校友，不代表已完成真实访谈。至少覆盖日常自用、毕业纪念、朋友互赠三类动机；验证时分别观察动作理解、携带负担和付费意愿。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旅程是拟定体验路径。样机测试时分别记录第一次触摸前后、演示前后的反应，不以社交分享意愿代替真实购买，也不把点赞当成市场规模。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气泡大小只表示讨论时的相对关注度，没有定量研究基础。互动动作、IP识别和尺寸是首版必须验证的三项；尾部磁吸为次级体验，成本或安全不成立时可延后。电子功能不进入当前版本。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按类别而非具体SKU比较，不能用于证明所有竞品均不具备某特征。鼠大一行是目标，不是已验证优势。实测应选同价格带和相近尺寸的样品，补充价格、洗护、重量与耐久度。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真正的问题不是是否存在世界上完全相同的商品，而是校园渠道的目标用户是否愿意为明确、可触摸的动作多付一点成本。必须同时验证校园授权、用户需求及机构可制造性。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花枝鼠是宠物大鼠的俗称，本案为其拟人化毛绒设计。避免直接等同实验动物或普通卡通老鼠。苏大谐音只是命名提案，校名、校徽与文创销售须事先获得学校相应授权。五色与学士服领色仅作为纪念关联线索，需核对校方规范，不承诺学科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第一记忆点只有捏压拥抱。交互目标是腹部受压后前爪内合，撤去按压仍保持，再由用户主动掰开释放。图中为造型与动作示意，不代表机构已经验证。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四格与用户给定NORMAL-SQUEEZE-HUG-HOLD一致，底部补全RELEASE，避免把保持与释放混淆。闭合、保持和手动释放都需在独立机构样机上演示。抱持不是强夹持，要验证舒适性、快速逃脱、夹点与过载行为。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场景图延续封面造型。图像只用于说明交互目标，不能证明机构已实现。实际测试要观察用户是否自然找到腹部、能否独立完成按压和释放，过程中是否感觉被夹或难以脱开。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肩带场景复用前爪行为，不另加一套交互。该场景对闭合行程和抱持力提出额外约束：需要分别测不同肩带厚度、走动振动、意外拉扯和脱落。正式商品可评估隐藏式保险挂环，但不能用它掩盖拥抱机构失败。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尾巴磁吸为次级社交体验，服务合影和互赠，不替代核心拥抱。心形需要预成型软支撑与磁极方向配合，不能假定软尾巴靠磁铁就会自动成心。磁体应不可拆取并可靠封装，验证拉脱、吞咽、洗护及磁极配对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先用黄白主色验证一套版型和机构，再扩展粉灰白柔红，减少多SKU并行带来的库存与一致性风险。领色关联是设计叙事，不应宣称其与所有院系官方领色一一对应。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包内合影场景把配色与朋友关系连接。商业上并不建议首批同时大量生产五色，应在样品体验中记录颜色偏好，再决定先上主色和最有需求的一款扩展色。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F意向需与工厂验证：渐变效果可比较喷染、分区绒料或印花，优先低转移、低色差的可量产方式。颗粒填充要独立双层内袋，不能进入机构；明确填料材质、可追溯性和洗护方式，避免对手感或安全作未经测试的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能把普通挤压连杆直接当成能保持的机构。候选路径为腹部板驱动连杆，经过越中心弹性保持；掰开前爪反向复位。它可能出现锁死、力突变、寿命不足、影响豆袋手感等问题，必须先做无绒布机构样机。另比较弹性双稳态与摩擦保持，选择能稳定保持且轻松脱开的方案。所有行程、材料、夹持力与尺寸均未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员工是分工比喻，不表示使用了真实员工或已完成工程工作。本轮实际执行为资料访问尝试、统一参考图的场景生成、图解与HTML制作；已核验官方产品总览的行为描述与产品图，独立产品站点仍需逐项补查。Research卡描述后续验收要求，Structure卡的产出只是机构候选。设计总监对证据、授权、安全和选型承担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此时间线依据用户给定的概念演进顺序整理，不代表已有历史原型或用户测试记录。为可追溯管理，每次迭代应保存日期、关键假设、样机证据与淘汰原因。下一步不是继续加功能，而是验证抱持机构。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周数、百分比和循环次数都是建议计划或验收门槛，不是实测数据。建议先招募12至20名目标用户探索需求，G1以多只独立样机测试同一流程，G2试产数量由工厂MOQ和损耗预算决定。1,000次仅是内部初步目标，不能代替适用安全标准的检测。价格测试需在成本报价后确定候选售价，分别记录真实购买与口头意愿。渠道包括校方授权门店和毕业季快闪，未取得合作。各阶段只有对应门槛达标才推进；低于毛利门槛应先改设计与采购而非盲目涨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设计总监的最终决策是冻结首版范围，但不提前宣称成功。当前可以批准机构验证与单色造型打样，不应批准未经验证的量产。校方授权、安全检测、用户接受度和完整成本核算是放量前置条件。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回到动作，而不是功能清单。已读取Yukai官方产品总览，确认家庭沟通、摇尾、轻咬、吹气及偷瞄的代表行为；部分独立产品站点为脚本页面或失效链接，优先以官方总览为准。本轮未提供独立用户调查或已量产证据。汇报前应补充校方授权依据、官方产品信息、真实机构样机视频和用户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dependent image" descr="image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3" name="Cover text-area background repair" descr="image.png"/>
          <p:cNvPicPr>
            <a:picLocks noChangeAspect="1"/>
          </p:cNvPicPr>
          <p:nvPr/>
        </p:nvPicPr>
        <p:blipFill>
          <a:blip r:embed="rId4"/>
          <a:srcRect l="2871" r="66627" t="9033" b="87566"/>
          <a:stretch>
            <a:fillRect/>
          </a:stretch>
        </p:blipFill>
        <p:spPr>
          <a:xfrm>
            <a:off x="350010" y="619809"/>
            <a:ext cx="3718852" cy="233340"/>
          </a:xfrm>
          <a:prstGeom prst="rect">
            <a:avLst/>
          </a:prstGeom>
          <a:effectLst/>
        </p:spPr>
      </p:pic>
      <p:pic>
        <p:nvPicPr>
          <p:cNvPr id="4" name="Cover text-area background repair" descr="image.png"/>
          <p:cNvPicPr>
            <a:picLocks noChangeAspect="1"/>
          </p:cNvPicPr>
          <p:nvPr/>
        </p:nvPicPr>
        <p:blipFill>
          <a:blip r:embed="rId4"/>
          <a:srcRect l="2691" r="70694" t="19129" b="48990"/>
          <a:stretch>
            <a:fillRect/>
          </a:stretch>
        </p:blipFill>
        <p:spPr>
          <a:xfrm>
            <a:off x="328134" y="1312536"/>
            <a:ext cx="3244880" cy="2187560"/>
          </a:xfrm>
          <a:prstGeom prst="rect">
            <a:avLst/>
          </a:prstGeom>
          <a:effectLst/>
        </p:spPr>
      </p:pic>
      <p:pic>
        <p:nvPicPr>
          <p:cNvPr id="5" name="Cover text-area background repair" descr="image.png"/>
          <p:cNvPicPr>
            <a:picLocks noChangeAspect="1"/>
          </p:cNvPicPr>
          <p:nvPr/>
        </p:nvPicPr>
        <p:blipFill>
          <a:blip r:embed="rId4"/>
          <a:srcRect l="2931" r="61483" t="53985" b="41020"/>
          <a:stretch>
            <a:fillRect/>
          </a:stretch>
        </p:blipFill>
        <p:spPr>
          <a:xfrm>
            <a:off x="357301" y="3704268"/>
            <a:ext cx="4338660" cy="342718"/>
          </a:xfrm>
          <a:prstGeom prst="rect">
            <a:avLst/>
          </a:prstGeom>
          <a:effectLst/>
        </p:spPr>
      </p:pic>
      <p:pic>
        <p:nvPicPr>
          <p:cNvPr id="6" name="Cover text-area background repair" descr="image.png"/>
          <p:cNvPicPr>
            <a:picLocks noChangeAspect="1"/>
          </p:cNvPicPr>
          <p:nvPr/>
        </p:nvPicPr>
        <p:blipFill>
          <a:blip r:embed="rId4"/>
          <a:srcRect l="3110" r="76555" t="70457" b="23061"/>
          <a:stretch>
            <a:fillRect/>
          </a:stretch>
        </p:blipFill>
        <p:spPr>
          <a:xfrm>
            <a:off x="379177" y="4834507"/>
            <a:ext cx="2479234" cy="444804"/>
          </a:xfrm>
          <a:prstGeom prst="rect">
            <a:avLst/>
          </a:prstGeom>
          <a:effectLst/>
        </p:spPr>
      </p:pic>
      <p:pic>
        <p:nvPicPr>
          <p:cNvPr id="7" name="Cover text-area background repair" descr="image.png"/>
          <p:cNvPicPr>
            <a:picLocks noChangeAspect="1"/>
          </p:cNvPicPr>
          <p:nvPr/>
        </p:nvPicPr>
        <p:blipFill>
          <a:blip r:embed="rId4"/>
          <a:srcRect l="2990" r="72488" t="90223" b="5632"/>
          <a:stretch>
            <a:fillRect/>
          </a:stretch>
        </p:blipFill>
        <p:spPr>
          <a:xfrm>
            <a:off x="364593" y="6190794"/>
            <a:ext cx="2989665" cy="284383"/>
          </a:xfrm>
          <a:prstGeom prst="rect">
            <a:avLst/>
          </a:prstGeom>
          <a:effectLst/>
        </p:spPr>
      </p:pic>
      <p:sp>
        <p:nvSpPr>
          <p:cNvPr id="8" name="Text: DESIGN MANAGEMENT / PRODUCT CONCEPT"/>
          <p:cNvSpPr txBox="1"/>
          <p:nvPr/>
        </p:nvSpPr>
        <p:spPr>
          <a:xfrm>
            <a:off x="430220" y="633809"/>
            <a:ext cx="3601696" cy="1839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688" b="0" i="0" spc="175" lang="zh-CN" dirty="0">
                <a:solidFill>
                  <a:srgbClr val="785B4C"/>
                </a:solidFill>
                <a:latin typeface="Zen Maru Gothic"/>
                <a:ea typeface="Zen Maru Gothic"/>
                <a:cs typeface="Zen Maru Gothic"/>
              </a:rPr>
              <a:t>DESIGN MANAGEMENT / PRODUCT CONCEPT</a:t>
            </a:r>
          </a:p>
        </p:txBody>
      </p:sp>
      <p:sp>
        <p:nvSpPr>
          <p:cNvPr id="9" name="Text: 鼠大"/>
          <p:cNvSpPr txBox="1"/>
          <p:nvPr/>
        </p:nvSpPr>
        <p:spPr>
          <a:xfrm>
            <a:off x="357301" y="1007663"/>
            <a:ext cx="3592119" cy="2209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4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 spc="0" lang="zh-CN" dirty="0">
                <a:solidFill>
                  <a:srgbClr val="E66B35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0" name="Text: S U D A"/>
          <p:cNvSpPr txBox="1"/>
          <p:nvPr/>
        </p:nvSpPr>
        <p:spPr>
          <a:xfrm>
            <a:off x="430220" y="3078115"/>
            <a:ext cx="2945428" cy="454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2468" b="0" i="0" spc="600" lang="zh-CN" dirty="0">
                <a:solidFill>
                  <a:srgbClr val="E66B35"/>
                </a:solidFill>
                <a:latin typeface="Zen Maru Gothic"/>
                <a:ea typeface="Zen Maru Gothic"/>
                <a:cs typeface="Zen Maru Gothic"/>
              </a:rPr>
              <a:t>S U D A</a:t>
            </a:r>
          </a:p>
        </p:txBody>
      </p:sp>
      <p:sp>
        <p:nvSpPr>
          <p:cNvPr id="11" name="Text: 会主动抱住你的苏大互动花枝鼠玩偶"/>
          <p:cNvSpPr txBox="1"/>
          <p:nvPr/>
        </p:nvSpPr>
        <p:spPr>
          <a:xfrm>
            <a:off x="430220" y="3669340"/>
            <a:ext cx="4403801" cy="3662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</a:pP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会主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抱住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大互</a:t>
            </a:r>
            <a:r>
              <a:rPr sz="1779" b="0" i="0" spc="70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779" b="0" i="0" spc="70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花枝鼠玩偶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388" y="4922010"/>
            <a:ext cx="342717" cy="0"/>
          </a:xfrm>
          <a:prstGeom prst="line">
            <a:avLst/>
          </a:prstGeom>
          <a:ln w="36459">
            <a:solidFill>
              <a:srgbClr val="A5C3D0"/>
            </a:solidFill>
          </a:ln>
          <a:effectLst/>
        </p:spPr>
      </p:cxnSp>
      <p:sp>
        <p:nvSpPr>
          <p:cNvPr id="13" name="Text: SQUEEZE TO HUG."/>
          <p:cNvSpPr txBox="1"/>
          <p:nvPr/>
        </p:nvSpPr>
        <p:spPr>
          <a:xfrm>
            <a:off x="444804" y="5022273"/>
            <a:ext cx="2945428" cy="293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1"/>
              </a:lnSpc>
              <a:spcBef>
                <a:spcPts val="0"/>
              </a:spcBef>
              <a:spcAft>
                <a:spcPts val="0"/>
              </a:spcAft>
            </a:pPr>
            <a:r>
              <a:rPr sz="1435" b="0" i="0" spc="200" lang="zh-CN" dirty="0">
                <a:solidFill>
                  <a:srgbClr val="DF6F43"/>
                </a:solidFill>
                <a:latin typeface="Zen Maru Gothic"/>
                <a:ea typeface="Zen Maru Gothic"/>
                <a:cs typeface="Zen Maru Gothic"/>
              </a:rPr>
              <a:t>SQUEEZE TO HUG.</a:t>
            </a:r>
          </a:p>
        </p:txBody>
      </p:sp>
      <p:sp>
        <p:nvSpPr>
          <p:cNvPr id="14" name="Text: 苏大「鼠大」互动花枝鼠玩偶产品策划"/>
          <p:cNvSpPr txBox="1"/>
          <p:nvPr/>
        </p:nvSpPr>
        <p:spPr>
          <a:xfrm>
            <a:off x="430220" y="6177669"/>
            <a:ext cx="3382940" cy="2641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5"/>
              </a:lnSpc>
              <a:spcBef>
                <a:spcPts val="0"/>
              </a:spcBef>
              <a:spcAft>
                <a:spcPts val="0"/>
              </a:spcAft>
            </a:pP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大「鼠大」互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花枝鼠玩偶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148" b="0" i="0" spc="25" lang="zh-CN" dirty="0">
                <a:solidFill>
                  <a:srgbClr val="796558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1148" b="0" i="0" spc="25" lang="zh-CN" dirty="0">
                <a:solidFill>
                  <a:srgbClr val="796558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"/>
          <p:cNvSpPr txBox="1"/>
          <p:nvPr/>
        </p:nvSpPr>
        <p:spPr>
          <a:xfrm>
            <a:off x="571500" y="400748"/>
            <a:ext cx="27076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03275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OJECT"/>
          <p:cNvSpPr txBox="1"/>
          <p:nvPr/>
        </p:nvSpPr>
        <p:spPr>
          <a:xfrm>
            <a:off x="964208" y="400748"/>
            <a:ext cx="8626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PROJECT</a:t>
            </a:r>
          </a:p>
        </p:txBody>
      </p:sp>
      <p:sp>
        <p:nvSpPr>
          <p:cNvPr id="5" name="Text: IN"/>
          <p:cNvSpPr txBox="1"/>
          <p:nvPr/>
        </p:nvSpPr>
        <p:spPr>
          <a:xfrm>
            <a:off x="1787922" y="400748"/>
            <a:ext cx="27463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</a:t>
            </a:r>
          </a:p>
        </p:txBody>
      </p:sp>
      <p:sp>
        <p:nvSpPr>
          <p:cNvPr id="6" name="Text: ONE"/>
          <p:cNvSpPr txBox="1"/>
          <p:nvPr/>
        </p:nvSpPr>
        <p:spPr>
          <a:xfrm>
            <a:off x="2023566" y="400748"/>
            <a:ext cx="444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7" name="Text: MINUTE"/>
          <p:cNvSpPr txBox="1"/>
          <p:nvPr/>
        </p:nvSpPr>
        <p:spPr>
          <a:xfrm>
            <a:off x="2428776" y="400748"/>
            <a:ext cx="7229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MINUTE</a:t>
            </a:r>
          </a:p>
        </p:txBody>
      </p:sp>
      <p:sp>
        <p:nvSpPr>
          <p:cNvPr id="8" name="Text: 把校园身份，变成一次被抱住的记忆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把校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变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成一次被抱住的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9" name="Editable rounded card"/>
          <p:cNvSpPr/>
          <p:nvPr/>
        </p:nvSpPr>
        <p:spPr>
          <a:xfrm>
            <a:off x="57150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发现"/>
          <p:cNvSpPr txBox="1"/>
          <p:nvPr/>
        </p:nvSpPr>
        <p:spPr>
          <a:xfrm>
            <a:off x="762000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11" name="Text: 有符号，少行为"/>
          <p:cNvSpPr txBox="1"/>
          <p:nvPr/>
        </p:nvSpPr>
        <p:spPr>
          <a:xfrm>
            <a:off x="762000" y="2531832"/>
            <a:ext cx="1524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有符号，少行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2" name="Text: 常见纪念品便于识别，却缺少一"/>
          <p:cNvSpPr txBox="1"/>
          <p:nvPr/>
        </p:nvSpPr>
        <p:spPr>
          <a:xfrm>
            <a:off x="76200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常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见纪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念品便于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识别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，却缺少一</a:t>
            </a:r>
          </a:p>
        </p:txBody>
      </p:sp>
      <p:sp>
        <p:nvSpPr>
          <p:cNvPr id="13" name="Text: 次可演示的互动。"/>
          <p:cNvSpPr txBox="1"/>
          <p:nvPr/>
        </p:nvSpPr>
        <p:spPr>
          <a:xfrm>
            <a:off x="76200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次可演示的互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337502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机会"/>
          <p:cNvSpPr txBox="1"/>
          <p:nvPr/>
        </p:nvSpPr>
        <p:spPr>
          <a:xfrm>
            <a:off x="3565525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</a:t>
            </a:r>
          </a:p>
        </p:txBody>
      </p:sp>
      <p:sp>
        <p:nvSpPr>
          <p:cNvPr id="16" name="Text: 触觉是入口"/>
          <p:cNvSpPr txBox="1"/>
          <p:nvPr/>
        </p:nvSpPr>
        <p:spPr>
          <a:xfrm>
            <a:off x="356552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是入口</a:t>
            </a:r>
          </a:p>
        </p:txBody>
      </p:sp>
      <p:sp>
        <p:nvSpPr>
          <p:cNvPr id="17" name="Text: 把校园情感放进一件可以揉、"/>
          <p:cNvSpPr txBox="1"/>
          <p:nvPr/>
        </p:nvSpPr>
        <p:spPr>
          <a:xfrm>
            <a:off x="3565525" y="299938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把校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情感放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一件可以揉、</a:t>
            </a:r>
          </a:p>
        </p:txBody>
      </p:sp>
      <p:sp>
        <p:nvSpPr>
          <p:cNvPr id="18" name="Text: 抱、带走的小物。"/>
          <p:cNvSpPr txBox="1"/>
          <p:nvPr/>
        </p:nvSpPr>
        <p:spPr>
          <a:xfrm>
            <a:off x="3565525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走的小物。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617855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决策"/>
          <p:cNvSpPr txBox="1"/>
          <p:nvPr/>
        </p:nvSpPr>
        <p:spPr>
          <a:xfrm>
            <a:off x="6369050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决策</a:t>
            </a:r>
          </a:p>
        </p:txBody>
      </p:sp>
      <p:sp>
        <p:nvSpPr>
          <p:cNvPr id="21" name="Text: 只保留拥抱"/>
          <p:cNvSpPr txBox="1"/>
          <p:nvPr/>
        </p:nvSpPr>
        <p:spPr>
          <a:xfrm>
            <a:off x="6369050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只保留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22" name="Text: 从多功能探索，收敛到一个清楚"/>
          <p:cNvSpPr txBox="1"/>
          <p:nvPr/>
        </p:nvSpPr>
        <p:spPr>
          <a:xfrm>
            <a:off x="636905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从多功能探索，收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敛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到一个清楚</a:t>
            </a:r>
          </a:p>
        </p:txBody>
      </p:sp>
      <p:sp>
        <p:nvSpPr>
          <p:cNvPr id="23" name="Text: 的拟生动作。"/>
          <p:cNvSpPr txBox="1"/>
          <p:nvPr/>
        </p:nvSpPr>
        <p:spPr>
          <a:xfrm>
            <a:off x="6369050" y="328513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898207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DEA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产品"/>
          <p:cNvSpPr txBox="1"/>
          <p:nvPr/>
        </p:nvSpPr>
        <p:spPr>
          <a:xfrm>
            <a:off x="9172575" y="2102890"/>
            <a:ext cx="4699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26" name="Text: 鼠大"/>
          <p:cNvSpPr txBox="1"/>
          <p:nvPr/>
        </p:nvSpPr>
        <p:spPr>
          <a:xfrm>
            <a:off x="9172575" y="2531832"/>
            <a:ext cx="508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9635827" y="2531832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SUDA"/>
          <p:cNvSpPr txBox="1"/>
          <p:nvPr/>
        </p:nvSpPr>
        <p:spPr>
          <a:xfrm>
            <a:off x="9803705" y="2531832"/>
            <a:ext cx="620812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9" name="Text: 捏压腹部，前爪抱住手指，手动"/>
          <p:cNvSpPr txBox="1"/>
          <p:nvPr/>
        </p:nvSpPr>
        <p:spPr>
          <a:xfrm>
            <a:off x="9172575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腹部，前爪抱住手指，手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</a:p>
        </p:txBody>
      </p:sp>
      <p:sp>
        <p:nvSpPr>
          <p:cNvPr id="30" name="Text: 掰开释放。"/>
          <p:cNvSpPr txBox="1"/>
          <p:nvPr/>
        </p:nvSpPr>
        <p:spPr>
          <a:xfrm>
            <a:off x="9172575" y="3285133"/>
            <a:ext cx="89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掰开释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放。</a:t>
            </a:r>
          </a:p>
        </p:txBody>
      </p:sp>
      <p:sp>
        <p:nvSpPr>
          <p:cNvPr id="31" name="Text: 发现"/>
          <p:cNvSpPr txBox="1"/>
          <p:nvPr/>
        </p:nvSpPr>
        <p:spPr>
          <a:xfrm>
            <a:off x="4606330" y="4548275"/>
            <a:ext cx="5715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32" name="Text: →"/>
          <p:cNvSpPr txBox="1"/>
          <p:nvPr/>
        </p:nvSpPr>
        <p:spPr>
          <a:xfrm>
            <a:off x="5142012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Text: 机会"/>
          <p:cNvSpPr txBox="1"/>
          <p:nvPr/>
        </p:nvSpPr>
        <p:spPr>
          <a:xfrm>
            <a:off x="5442744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</a:t>
            </a:r>
          </a:p>
        </p:txBody>
      </p:sp>
      <p:sp>
        <p:nvSpPr>
          <p:cNvPr id="34" name="Text: →"/>
          <p:cNvSpPr txBox="1"/>
          <p:nvPr/>
        </p:nvSpPr>
        <p:spPr>
          <a:xfrm>
            <a:off x="5978426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5" name="Text: 决策"/>
          <p:cNvSpPr txBox="1"/>
          <p:nvPr/>
        </p:nvSpPr>
        <p:spPr>
          <a:xfrm>
            <a:off x="6279158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决策</a:t>
            </a:r>
          </a:p>
        </p:txBody>
      </p:sp>
      <p:sp>
        <p:nvSpPr>
          <p:cNvPr id="36" name="Text: →"/>
          <p:cNvSpPr txBox="1"/>
          <p:nvPr/>
        </p:nvSpPr>
        <p:spPr>
          <a:xfrm>
            <a:off x="6814840" y="4548275"/>
            <a:ext cx="3366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7" name="Text: 产品"/>
          <p:cNvSpPr txBox="1"/>
          <p:nvPr/>
        </p:nvSpPr>
        <p:spPr>
          <a:xfrm>
            <a:off x="7115572" y="4548275"/>
            <a:ext cx="571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3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5" name="Text: 02"/>
          <p:cNvSpPr txBox="1"/>
          <p:nvPr/>
        </p:nvSpPr>
        <p:spPr>
          <a:xfrm>
            <a:off x="11272639" y="6466713"/>
            <a:ext cx="21014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46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BENCHMARK"/>
          <p:cNvSpPr txBox="1"/>
          <p:nvPr/>
        </p:nvSpPr>
        <p:spPr>
          <a:xfrm>
            <a:off x="972443" y="400748"/>
            <a:ext cx="111948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BENCHMARK</a:t>
            </a:r>
          </a:p>
        </p:txBody>
      </p:sp>
      <p:sp>
        <p:nvSpPr>
          <p:cNvPr id="5" name="Text: Yukai"/>
          <p:cNvSpPr txBox="1"/>
          <p:nvPr/>
        </p:nvSpPr>
        <p:spPr>
          <a:xfrm>
            <a:off x="571500" y="706374"/>
            <a:ext cx="1058763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6" name="Text: 把机器人，放进轻松的日常。"/>
          <p:cNvSpPr txBox="1"/>
          <p:nvPr/>
        </p:nvSpPr>
        <p:spPr>
          <a:xfrm>
            <a:off x="1648718" y="706374"/>
            <a:ext cx="546744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把机器人，放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进轻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松的日常。</a:t>
            </a:r>
          </a:p>
        </p:txBody>
      </p:sp>
      <p:sp>
        <p:nvSpPr>
          <p:cNvPr id="7" name="Text: Robotics"/>
          <p:cNvSpPr txBox="1"/>
          <p:nvPr/>
        </p:nvSpPr>
        <p:spPr>
          <a:xfrm>
            <a:off x="571500" y="2204641"/>
            <a:ext cx="279211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Robotics</a:t>
            </a:r>
          </a:p>
        </p:txBody>
      </p:sp>
      <p:sp>
        <p:nvSpPr>
          <p:cNvPr id="8" name="Text: for"/>
          <p:cNvSpPr txBox="1"/>
          <p:nvPr/>
        </p:nvSpPr>
        <p:spPr>
          <a:xfrm>
            <a:off x="571500" y="2941241"/>
            <a:ext cx="101917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for</a:t>
            </a:r>
          </a:p>
        </p:txBody>
      </p:sp>
      <p:sp>
        <p:nvSpPr>
          <p:cNvPr id="9" name="Text: Fun"/>
          <p:cNvSpPr txBox="1"/>
          <p:nvPr/>
        </p:nvSpPr>
        <p:spPr>
          <a:xfrm>
            <a:off x="1685826" y="2941241"/>
            <a:ext cx="122445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Fun</a:t>
            </a:r>
          </a:p>
        </p:txBody>
      </p:sp>
      <p:sp>
        <p:nvSpPr>
          <p:cNvPr id="10" name="Text: Living"/>
          <p:cNvSpPr txBox="1"/>
          <p:nvPr/>
        </p:nvSpPr>
        <p:spPr>
          <a:xfrm>
            <a:off x="3005435" y="2941241"/>
            <a:ext cx="195589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Living</a:t>
            </a:r>
          </a:p>
        </p:txBody>
      </p:sp>
      <p:sp>
        <p:nvSpPr>
          <p:cNvPr id="11" name="Text: 以有趣的身体行为，降低人与机器的距离。"/>
          <p:cNvSpPr txBox="1"/>
          <p:nvPr/>
        </p:nvSpPr>
        <p:spPr>
          <a:xfrm>
            <a:off x="571500" y="4072874"/>
            <a:ext cx="38417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以有趣的身体行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，降低人与机器的距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离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2" name="Editable rounded card"/>
          <p:cNvSpPr/>
          <p:nvPr/>
        </p:nvSpPr>
        <p:spPr>
          <a:xfrm>
            <a:off x="571500" y="4571901"/>
            <a:ext cx="2254250" cy="406400"/>
          </a:xfrm>
          <a:custGeom>
            <a:avLst/>
            <a:gdLst/>
            <a:ahLst/>
            <a:cxnLst/>
            <a:rect l="0" t="0" r="r" b="b"/>
            <a:pathLst>
              <a:path w="2254250" h="406400" fill="norm" stroke="0">
                <a:moveTo>
                  <a:pt x="203200" y="0"/>
                </a:moveTo>
                <a:lnTo>
                  <a:pt x="2051050" y="0"/>
                </a:lnTo>
                <a:cubicBezTo>
                  <a:pt x="2163274" y="0"/>
                  <a:pt x="2254250" y="90976"/>
                  <a:pt x="2254250" y="203200"/>
                </a:cubicBezTo>
                <a:lnTo>
                  <a:pt x="2254250" y="203200"/>
                </a:lnTo>
                <a:cubicBezTo>
                  <a:pt x="2254250" y="315424"/>
                  <a:pt x="2163274" y="406400"/>
                  <a:pt x="205105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lnTo>
                  <a:pt x="0" y="203200"/>
                </a:ln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: 研究对象：行为与情感的关系"/>
          <p:cNvSpPr txBox="1"/>
          <p:nvPr/>
        </p:nvSpPr>
        <p:spPr>
          <a:xfrm>
            <a:off x="749300" y="4654006"/>
            <a:ext cx="20002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象：行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与情感的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关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系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5836146" y="1835448"/>
            <a:ext cx="5784354" cy="3664545"/>
          </a:xfrm>
          <a:custGeom>
            <a:avLst/>
            <a:gdLst/>
            <a:ahLst/>
            <a:cxnLst/>
            <a:rect l="0" t="0" r="r" b="b"/>
            <a:pathLst>
              <a:path w="5784354" h="3664545" fill="norm" stroke="0">
                <a:moveTo>
                  <a:pt x="2892177" y="0"/>
                </a:moveTo>
                <a:lnTo>
                  <a:pt x="2892177" y="0"/>
                </a:lnTo>
                <a:cubicBezTo>
                  <a:pt x="4489482" y="0"/>
                  <a:pt x="5784354" y="820336"/>
                  <a:pt x="5784354" y="1832273"/>
                </a:cubicBezTo>
                <a:lnTo>
                  <a:pt x="5784354" y="3537545"/>
                </a:lnTo>
                <a:cubicBezTo>
                  <a:pt x="5784354" y="3607685"/>
                  <a:pt x="5727494" y="3664545"/>
                  <a:pt x="5657354" y="3664545"/>
                </a:cubicBezTo>
                <a:lnTo>
                  <a:pt x="127000" y="3664545"/>
                </a:lnTo>
                <a:cubicBezTo>
                  <a:pt x="56860" y="3664545"/>
                  <a:pt x="0" y="3607685"/>
                  <a:pt x="0" y="3537545"/>
                </a:cubicBezTo>
                <a:lnTo>
                  <a:pt x="0" y="1832273"/>
                </a:lnTo>
                <a:cubicBezTo>
                  <a:pt x="0" y="820336"/>
                  <a:pt x="1294872" y="0"/>
                  <a:pt x="2892177" y="0"/>
                </a:cubicBezTo>
                <a:close/>
              </a:path>
            </a:pathLst>
          </a:custGeom>
          <a:solidFill>
            <a:srgbClr val="F2ED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568" y="2839272"/>
            <a:ext cx="1366689" cy="769901"/>
          </a:xfrm>
          <a:prstGeom prst="rect">
            <a:avLst/>
          </a:prstGeom>
          <a:effectLst/>
        </p:spPr>
      </p:pic>
      <p:sp>
        <p:nvSpPr>
          <p:cNvPr id="16" name="Text: BOCCO"/>
          <p:cNvSpPr txBox="1"/>
          <p:nvPr/>
        </p:nvSpPr>
        <p:spPr>
          <a:xfrm>
            <a:off x="6751476" y="4085111"/>
            <a:ext cx="63847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pic>
        <p:nvPicPr>
          <p:cNvPr id="17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260" y="2839272"/>
            <a:ext cx="1366689" cy="769901"/>
          </a:xfrm>
          <a:prstGeom prst="rect">
            <a:avLst/>
          </a:prstGeom>
          <a:effectLst/>
        </p:spPr>
      </p:pic>
      <p:sp>
        <p:nvSpPr>
          <p:cNvPr id="18" name="Text: Qoobo"/>
          <p:cNvSpPr txBox="1"/>
          <p:nvPr/>
        </p:nvSpPr>
        <p:spPr>
          <a:xfrm>
            <a:off x="8362360" y="4085111"/>
            <a:ext cx="560090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pic>
        <p:nvPicPr>
          <p:cNvPr id="19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952" y="2839272"/>
            <a:ext cx="1366689" cy="769901"/>
          </a:xfrm>
          <a:prstGeom prst="rect">
            <a:avLst/>
          </a:prstGeom>
          <a:effectLst/>
        </p:spPr>
      </p:pic>
      <p:sp>
        <p:nvSpPr>
          <p:cNvPr id="20" name="Text: HAM HAM"/>
          <p:cNvSpPr txBox="1"/>
          <p:nvPr/>
        </p:nvSpPr>
        <p:spPr>
          <a:xfrm>
            <a:off x="9810127" y="4085111"/>
            <a:ext cx="807938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 HAM</a:t>
            </a:r>
          </a:p>
        </p:txBody>
      </p:sp>
      <p:sp>
        <p:nvSpPr>
          <p:cNvPr id="21" name="Text: 沟通入口"/>
          <p:cNvSpPr txBox="1"/>
          <p:nvPr/>
        </p:nvSpPr>
        <p:spPr>
          <a:xfrm>
            <a:off x="7260630" y="5042642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通入口</a:t>
            </a:r>
          </a:p>
        </p:txBody>
      </p:sp>
      <p:sp>
        <p:nvSpPr>
          <p:cNvPr id="22" name="Text: →"/>
          <p:cNvSpPr txBox="1"/>
          <p:nvPr/>
        </p:nvSpPr>
        <p:spPr>
          <a:xfrm>
            <a:off x="7994352" y="5042642"/>
            <a:ext cx="2731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3" name="Text: 触觉安抚"/>
          <p:cNvSpPr txBox="1"/>
          <p:nvPr/>
        </p:nvSpPr>
        <p:spPr>
          <a:xfrm>
            <a:off x="8213824" y="5042642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</a:p>
        </p:txBody>
      </p:sp>
      <p:sp>
        <p:nvSpPr>
          <p:cNvPr id="24" name="Text: →"/>
          <p:cNvSpPr txBox="1"/>
          <p:nvPr/>
        </p:nvSpPr>
        <p:spPr>
          <a:xfrm>
            <a:off x="8947646" y="5042642"/>
            <a:ext cx="2731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Text: 细小拟生反应"/>
          <p:cNvSpPr txBox="1"/>
          <p:nvPr/>
        </p:nvSpPr>
        <p:spPr>
          <a:xfrm>
            <a:off x="9167118" y="5042642"/>
            <a:ext cx="11303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细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生反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5801320"/>
            <a:ext cx="1104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71500" y="58013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8" name="Text: 代表产品线索："/>
          <p:cNvSpPr txBox="1"/>
          <p:nvPr/>
        </p:nvSpPr>
        <p:spPr>
          <a:xfrm>
            <a:off x="571500" y="5908254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代表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线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索：</a:t>
            </a:r>
          </a:p>
        </p:txBody>
      </p:sp>
      <p:sp>
        <p:nvSpPr>
          <p:cNvPr id="29" name="Text: BOCCO"/>
          <p:cNvSpPr txBox="1"/>
          <p:nvPr/>
        </p:nvSpPr>
        <p:spPr>
          <a:xfrm>
            <a:off x="1638201" y="5908254"/>
            <a:ext cx="6223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sp>
        <p:nvSpPr>
          <p:cNvPr id="30" name="Text: →"/>
          <p:cNvSpPr txBox="1"/>
          <p:nvPr/>
        </p:nvSpPr>
        <p:spPr>
          <a:xfrm>
            <a:off x="2201565" y="590825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Text: Qoobo"/>
          <p:cNvSpPr txBox="1"/>
          <p:nvPr/>
        </p:nvSpPr>
        <p:spPr>
          <a:xfrm>
            <a:off x="2396629" y="5908254"/>
            <a:ext cx="5461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32" name="Text: →"/>
          <p:cNvSpPr txBox="1"/>
          <p:nvPr/>
        </p:nvSpPr>
        <p:spPr>
          <a:xfrm>
            <a:off x="2883793" y="5908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Text: AMAGAMI"/>
          <p:cNvSpPr txBox="1"/>
          <p:nvPr/>
        </p:nvSpPr>
        <p:spPr>
          <a:xfrm>
            <a:off x="3078857" y="5908254"/>
            <a:ext cx="76835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34" name="Text: HAM"/>
          <p:cNvSpPr txBox="1"/>
          <p:nvPr/>
        </p:nvSpPr>
        <p:spPr>
          <a:xfrm>
            <a:off x="3788172" y="5908254"/>
            <a:ext cx="42277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35" name="Text: HAM"/>
          <p:cNvSpPr txBox="1"/>
          <p:nvPr/>
        </p:nvSpPr>
        <p:spPr>
          <a:xfrm>
            <a:off x="4151908" y="5908254"/>
            <a:ext cx="42287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36" name="Text: →"/>
          <p:cNvSpPr txBox="1"/>
          <p:nvPr/>
        </p:nvSpPr>
        <p:spPr>
          <a:xfrm>
            <a:off x="4515743" y="5908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7" name="Text: N"/>
          <p:cNvSpPr txBox="1"/>
          <p:nvPr/>
        </p:nvSpPr>
        <p:spPr>
          <a:xfrm>
            <a:off x="4710807" y="5908254"/>
            <a:ext cx="206177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38" name="Text: é"/>
          <p:cNvSpPr txBox="1"/>
          <p:nvPr/>
        </p:nvSpPr>
        <p:spPr>
          <a:xfrm>
            <a:off x="4815284" y="5908254"/>
            <a:ext cx="18157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39" name="Text: kojita"/>
          <p:cNvSpPr txBox="1"/>
          <p:nvPr/>
        </p:nvSpPr>
        <p:spPr>
          <a:xfrm>
            <a:off x="4895155" y="5908254"/>
            <a:ext cx="46196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40" name="Text: FuFu"/>
          <p:cNvSpPr txBox="1"/>
          <p:nvPr/>
        </p:nvSpPr>
        <p:spPr>
          <a:xfrm>
            <a:off x="5298083" y="5908254"/>
            <a:ext cx="42783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41" name="Text: /"/>
          <p:cNvSpPr txBox="1"/>
          <p:nvPr/>
        </p:nvSpPr>
        <p:spPr>
          <a:xfrm>
            <a:off x="5666978" y="59082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2" name="Text: Mirumi"/>
          <p:cNvSpPr txBox="1"/>
          <p:nvPr/>
        </p:nvSpPr>
        <p:spPr>
          <a:xfrm>
            <a:off x="5792788" y="5908254"/>
            <a:ext cx="55086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43" name="Text: 资料："/>
          <p:cNvSpPr txBox="1"/>
          <p:nvPr/>
        </p:nvSpPr>
        <p:spPr>
          <a:xfrm>
            <a:off x="571500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料：</a:t>
            </a:r>
          </a:p>
        </p:txBody>
      </p:sp>
      <p:sp>
        <p:nvSpPr>
          <p:cNvPr id="44" name="Text: Yukai"/>
          <p:cNvSpPr txBox="1"/>
          <p:nvPr/>
        </p:nvSpPr>
        <p:spPr>
          <a:xfrm>
            <a:off x="933450" y="6095262"/>
            <a:ext cx="376337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45" name="Text: Engineering"/>
          <p:cNvSpPr txBox="1"/>
          <p:nvPr/>
        </p:nvSpPr>
        <p:spPr>
          <a:xfrm>
            <a:off x="1241921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46" name="Text: 官方产品页"/>
          <p:cNvSpPr txBox="1"/>
          <p:nvPr/>
        </p:nvSpPr>
        <p:spPr>
          <a:xfrm>
            <a:off x="1899047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页</a:t>
            </a:r>
          </a:p>
        </p:txBody>
      </p:sp>
      <p:sp>
        <p:nvSpPr>
          <p:cNvPr id="47" name="Text: ·"/>
          <p:cNvSpPr txBox="1"/>
          <p:nvPr/>
        </p:nvSpPr>
        <p:spPr>
          <a:xfrm>
            <a:off x="2536130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8" name="Text: 图片版权归原权利人"/>
          <p:cNvSpPr txBox="1"/>
          <p:nvPr/>
        </p:nvSpPr>
        <p:spPr>
          <a:xfrm>
            <a:off x="2599234" y="6095262"/>
            <a:ext cx="11875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片版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权归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原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利人</a:t>
            </a:r>
          </a:p>
        </p:txBody>
      </p:sp>
      <p:sp>
        <p:nvSpPr>
          <p:cNvPr id="4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6" name="Text: 04"/>
          <p:cNvSpPr txBox="1"/>
          <p:nvPr/>
        </p:nvSpPr>
        <p:spPr>
          <a:xfrm>
            <a:off x="11267182" y="6466713"/>
            <a:ext cx="2156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57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ODUCT"/>
          <p:cNvSpPr txBox="1"/>
          <p:nvPr/>
        </p:nvSpPr>
        <p:spPr>
          <a:xfrm>
            <a:off x="972443" y="400748"/>
            <a:ext cx="8919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PRODUCT</a:t>
            </a:r>
          </a:p>
        </p:txBody>
      </p:sp>
      <p:sp>
        <p:nvSpPr>
          <p:cNvPr id="5" name="Text: MATRIX"/>
          <p:cNvSpPr txBox="1"/>
          <p:nvPr/>
        </p:nvSpPr>
        <p:spPr>
          <a:xfrm>
            <a:off x="1825526" y="400748"/>
            <a:ext cx="7059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MATRIX</a:t>
            </a:r>
          </a:p>
        </p:txBody>
      </p:sp>
      <p:sp>
        <p:nvSpPr>
          <p:cNvPr id="6" name="Text: 陪伴不只一种，但每件产品都有明确入口。"/>
          <p:cNvSpPr txBox="1"/>
          <p:nvPr/>
        </p:nvSpPr>
        <p:spPr>
          <a:xfrm>
            <a:off x="571500" y="706374"/>
            <a:ext cx="7943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陪伴不只一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，但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件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品都有明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确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入口。</a:t>
            </a:r>
          </a:p>
        </p:txBody>
      </p:sp>
      <p:sp>
        <p:nvSpPr>
          <p:cNvPr id="7" name="Editable SVG path"/>
          <p:cNvSpPr/>
          <p:nvPr/>
        </p:nvSpPr>
        <p:spPr>
          <a:xfrm>
            <a:off x="2032000" y="4922904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2032000" y="1942637"/>
            <a:ext cx="318" cy="2980267"/>
          </a:xfrm>
          <a:custGeom>
            <a:avLst/>
            <a:gdLst/>
            <a:ahLst/>
            <a:cxnLst/>
            <a:rect l="0" t="0" r="r" b="b"/>
            <a:pathLst>
              <a:path w="318" h="2980267" fill="none" stroke="1">
                <a:moveTo>
                  <a:pt x="0" y="2980267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独立的日常行为"/>
          <p:cNvSpPr txBox="1"/>
          <p:nvPr/>
        </p:nvSpPr>
        <p:spPr>
          <a:xfrm>
            <a:off x="9906232" y="5083347"/>
            <a:ext cx="128647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独立的日常行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0" name="Text: 直接身体接触"/>
          <p:cNvSpPr txBox="1"/>
          <p:nvPr/>
        </p:nvSpPr>
        <p:spPr>
          <a:xfrm>
            <a:off x="1659665" y="1628947"/>
            <a:ext cx="111720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直接身体接触</a:t>
            </a:r>
          </a:p>
        </p:txBody>
      </p:sp>
      <p:sp>
        <p:nvSpPr>
          <p:cNvPr id="11" name="Text: 沟通 / 信息"/>
          <p:cNvSpPr txBox="1"/>
          <p:nvPr/>
        </p:nvSpPr>
        <p:spPr>
          <a:xfrm>
            <a:off x="2548119" y="5252680"/>
            <a:ext cx="96589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 / 信息</a:t>
            </a:r>
          </a:p>
        </p:txBody>
      </p:sp>
      <p:sp>
        <p:nvSpPr>
          <p:cNvPr id="12" name="Text: 环境"/>
          <p:cNvSpPr txBox="1"/>
          <p:nvPr/>
        </p:nvSpPr>
        <p:spPr>
          <a:xfrm>
            <a:off x="921163" y="4650040"/>
            <a:ext cx="42922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环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境</a:t>
            </a:r>
          </a:p>
        </p:txBody>
      </p:sp>
      <p:pic>
        <p:nvPicPr>
          <p:cNvPr id="13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780525"/>
            <a:ext cx="1049867" cy="591425"/>
          </a:xfrm>
          <a:prstGeom prst="rect">
            <a:avLst/>
          </a:prstGeom>
          <a:effectLst/>
        </p:spPr>
      </p:pic>
      <p:sp>
        <p:nvSpPr>
          <p:cNvPr id="14" name="Text: BOCCO · 家庭沟通"/>
          <p:cNvSpPr txBox="1"/>
          <p:nvPr/>
        </p:nvSpPr>
        <p:spPr>
          <a:xfrm>
            <a:off x="2651043" y="4548440"/>
            <a:ext cx="1437382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 · 家庭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</a:t>
            </a:r>
          </a:p>
        </p:txBody>
      </p:sp>
      <p:pic>
        <p:nvPicPr>
          <p:cNvPr id="15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733" y="2391991"/>
            <a:ext cx="1049867" cy="591425"/>
          </a:xfrm>
          <a:prstGeom prst="rect">
            <a:avLst/>
          </a:prstGeom>
          <a:effectLst/>
        </p:spPr>
      </p:pic>
      <p:sp>
        <p:nvSpPr>
          <p:cNvPr id="16" name="Text: Qoobo · 抚摸摇尾"/>
          <p:cNvSpPr txBox="1"/>
          <p:nvPr/>
        </p:nvSpPr>
        <p:spPr>
          <a:xfrm>
            <a:off x="4791307" y="3159907"/>
            <a:ext cx="135632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摸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</a:t>
            </a:r>
          </a:p>
        </p:txBody>
      </p:sp>
      <p:pic>
        <p:nvPicPr>
          <p:cNvPr id="17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2121058"/>
            <a:ext cx="1049866" cy="591425"/>
          </a:xfrm>
          <a:prstGeom prst="rect">
            <a:avLst/>
          </a:prstGeom>
          <a:effectLst/>
        </p:spPr>
      </p:pic>
      <p:sp>
        <p:nvSpPr>
          <p:cNvPr id="18" name="Text: AMAGAMI HAM HAM · 轻咬"/>
          <p:cNvSpPr txBox="1"/>
          <p:nvPr/>
        </p:nvSpPr>
        <p:spPr>
          <a:xfrm>
            <a:off x="6953647" y="2888973"/>
            <a:ext cx="2043906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 HAM HAM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pic>
        <p:nvPicPr>
          <p:cNvPr id="19" name="Independent ima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4533" y="3780525"/>
            <a:ext cx="1049867" cy="591425"/>
          </a:xfrm>
          <a:prstGeom prst="rect">
            <a:avLst/>
          </a:prstGeom>
          <a:effectLst/>
        </p:spPr>
      </p:pic>
      <p:sp>
        <p:nvSpPr>
          <p:cNvPr id="20" name="Text: Nékojita FuFu · 吹气"/>
          <p:cNvSpPr txBox="1"/>
          <p:nvPr/>
        </p:nvSpPr>
        <p:spPr>
          <a:xfrm>
            <a:off x="8564596" y="4548440"/>
            <a:ext cx="1531342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Nékojita FuFu · 吹气</a:t>
            </a:r>
          </a:p>
        </p:txBody>
      </p:sp>
      <p:pic>
        <p:nvPicPr>
          <p:cNvPr id="21" name="Independent imag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267" y="3678925"/>
            <a:ext cx="1049867" cy="591425"/>
          </a:xfrm>
          <a:prstGeom prst="rect">
            <a:avLst/>
          </a:prstGeom>
          <a:effectLst/>
        </p:spPr>
      </p:pic>
      <p:sp>
        <p:nvSpPr>
          <p:cNvPr id="22" name="Text: Mirumi · 偷瞄"/>
          <p:cNvSpPr txBox="1"/>
          <p:nvPr/>
        </p:nvSpPr>
        <p:spPr>
          <a:xfrm>
            <a:off x="5831929" y="4446840"/>
            <a:ext cx="103614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 · 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偷瞄</a:t>
            </a:r>
          </a:p>
        </p:txBody>
      </p:sp>
      <p:sp>
        <p:nvSpPr>
          <p:cNvPr id="23" name="Text: 定性研究矩阵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定性研究矩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阵</a:t>
            </a:r>
          </a:p>
        </p:txBody>
      </p:sp>
      <p:sp>
        <p:nvSpPr>
          <p:cNvPr id="24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5" name="Text: 位置为设计团队判断"/>
          <p:cNvSpPr txBox="1"/>
          <p:nvPr/>
        </p:nvSpPr>
        <p:spPr>
          <a:xfrm>
            <a:off x="1392238" y="6095262"/>
            <a:ext cx="11875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位置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为设计团队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判断</a:t>
            </a:r>
          </a:p>
        </p:txBody>
      </p:sp>
      <p:sp>
        <p:nvSpPr>
          <p:cNvPr id="26" name="Text: ·"/>
          <p:cNvSpPr txBox="1"/>
          <p:nvPr/>
        </p:nvSpPr>
        <p:spPr>
          <a:xfrm>
            <a:off x="2511822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7" name="Text: 图片："/>
          <p:cNvSpPr txBox="1"/>
          <p:nvPr/>
        </p:nvSpPr>
        <p:spPr>
          <a:xfrm>
            <a:off x="2574925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片：</a:t>
            </a:r>
          </a:p>
        </p:txBody>
      </p:sp>
      <p:sp>
        <p:nvSpPr>
          <p:cNvPr id="28" name="Text: Yukai"/>
          <p:cNvSpPr txBox="1"/>
          <p:nvPr/>
        </p:nvSpPr>
        <p:spPr>
          <a:xfrm>
            <a:off x="2936875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29" name="Text: Engineering"/>
          <p:cNvSpPr txBox="1"/>
          <p:nvPr/>
        </p:nvSpPr>
        <p:spPr>
          <a:xfrm>
            <a:off x="3245445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05"/>
          <p:cNvSpPr txBox="1"/>
          <p:nvPr/>
        </p:nvSpPr>
        <p:spPr>
          <a:xfrm>
            <a:off x="11269960" y="6466713"/>
            <a:ext cx="21272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ONE"/>
          <p:cNvSpPr txBox="1"/>
          <p:nvPr/>
        </p:nvSpPr>
        <p:spPr>
          <a:xfrm>
            <a:off x="972443" y="400748"/>
            <a:ext cx="444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5" name="Text: CLEAR"/>
          <p:cNvSpPr txBox="1"/>
          <p:nvPr/>
        </p:nvSpPr>
        <p:spPr>
          <a:xfrm>
            <a:off x="1377752" y="400748"/>
            <a:ext cx="6425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CLEAR</a:t>
            </a:r>
          </a:p>
        </p:txBody>
      </p:sp>
      <p:sp>
        <p:nvSpPr>
          <p:cNvPr id="6" name="Text: BEHAVIOR"/>
          <p:cNvSpPr txBox="1"/>
          <p:nvPr/>
        </p:nvSpPr>
        <p:spPr>
          <a:xfrm>
            <a:off x="1981398" y="400748"/>
            <a:ext cx="92958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BEHAVIOR</a:t>
            </a:r>
          </a:p>
        </p:txBody>
      </p:sp>
      <p:sp>
        <p:nvSpPr>
          <p:cNvPr id="7" name="Text: 最有辨识度的产品，只有一个清楚的行为。"/>
          <p:cNvSpPr txBox="1"/>
          <p:nvPr/>
        </p:nvSpPr>
        <p:spPr>
          <a:xfrm>
            <a:off x="571500" y="706374"/>
            <a:ext cx="7943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最有辨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度的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品，只有一个清楚的行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8" name="Independent im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6" y="2202641"/>
            <a:ext cx="2014904" cy="1135062"/>
          </a:xfrm>
          <a:prstGeom prst="rect">
            <a:avLst/>
          </a:prstGeom>
          <a:effectLst/>
        </p:spPr>
      </p:pic>
      <p:sp>
        <p:nvSpPr>
          <p:cNvPr id="9" name="Text: Qoobo"/>
          <p:cNvSpPr txBox="1"/>
          <p:nvPr/>
        </p:nvSpPr>
        <p:spPr>
          <a:xfrm>
            <a:off x="1668165" y="3889526"/>
            <a:ext cx="527645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10" name="Text: 摇尾"/>
          <p:cNvSpPr txBox="1"/>
          <p:nvPr/>
        </p:nvSpPr>
        <p:spPr>
          <a:xfrm>
            <a:off x="1531838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尾</a:t>
            </a:r>
          </a:p>
        </p:txBody>
      </p:sp>
      <p:pic>
        <p:nvPicPr>
          <p:cNvPr id="11" name="Independent 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610" y="2202641"/>
            <a:ext cx="2014904" cy="1135062"/>
          </a:xfrm>
          <a:prstGeom prst="rect">
            <a:avLst/>
          </a:prstGeom>
          <a:effectLst/>
        </p:spPr>
      </p:pic>
      <p:sp>
        <p:nvSpPr>
          <p:cNvPr id="12" name="Text: AMAGAMI"/>
          <p:cNvSpPr txBox="1"/>
          <p:nvPr/>
        </p:nvSpPr>
        <p:spPr>
          <a:xfrm>
            <a:off x="4023023" y="3889526"/>
            <a:ext cx="74047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13" name="Text: HAM"/>
          <p:cNvSpPr txBox="1"/>
          <p:nvPr/>
        </p:nvSpPr>
        <p:spPr>
          <a:xfrm>
            <a:off x="4702671" y="3889526"/>
            <a:ext cx="40947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14" name="Text: HAM"/>
          <p:cNvSpPr txBox="1"/>
          <p:nvPr/>
        </p:nvSpPr>
        <p:spPr>
          <a:xfrm>
            <a:off x="5051326" y="3889526"/>
            <a:ext cx="409377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15" name="Text: 轻咬"/>
          <p:cNvSpPr txBox="1"/>
          <p:nvPr/>
        </p:nvSpPr>
        <p:spPr>
          <a:xfrm>
            <a:off x="4341713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pic>
        <p:nvPicPr>
          <p:cNvPr id="16" name="Independent imag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485" y="2202641"/>
            <a:ext cx="2014904" cy="1135062"/>
          </a:xfrm>
          <a:prstGeom prst="rect">
            <a:avLst/>
          </a:prstGeom>
          <a:effectLst/>
        </p:spPr>
      </p:pic>
      <p:sp>
        <p:nvSpPr>
          <p:cNvPr id="17" name="Text: N"/>
          <p:cNvSpPr txBox="1"/>
          <p:nvPr/>
        </p:nvSpPr>
        <p:spPr>
          <a:xfrm>
            <a:off x="7063184" y="3889526"/>
            <a:ext cx="20181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18" name="Text: é"/>
          <p:cNvSpPr txBox="1"/>
          <p:nvPr/>
        </p:nvSpPr>
        <p:spPr>
          <a:xfrm>
            <a:off x="7163296" y="3889526"/>
            <a:ext cx="17829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19" name="Text: kojita"/>
          <p:cNvSpPr txBox="1"/>
          <p:nvPr/>
        </p:nvSpPr>
        <p:spPr>
          <a:xfrm>
            <a:off x="7239893" y="3889526"/>
            <a:ext cx="44688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20" name="Text: FuFu"/>
          <p:cNvSpPr txBox="1"/>
          <p:nvPr/>
        </p:nvSpPr>
        <p:spPr>
          <a:xfrm>
            <a:off x="7626052" y="3889526"/>
            <a:ext cx="414238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1" name="Text: 吹气"/>
          <p:cNvSpPr txBox="1"/>
          <p:nvPr/>
        </p:nvSpPr>
        <p:spPr>
          <a:xfrm>
            <a:off x="7151588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吹气</a:t>
            </a:r>
          </a:p>
        </p:txBody>
      </p:sp>
      <p:pic>
        <p:nvPicPr>
          <p:cNvPr id="22" name="Independent ima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361" y="2202641"/>
            <a:ext cx="2014903" cy="1135062"/>
          </a:xfrm>
          <a:prstGeom prst="rect">
            <a:avLst/>
          </a:prstGeom>
          <a:effectLst/>
        </p:spPr>
      </p:pic>
      <p:sp>
        <p:nvSpPr>
          <p:cNvPr id="23" name="Text: Mirumi"/>
          <p:cNvSpPr txBox="1"/>
          <p:nvPr/>
        </p:nvSpPr>
        <p:spPr>
          <a:xfrm>
            <a:off x="10095607" y="3889526"/>
            <a:ext cx="53201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24" name="Text: 偷瞄"/>
          <p:cNvSpPr txBox="1"/>
          <p:nvPr/>
        </p:nvSpPr>
        <p:spPr>
          <a:xfrm>
            <a:off x="9961463" y="4227433"/>
            <a:ext cx="800199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偷瞄</a:t>
            </a:r>
          </a:p>
        </p:txBody>
      </p:sp>
      <p:sp>
        <p:nvSpPr>
          <p:cNvPr id="25" name="Text: 不是记住功能清单，而是记住它做了什么。"/>
          <p:cNvSpPr txBox="1"/>
          <p:nvPr/>
        </p:nvSpPr>
        <p:spPr>
          <a:xfrm>
            <a:off x="3863975" y="5307695"/>
            <a:ext cx="45656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不是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住功能清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，而是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住它做了什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么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6" name="Text: 行为归纳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行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为归纳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产品图来源："/>
          <p:cNvSpPr txBox="1"/>
          <p:nvPr/>
        </p:nvSpPr>
        <p:spPr>
          <a:xfrm>
            <a:off x="1150938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来源：</a:t>
            </a:r>
          </a:p>
        </p:txBody>
      </p:sp>
      <p:sp>
        <p:nvSpPr>
          <p:cNvPr id="29" name="Text: Yukai"/>
          <p:cNvSpPr txBox="1"/>
          <p:nvPr/>
        </p:nvSpPr>
        <p:spPr>
          <a:xfrm>
            <a:off x="1874838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0" name="Text: Engineering"/>
          <p:cNvSpPr txBox="1"/>
          <p:nvPr/>
        </p:nvSpPr>
        <p:spPr>
          <a:xfrm>
            <a:off x="2183309" y="6095262"/>
            <a:ext cx="72509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31" name="Text: 官方产品页"/>
          <p:cNvSpPr txBox="1"/>
          <p:nvPr/>
        </p:nvSpPr>
        <p:spPr>
          <a:xfrm>
            <a:off x="2840534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页</a:t>
            </a:r>
          </a:p>
        </p:txBody>
      </p:sp>
      <p:sp>
        <p:nvSpPr>
          <p:cNvPr id="3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9" name="Text: 06"/>
          <p:cNvSpPr txBox="1"/>
          <p:nvPr/>
        </p:nvSpPr>
        <p:spPr>
          <a:xfrm>
            <a:off x="11267182" y="6466713"/>
            <a:ext cx="2156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40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DESIGN"/>
          <p:cNvSpPr txBox="1"/>
          <p:nvPr/>
        </p:nvSpPr>
        <p:spPr>
          <a:xfrm>
            <a:off x="972443" y="400748"/>
            <a:ext cx="7140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DESIGN</a:t>
            </a:r>
          </a:p>
        </p:txBody>
      </p:sp>
      <p:sp>
        <p:nvSpPr>
          <p:cNvPr id="5" name="Text: LANGUAGE"/>
          <p:cNvSpPr txBox="1"/>
          <p:nvPr/>
        </p:nvSpPr>
        <p:spPr>
          <a:xfrm>
            <a:off x="1647527" y="400748"/>
            <a:ext cx="98484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LANGUAGE</a:t>
            </a:r>
          </a:p>
        </p:txBody>
      </p:sp>
      <p:sp>
        <p:nvSpPr>
          <p:cNvPr id="6" name="Text: 技术退后一点，触感就能走近一点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退后一点，触感就能走近一点。</a:t>
            </a:r>
          </a:p>
        </p:txBody>
      </p:sp>
      <p:sp>
        <p:nvSpPr>
          <p:cNvPr id="7" name="Text: ONE"/>
          <p:cNvSpPr txBox="1"/>
          <p:nvPr/>
        </p:nvSpPr>
        <p:spPr>
          <a:xfrm>
            <a:off x="571500" y="1654135"/>
            <a:ext cx="1358483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8" name="Text: ACTION"/>
          <p:cNvSpPr txBox="1"/>
          <p:nvPr/>
        </p:nvSpPr>
        <p:spPr>
          <a:xfrm>
            <a:off x="2025154" y="1654135"/>
            <a:ext cx="2354640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ACTION</a:t>
            </a:r>
          </a:p>
        </p:txBody>
      </p:sp>
      <p:sp>
        <p:nvSpPr>
          <p:cNvPr id="9" name="Text: LESS"/>
          <p:cNvSpPr txBox="1"/>
          <p:nvPr/>
        </p:nvSpPr>
        <p:spPr>
          <a:xfrm>
            <a:off x="571500" y="2682835"/>
            <a:ext cx="1601768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LESS</a:t>
            </a:r>
          </a:p>
        </p:txBody>
      </p:sp>
      <p:sp>
        <p:nvSpPr>
          <p:cNvPr id="10" name="Text: UI"/>
          <p:cNvSpPr txBox="1"/>
          <p:nvPr/>
        </p:nvSpPr>
        <p:spPr>
          <a:xfrm>
            <a:off x="2268438" y="2682835"/>
            <a:ext cx="682605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UI</a:t>
            </a:r>
          </a:p>
        </p:txBody>
      </p:sp>
      <p:sp>
        <p:nvSpPr>
          <p:cNvPr id="11" name="Text: MORE"/>
          <p:cNvSpPr txBox="1"/>
          <p:nvPr/>
        </p:nvSpPr>
        <p:spPr>
          <a:xfrm>
            <a:off x="571500" y="3711535"/>
            <a:ext cx="1810921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MORE</a:t>
            </a:r>
          </a:p>
        </p:txBody>
      </p:sp>
      <p:sp>
        <p:nvSpPr>
          <p:cNvPr id="12" name="Text: TOUCH"/>
          <p:cNvSpPr txBox="1"/>
          <p:nvPr/>
        </p:nvSpPr>
        <p:spPr>
          <a:xfrm>
            <a:off x="2477591" y="3711535"/>
            <a:ext cx="2193707" cy="863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525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spc="3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13" name="Editable rounded card"/>
          <p:cNvSpPr/>
          <p:nvPr/>
        </p:nvSpPr>
        <p:spPr>
          <a:xfrm>
            <a:off x="5964337" y="170874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01"/>
          <p:cNvSpPr txBox="1"/>
          <p:nvPr/>
        </p:nvSpPr>
        <p:spPr>
          <a:xfrm>
            <a:off x="6154837" y="1864765"/>
            <a:ext cx="27910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5" name="Text: 单一行为"/>
          <p:cNvSpPr txBox="1"/>
          <p:nvPr/>
        </p:nvSpPr>
        <p:spPr>
          <a:xfrm>
            <a:off x="6567587" y="18428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一行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6" name="Text: 先让人看懂，再让人喜欢。"/>
          <p:cNvSpPr txBox="1"/>
          <p:nvPr/>
        </p:nvSpPr>
        <p:spPr>
          <a:xfrm>
            <a:off x="6567587" y="2170708"/>
            <a:ext cx="200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人喜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欢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5964337" y="270569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02"/>
          <p:cNvSpPr txBox="1"/>
          <p:nvPr/>
        </p:nvSpPr>
        <p:spPr>
          <a:xfrm>
            <a:off x="6154837" y="2861715"/>
            <a:ext cx="289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9" name="Text: 弱"/>
          <p:cNvSpPr txBox="1"/>
          <p:nvPr/>
        </p:nvSpPr>
        <p:spPr>
          <a:xfrm>
            <a:off x="6567587" y="2839807"/>
            <a:ext cx="3048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弱</a:t>
            </a:r>
          </a:p>
        </p:txBody>
      </p:sp>
      <p:sp>
        <p:nvSpPr>
          <p:cNvPr id="20" name="Text: UI"/>
          <p:cNvSpPr txBox="1"/>
          <p:nvPr/>
        </p:nvSpPr>
        <p:spPr>
          <a:xfrm>
            <a:off x="6827639" y="2839807"/>
            <a:ext cx="280690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UI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7063581" y="2839807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低技术感"/>
          <p:cNvSpPr txBox="1"/>
          <p:nvPr/>
        </p:nvSpPr>
        <p:spPr>
          <a:xfrm>
            <a:off x="7231360" y="283980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23" name="Text: 不让屏幕与操作步骤成为主角。"/>
          <p:cNvSpPr txBox="1"/>
          <p:nvPr/>
        </p:nvSpPr>
        <p:spPr>
          <a:xfrm>
            <a:off x="6567587" y="3167658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屏幕与操作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步骤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主角。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5964337" y="3702645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03"/>
          <p:cNvSpPr txBox="1"/>
          <p:nvPr/>
        </p:nvSpPr>
        <p:spPr>
          <a:xfrm>
            <a:off x="6154837" y="3858665"/>
            <a:ext cx="29646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6" name="Text: 拟生反应"/>
          <p:cNvSpPr txBox="1"/>
          <p:nvPr/>
        </p:nvSpPr>
        <p:spPr>
          <a:xfrm>
            <a:off x="6567587" y="38367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生反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7437239" y="3836757"/>
            <a:ext cx="212626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触觉优先"/>
          <p:cNvSpPr txBox="1"/>
          <p:nvPr/>
        </p:nvSpPr>
        <p:spPr>
          <a:xfrm>
            <a:off x="7605117" y="3836757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觉优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</a:p>
        </p:txBody>
      </p:sp>
      <p:sp>
        <p:nvSpPr>
          <p:cNvPr id="29" name="Text: 回应身体，而不是增加通知。"/>
          <p:cNvSpPr txBox="1"/>
          <p:nvPr/>
        </p:nvSpPr>
        <p:spPr>
          <a:xfrm>
            <a:off x="6567587" y="4164608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回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身体，而不是增加通知。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07"/>
          <p:cNvSpPr txBox="1"/>
          <p:nvPr/>
        </p:nvSpPr>
        <p:spPr>
          <a:xfrm>
            <a:off x="11276409" y="6466713"/>
            <a:ext cx="20637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07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EMOTIONAL"/>
          <p:cNvSpPr txBox="1"/>
          <p:nvPr/>
        </p:nvSpPr>
        <p:spPr>
          <a:xfrm>
            <a:off x="972443" y="400748"/>
            <a:ext cx="106799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5" name="Text: INTERACTION"/>
          <p:cNvSpPr txBox="1"/>
          <p:nvPr/>
        </p:nvSpPr>
        <p:spPr>
          <a:xfrm>
            <a:off x="2001540" y="400748"/>
            <a:ext cx="12176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6" name="Text: 围绕情绪，产品自然进入不同日常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围绕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品自然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入不同日常。</a:t>
            </a:r>
          </a:p>
        </p:txBody>
      </p:sp>
      <p:sp>
        <p:nvSpPr>
          <p:cNvPr id="7" name="Editable SVG path"/>
          <p:cNvSpPr/>
          <p:nvPr/>
        </p:nvSpPr>
        <p:spPr>
          <a:xfrm>
            <a:off x="2709333" y="2484504"/>
            <a:ext cx="3386667" cy="1151467"/>
          </a:xfrm>
          <a:custGeom>
            <a:avLst/>
            <a:gdLst/>
            <a:ahLst/>
            <a:cxnLst/>
            <a:rect l="0" t="0" r="r" b="b"/>
            <a:pathLst>
              <a:path w="3386667" h="1151467" fill="none" stroke="1">
                <a:moveTo>
                  <a:pt x="3386667" y="1151467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6096000" y="2484504"/>
            <a:ext cx="3386667" cy="1151467"/>
          </a:xfrm>
          <a:custGeom>
            <a:avLst/>
            <a:gdLst/>
            <a:ahLst/>
            <a:cxnLst/>
            <a:rect l="0" t="0" r="r" b="b"/>
            <a:pathLst>
              <a:path w="3386667" h="1151467" fill="none" stroke="1">
                <a:moveTo>
                  <a:pt x="0" y="1151467"/>
                </a:moveTo>
                <a:lnTo>
                  <a:pt x="33866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SVG path"/>
          <p:cNvSpPr/>
          <p:nvPr/>
        </p:nvSpPr>
        <p:spPr>
          <a:xfrm>
            <a:off x="2438400" y="3635970"/>
            <a:ext cx="3657600" cy="1083733"/>
          </a:xfrm>
          <a:custGeom>
            <a:avLst/>
            <a:gdLst/>
            <a:ahLst/>
            <a:cxnLst/>
            <a:rect l="0" t="0" r="r" b="b"/>
            <a:pathLst>
              <a:path w="3657600" h="1083733" fill="none" stroke="1">
                <a:moveTo>
                  <a:pt x="3657600" y="0"/>
                </a:moveTo>
                <a:lnTo>
                  <a:pt x="0" y="1083733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SVG path"/>
          <p:cNvSpPr/>
          <p:nvPr/>
        </p:nvSpPr>
        <p:spPr>
          <a:xfrm>
            <a:off x="6096000" y="3635970"/>
            <a:ext cx="3657600" cy="1083733"/>
          </a:xfrm>
          <a:custGeom>
            <a:avLst/>
            <a:gdLst/>
            <a:ahLst/>
            <a:cxnLst/>
            <a:rect l="0" t="0" r="r" b="b"/>
            <a:pathLst>
              <a:path w="3657600" h="1083733" fill="none" stroke="1">
                <a:moveTo>
                  <a:pt x="0" y="0"/>
                </a:moveTo>
                <a:lnTo>
                  <a:pt x="3657600" y="1083733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5080000" y="2619970"/>
            <a:ext cx="2032000" cy="2032000"/>
          </a:xfrm>
          <a:prstGeom prst="ellipse">
            <a:avLst/>
          </a:prstGeom>
          <a:solidFill>
            <a:srgbClr val="F2D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Emotional"/>
          <p:cNvSpPr txBox="1"/>
          <p:nvPr/>
        </p:nvSpPr>
        <p:spPr>
          <a:xfrm>
            <a:off x="5595640" y="3280811"/>
            <a:ext cx="1102320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29"/>
              </a:lnSpc>
              <a:spcBef>
                <a:spcPts val="0"/>
              </a:spcBef>
              <a:spcAft>
                <a:spcPts val="0"/>
              </a:spcAft>
            </a:pPr>
            <a:r>
              <a:rPr sz="181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13" name="Text: Interaction"/>
          <p:cNvSpPr txBox="1"/>
          <p:nvPr/>
        </p:nvSpPr>
        <p:spPr>
          <a:xfrm>
            <a:off x="5555010" y="3605931"/>
            <a:ext cx="1183580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29"/>
              </a:lnSpc>
              <a:spcBef>
                <a:spcPts val="0"/>
              </a:spcBef>
              <a:spcAft>
                <a:spcPts val="0"/>
              </a:spcAft>
            </a:pPr>
            <a:r>
              <a:rPr sz="181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14" name="Editable vector ellipse"/>
          <p:cNvSpPr/>
          <p:nvPr/>
        </p:nvSpPr>
        <p:spPr>
          <a:xfrm>
            <a:off x="2099733" y="1874904"/>
            <a:ext cx="1219200" cy="1219200"/>
          </a:xfrm>
          <a:prstGeom prst="ellipse">
            <a:avLst/>
          </a:prstGeom>
          <a:solidFill>
            <a:srgbClr val="E7E1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家庭沟通"/>
          <p:cNvSpPr txBox="1"/>
          <p:nvPr/>
        </p:nvSpPr>
        <p:spPr>
          <a:xfrm>
            <a:off x="2343564" y="22043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家庭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沟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</a:t>
            </a:r>
          </a:p>
        </p:txBody>
      </p:sp>
      <p:sp>
        <p:nvSpPr>
          <p:cNvPr id="16" name="Text: BOCCO"/>
          <p:cNvSpPr txBox="1"/>
          <p:nvPr/>
        </p:nvSpPr>
        <p:spPr>
          <a:xfrm>
            <a:off x="2466446" y="2516575"/>
            <a:ext cx="587375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BOCCO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8873067" y="1874904"/>
            <a:ext cx="1219200" cy="1219200"/>
          </a:xfrm>
          <a:prstGeom prst="ellipse">
            <a:avLst/>
          </a:prstGeom>
          <a:solidFill>
            <a:srgbClr val="DCE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触觉陪伴"/>
          <p:cNvSpPr txBox="1"/>
          <p:nvPr/>
        </p:nvSpPr>
        <p:spPr>
          <a:xfrm>
            <a:off x="9116897" y="22043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陪伴</a:t>
            </a:r>
          </a:p>
        </p:txBody>
      </p:sp>
      <p:sp>
        <p:nvSpPr>
          <p:cNvPr id="19" name="Text: Qoobo / HAM HAM"/>
          <p:cNvSpPr txBox="1"/>
          <p:nvPr/>
        </p:nvSpPr>
        <p:spPr>
          <a:xfrm>
            <a:off x="8877184" y="2516575"/>
            <a:ext cx="1312565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Qoobo / HAM HAM</a:t>
            </a:r>
          </a:p>
        </p:txBody>
      </p:sp>
      <p:sp>
        <p:nvSpPr>
          <p:cNvPr id="20" name="Editable vector ellipse"/>
          <p:cNvSpPr/>
          <p:nvPr/>
        </p:nvSpPr>
        <p:spPr>
          <a:xfrm>
            <a:off x="1828800" y="4110103"/>
            <a:ext cx="1219200" cy="1219200"/>
          </a:xfrm>
          <a:prstGeom prst="ellipse">
            <a:avLst/>
          </a:prstGeom>
          <a:solidFill>
            <a:srgbClr val="F5E1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生活微动作"/>
          <p:cNvSpPr txBox="1"/>
          <p:nvPr/>
        </p:nvSpPr>
        <p:spPr>
          <a:xfrm>
            <a:off x="1981200" y="4439508"/>
            <a:ext cx="101600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生活微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22" name="Text: FuFu"/>
          <p:cNvSpPr txBox="1"/>
          <p:nvPr/>
        </p:nvSpPr>
        <p:spPr>
          <a:xfrm>
            <a:off x="2286248" y="4751775"/>
            <a:ext cx="405904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3" name="Editable vector ellipse"/>
          <p:cNvSpPr/>
          <p:nvPr/>
        </p:nvSpPr>
        <p:spPr>
          <a:xfrm>
            <a:off x="9144000" y="4110103"/>
            <a:ext cx="1219200" cy="1219200"/>
          </a:xfrm>
          <a:prstGeom prst="ellipse">
            <a:avLst/>
          </a:prstGeom>
          <a:solidFill>
            <a:srgbClr val="E6E3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: 随身回应"/>
          <p:cNvSpPr txBox="1"/>
          <p:nvPr/>
        </p:nvSpPr>
        <p:spPr>
          <a:xfrm>
            <a:off x="9387830" y="4439508"/>
            <a:ext cx="833140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随身回</a:t>
            </a:r>
            <a:r>
              <a:rPr sz="144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25" name="Text: Mirumi"/>
          <p:cNvSpPr txBox="1"/>
          <p:nvPr/>
        </p:nvSpPr>
        <p:spPr>
          <a:xfrm>
            <a:off x="9544050" y="4751775"/>
            <a:ext cx="520700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26" name="Text: 使用关系图"/>
          <p:cNvSpPr txBox="1"/>
          <p:nvPr/>
        </p:nvSpPr>
        <p:spPr>
          <a:xfrm>
            <a:off x="571500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使用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关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系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20848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不表示设备互联"/>
          <p:cNvSpPr txBox="1"/>
          <p:nvPr/>
        </p:nvSpPr>
        <p:spPr>
          <a:xfrm>
            <a:off x="127158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不表示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设备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联</a:t>
            </a:r>
          </a:p>
        </p:txBody>
      </p:sp>
      <p:sp>
        <p:nvSpPr>
          <p:cNvPr id="2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6" name="Text: 08"/>
          <p:cNvSpPr txBox="1"/>
          <p:nvPr/>
        </p:nvSpPr>
        <p:spPr>
          <a:xfrm>
            <a:off x="11265297" y="6466713"/>
            <a:ext cx="21738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08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"/>
          <p:cNvSpPr txBox="1"/>
          <p:nvPr/>
        </p:nvSpPr>
        <p:spPr>
          <a:xfrm>
            <a:off x="571500" y="400748"/>
            <a:ext cx="27900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1510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OSITIONING"/>
          <p:cNvSpPr txBox="1"/>
          <p:nvPr/>
        </p:nvSpPr>
        <p:spPr>
          <a:xfrm>
            <a:off x="972443" y="400748"/>
            <a:ext cx="118566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POSITIONING</a:t>
            </a:r>
          </a:p>
        </p:txBody>
      </p:sp>
      <p:sp>
        <p:nvSpPr>
          <p:cNvPr id="5" name="Text: 鼠大要进入“低技术感、高情绪价值”的一侧。"/>
          <p:cNvSpPr txBox="1"/>
          <p:nvPr/>
        </p:nvSpPr>
        <p:spPr>
          <a:xfrm>
            <a:off x="571500" y="706374"/>
            <a:ext cx="8306098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鼠大要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入“低技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感、高情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”的一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" name="Editable rounded card"/>
          <p:cNvSpPr/>
          <p:nvPr/>
        </p:nvSpPr>
        <p:spPr>
          <a:xfrm>
            <a:off x="2099733" y="1942637"/>
            <a:ext cx="3996267" cy="1761066"/>
          </a:xfrm>
          <a:custGeom>
            <a:avLst/>
            <a:gdLst/>
            <a:ahLst/>
            <a:cxnLst/>
            <a:rect l="0" t="0" r="r" b="b"/>
            <a:pathLst>
              <a:path w="3996267" h="1761066" fill="norm" stroke="0">
                <a:moveTo>
                  <a:pt x="190500" y="0"/>
                </a:moveTo>
                <a:lnTo>
                  <a:pt x="3805767" y="0"/>
                </a:lnTo>
                <a:cubicBezTo>
                  <a:pt x="3910977" y="0"/>
                  <a:pt x="3996267" y="85290"/>
                  <a:pt x="3996267" y="190500"/>
                </a:cubicBezTo>
                <a:lnTo>
                  <a:pt x="3996267" y="1570566"/>
                </a:lnTo>
                <a:cubicBezTo>
                  <a:pt x="3996267" y="1675777"/>
                  <a:pt x="3910977" y="1761066"/>
                  <a:pt x="3805767" y="1761066"/>
                </a:cubicBezTo>
                <a:lnTo>
                  <a:pt x="190500" y="1761066"/>
                </a:lnTo>
                <a:cubicBezTo>
                  <a:pt x="85290" y="1761066"/>
                  <a:pt x="0" y="1675777"/>
                  <a:pt x="0" y="1570566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2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032000" y="5193837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2032000" y="1841037"/>
            <a:ext cx="318" cy="3352800"/>
          </a:xfrm>
          <a:custGeom>
            <a:avLst/>
            <a:gdLst/>
            <a:ahLst/>
            <a:cxnLst/>
            <a:rect l="0" t="0" r="r" b="b"/>
            <a:pathLst>
              <a:path w="318" h="3352800" fill="none" stroke="1">
                <a:moveTo>
                  <a:pt x="0" y="3352800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SVG path"/>
          <p:cNvSpPr/>
          <p:nvPr/>
        </p:nvSpPr>
        <p:spPr>
          <a:xfrm>
            <a:off x="6096000" y="1841037"/>
            <a:ext cx="318" cy="3352800"/>
          </a:xfrm>
          <a:custGeom>
            <a:avLst/>
            <a:gdLst/>
            <a:ahLst/>
            <a:cxnLst/>
            <a:rect l="0" t="0" r="r" b="b"/>
            <a:pathLst>
              <a:path w="318" h="3352800" fill="none" stroke="1">
                <a:moveTo>
                  <a:pt x="0" y="3352800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D8CF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SVG path"/>
          <p:cNvSpPr/>
          <p:nvPr/>
        </p:nvSpPr>
        <p:spPr>
          <a:xfrm>
            <a:off x="2032000" y="3703703"/>
            <a:ext cx="8805333" cy="318"/>
          </a:xfrm>
          <a:custGeom>
            <a:avLst/>
            <a:gdLst/>
            <a:ahLst/>
            <a:cxnLst/>
            <a:rect l="0" t="0" r="r" b="b"/>
            <a:pathLst>
              <a:path w="8805333" h="318" fill="none" stroke="1">
                <a:moveTo>
                  <a:pt x="0" y="0"/>
                </a:moveTo>
                <a:lnTo>
                  <a:pt x="8805333" y="0"/>
                </a:lnTo>
              </a:path>
            </a:pathLst>
          </a:custGeom>
          <a:noFill/>
          <a:ln w="13546">
            <a:solidFill>
              <a:srgbClr val="D8CF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: 高情绪价值"/>
          <p:cNvSpPr txBox="1"/>
          <p:nvPr/>
        </p:nvSpPr>
        <p:spPr>
          <a:xfrm>
            <a:off x="2370667" y="1554254"/>
            <a:ext cx="98176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高情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值</a:t>
            </a:r>
          </a:p>
        </p:txBody>
      </p:sp>
      <p:sp>
        <p:nvSpPr>
          <p:cNvPr id="12" name="Text: 高技术感"/>
          <p:cNvSpPr txBox="1"/>
          <p:nvPr/>
        </p:nvSpPr>
        <p:spPr>
          <a:xfrm>
            <a:off x="9807922" y="531345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高技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3" name="Text: 低技术感"/>
          <p:cNvSpPr txBox="1"/>
          <p:nvPr/>
        </p:nvSpPr>
        <p:spPr>
          <a:xfrm>
            <a:off x="2357256" y="531345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4" name="Text: 低"/>
          <p:cNvSpPr txBox="1"/>
          <p:nvPr/>
        </p:nvSpPr>
        <p:spPr>
          <a:xfrm>
            <a:off x="1408824" y="4988707"/>
            <a:ext cx="2667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低</a:t>
            </a:r>
          </a:p>
        </p:txBody>
      </p:sp>
      <p:sp>
        <p:nvSpPr>
          <p:cNvPr id="15" name="Editable vector ellipse"/>
          <p:cNvSpPr/>
          <p:nvPr/>
        </p:nvSpPr>
        <p:spPr>
          <a:xfrm>
            <a:off x="3881120" y="2335490"/>
            <a:ext cx="907627" cy="907627"/>
          </a:xfrm>
          <a:prstGeom prst="ellipse">
            <a:avLst/>
          </a:prstGeom>
          <a:solidFill>
            <a:srgbClr val="D8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Yukai*"/>
          <p:cNvSpPr txBox="1"/>
          <p:nvPr/>
        </p:nvSpPr>
        <p:spPr>
          <a:xfrm>
            <a:off x="4070962" y="2610945"/>
            <a:ext cx="629543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49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Yukai*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2790613" y="1990050"/>
            <a:ext cx="650240" cy="650240"/>
          </a:xfrm>
          <a:prstGeom prst="ellipse">
            <a:avLst/>
          </a:prstGeom>
          <a:solidFill>
            <a:srgbClr val="E897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鼠大"/>
          <p:cNvSpPr txBox="1"/>
          <p:nvPr/>
        </p:nvSpPr>
        <p:spPr>
          <a:xfrm>
            <a:off x="2939670" y="2157081"/>
            <a:ext cx="453727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8019627" y="2647064"/>
            <a:ext cx="487680" cy="487680"/>
          </a:xfrm>
          <a:prstGeom prst="ellipse">
            <a:avLst/>
          </a:prstGeom>
          <a:solidFill>
            <a:srgbClr val="DED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多功能陪伴设备"/>
          <p:cNvSpPr txBox="1"/>
          <p:nvPr/>
        </p:nvSpPr>
        <p:spPr>
          <a:xfrm>
            <a:off x="7694596" y="3098946"/>
            <a:ext cx="123934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多功能陪伴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</p:txBody>
      </p:sp>
      <p:sp>
        <p:nvSpPr>
          <p:cNvPr id="21" name="Editable vector ellipse"/>
          <p:cNvSpPr/>
          <p:nvPr/>
        </p:nvSpPr>
        <p:spPr>
          <a:xfrm>
            <a:off x="3576320" y="4232024"/>
            <a:ext cx="433493" cy="433493"/>
          </a:xfrm>
          <a:prstGeom prst="ellipse">
            <a:avLst/>
          </a:prstGeom>
          <a:solidFill>
            <a:srgbClr val="DED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: 普通纪念物"/>
          <p:cNvSpPr txBox="1"/>
          <p:nvPr/>
        </p:nvSpPr>
        <p:spPr>
          <a:xfrm>
            <a:off x="3386716" y="4650040"/>
            <a:ext cx="914301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</a:t>
            </a:r>
            <a:r>
              <a:rPr sz="128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纪</a:t>
            </a:r>
            <a:r>
              <a:rPr sz="128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念物</a:t>
            </a:r>
          </a:p>
        </p:txBody>
      </p:sp>
      <p:sp>
        <p:nvSpPr>
          <p:cNvPr id="23" name="Text: *"/>
          <p:cNvSpPr txBox="1"/>
          <p:nvPr/>
        </p:nvSpPr>
        <p:spPr>
          <a:xfrm>
            <a:off x="571500" y="6095262"/>
            <a:ext cx="16281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*</a:t>
            </a:r>
          </a:p>
        </p:txBody>
      </p:sp>
      <p:sp>
        <p:nvSpPr>
          <p:cNvPr id="24" name="Text: 指"/>
          <p:cNvSpPr txBox="1"/>
          <p:nvPr/>
        </p:nvSpPr>
        <p:spPr>
          <a:xfrm>
            <a:off x="666353" y="6095262"/>
            <a:ext cx="2223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指</a:t>
            </a:r>
          </a:p>
        </p:txBody>
      </p:sp>
      <p:sp>
        <p:nvSpPr>
          <p:cNvPr id="25" name="Text: Yukai"/>
          <p:cNvSpPr txBox="1"/>
          <p:nvPr/>
        </p:nvSpPr>
        <p:spPr>
          <a:xfrm>
            <a:off x="820837" y="6095262"/>
            <a:ext cx="376436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26" name="Text: 触觉陪伴代表产品；位置为定性假设"/>
          <p:cNvSpPr txBox="1"/>
          <p:nvPr/>
        </p:nvSpPr>
        <p:spPr>
          <a:xfrm>
            <a:off x="1129308" y="6095262"/>
            <a:ext cx="20320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触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觉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陪伴代表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品；位置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27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0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1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4" name="Text: 09"/>
          <p:cNvSpPr txBox="1"/>
          <p:nvPr/>
        </p:nvSpPr>
        <p:spPr>
          <a:xfrm>
            <a:off x="11269166" y="6466713"/>
            <a:ext cx="21351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09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AMPUS"/>
          <p:cNvSpPr txBox="1"/>
          <p:nvPr/>
        </p:nvSpPr>
        <p:spPr>
          <a:xfrm>
            <a:off x="977702" y="400748"/>
            <a:ext cx="78511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CAMPUS</a:t>
            </a:r>
          </a:p>
        </p:txBody>
      </p:sp>
      <p:sp>
        <p:nvSpPr>
          <p:cNvPr id="5" name="Text: OPPORTUNITY"/>
          <p:cNvSpPr txBox="1"/>
          <p:nvPr/>
        </p:nvSpPr>
        <p:spPr>
          <a:xfrm>
            <a:off x="1723827" y="400748"/>
            <a:ext cx="12755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OPPORTUNITY</a:t>
            </a:r>
          </a:p>
        </p:txBody>
      </p:sp>
      <p:sp>
        <p:nvSpPr>
          <p:cNvPr id="6" name="Text: 校园纪念品有身份符号，却很少有行为记忆。"/>
          <p:cNvSpPr txBox="1"/>
          <p:nvPr/>
        </p:nvSpPr>
        <p:spPr>
          <a:xfrm>
            <a:off x="571500" y="706374"/>
            <a:ext cx="8356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园纪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念品有身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符号，却很少有行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Editable rounded card"/>
          <p:cNvSpPr/>
          <p:nvPr/>
        </p:nvSpPr>
        <p:spPr>
          <a:xfrm>
            <a:off x="1103312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E8E3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◎"/>
          <p:cNvSpPr txBox="1"/>
          <p:nvPr/>
        </p:nvSpPr>
        <p:spPr>
          <a:xfrm>
            <a:off x="1420812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Zen Maru Gothic"/>
                <a:ea typeface="Zen Maru Gothic"/>
                <a:cs typeface="Zen Maru Gothic"/>
              </a:rPr>
              <a:t>◎</a:t>
            </a:r>
          </a:p>
        </p:txBody>
      </p:sp>
      <p:sp>
        <p:nvSpPr>
          <p:cNvPr id="9" name="Text: 校徽"/>
          <p:cNvSpPr txBox="1"/>
          <p:nvPr/>
        </p:nvSpPr>
        <p:spPr>
          <a:xfrm>
            <a:off x="1652488" y="3431246"/>
            <a:ext cx="5588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校徽</a:t>
            </a:r>
          </a:p>
        </p:txBody>
      </p:sp>
      <p:sp>
        <p:nvSpPr>
          <p:cNvPr id="10" name="Text: 身份明确"/>
          <p:cNvSpPr txBox="1"/>
          <p:nvPr/>
        </p:nvSpPr>
        <p:spPr>
          <a:xfrm>
            <a:off x="1538288" y="3798340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明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确</a:t>
            </a:r>
          </a:p>
        </p:txBody>
      </p:sp>
      <p:sp>
        <p:nvSpPr>
          <p:cNvPr id="11" name="Editable rounded card"/>
          <p:cNvSpPr/>
          <p:nvPr/>
        </p:nvSpPr>
        <p:spPr>
          <a:xfrm>
            <a:off x="3913188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⌁"/>
          <p:cNvSpPr txBox="1"/>
          <p:nvPr/>
        </p:nvSpPr>
        <p:spPr>
          <a:xfrm>
            <a:off x="4413845" y="1648103"/>
            <a:ext cx="720169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Noto Sans CJK SC"/>
                <a:ea typeface="Noto Sans CJK SC"/>
                <a:cs typeface="Noto Sans CJK SC"/>
              </a:rPr>
              <a:t>⌁</a:t>
            </a:r>
          </a:p>
        </p:txBody>
      </p:sp>
      <p:sp>
        <p:nvSpPr>
          <p:cNvPr id="13" name="Text: 钥匙扣"/>
          <p:cNvSpPr txBox="1"/>
          <p:nvPr/>
        </p:nvSpPr>
        <p:spPr>
          <a:xfrm>
            <a:off x="4348063" y="3431246"/>
            <a:ext cx="7874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钥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匙扣</a:t>
            </a:r>
          </a:p>
        </p:txBody>
      </p:sp>
      <p:sp>
        <p:nvSpPr>
          <p:cNvPr id="14" name="Text: 便于携带"/>
          <p:cNvSpPr txBox="1"/>
          <p:nvPr/>
        </p:nvSpPr>
        <p:spPr>
          <a:xfrm>
            <a:off x="4348162" y="3798340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便于携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5" name="Editable rounded card"/>
          <p:cNvSpPr/>
          <p:nvPr/>
        </p:nvSpPr>
        <p:spPr>
          <a:xfrm>
            <a:off x="6723062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♡"/>
          <p:cNvSpPr txBox="1"/>
          <p:nvPr/>
        </p:nvSpPr>
        <p:spPr>
          <a:xfrm>
            <a:off x="7040562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Zen Maru Gothic"/>
                <a:ea typeface="Zen Maru Gothic"/>
                <a:cs typeface="Zen Maru Gothic"/>
              </a:rPr>
              <a:t>♡</a:t>
            </a:r>
          </a:p>
        </p:txBody>
      </p:sp>
      <p:sp>
        <p:nvSpPr>
          <p:cNvPr id="17" name="Text: 普通毛绒"/>
          <p:cNvSpPr txBox="1"/>
          <p:nvPr/>
        </p:nvSpPr>
        <p:spPr>
          <a:xfrm>
            <a:off x="7043638" y="343124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普通毛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8" name="Text: 亲近、可触摸"/>
          <p:cNvSpPr txBox="1"/>
          <p:nvPr/>
        </p:nvSpPr>
        <p:spPr>
          <a:xfrm>
            <a:off x="6986588" y="3798340"/>
            <a:ext cx="1130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近、可触摸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9532938" y="1699220"/>
            <a:ext cx="1555750" cy="1555750"/>
          </a:xfrm>
          <a:custGeom>
            <a:avLst/>
            <a:gdLst/>
            <a:ahLst/>
            <a:cxnLst/>
            <a:rect l="0" t="0" r="r" b="b"/>
            <a:pathLst>
              <a:path w="1555750" h="1555750" fill="norm" stroke="0">
                <a:moveTo>
                  <a:pt x="777875" y="0"/>
                </a:moveTo>
                <a:lnTo>
                  <a:pt x="777875" y="0"/>
                </a:lnTo>
                <a:cubicBezTo>
                  <a:pt x="1207483" y="0"/>
                  <a:pt x="1555750" y="348267"/>
                  <a:pt x="1555750" y="777875"/>
                </a:cubicBezTo>
                <a:lnTo>
                  <a:pt x="1555750" y="777875"/>
                </a:lnTo>
                <a:cubicBezTo>
                  <a:pt x="1555750" y="1207483"/>
                  <a:pt x="1207483" y="1555750"/>
                  <a:pt x="777875" y="1555750"/>
                </a:cubicBezTo>
                <a:lnTo>
                  <a:pt x="777875" y="1555750"/>
                </a:lnTo>
                <a:cubicBezTo>
                  <a:pt x="348267" y="1555750"/>
                  <a:pt x="0" y="1207483"/>
                  <a:pt x="0" y="777875"/>
                </a:cubicBezTo>
                <a:lnTo>
                  <a:pt x="0" y="777875"/>
                </a:lnTo>
                <a:cubicBezTo>
                  <a:pt x="0" y="348267"/>
                  <a:pt x="348267" y="0"/>
                  <a:pt x="777875" y="0"/>
                </a:cubicBezTo>
                <a:close/>
              </a:path>
            </a:pathLst>
          </a:custGeom>
          <a:solidFill>
            <a:srgbClr val="E8E3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↔"/>
          <p:cNvSpPr txBox="1"/>
          <p:nvPr/>
        </p:nvSpPr>
        <p:spPr>
          <a:xfrm>
            <a:off x="9850438" y="1648103"/>
            <a:ext cx="1086485" cy="1371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12"/>
              </a:lnSpc>
              <a:spcBef>
                <a:spcPts val="0"/>
              </a:spcBef>
              <a:spcAft>
                <a:spcPts val="0"/>
              </a:spcAft>
            </a:pPr>
            <a:r>
              <a:rPr sz="7250" b="0" i="0" spc="0" lang="zh-CN" dirty="0">
                <a:solidFill>
                  <a:srgbClr val="B09B82"/>
                </a:solidFill>
                <a:latin typeface="Noto Sans CJK SC"/>
                <a:ea typeface="Noto Sans CJK SC"/>
                <a:cs typeface="Noto Sans CJK SC"/>
              </a:rPr>
              <a:t>↔</a:t>
            </a:r>
          </a:p>
        </p:txBody>
      </p:sp>
      <p:sp>
        <p:nvSpPr>
          <p:cNvPr id="21" name="Text: 互动玩具"/>
          <p:cNvSpPr txBox="1"/>
          <p:nvPr/>
        </p:nvSpPr>
        <p:spPr>
          <a:xfrm>
            <a:off x="9853513" y="343124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玩具</a:t>
            </a:r>
          </a:p>
        </p:txBody>
      </p:sp>
      <p:sp>
        <p:nvSpPr>
          <p:cNvPr id="22" name="Text: 动作容易被记住"/>
          <p:cNvSpPr txBox="1"/>
          <p:nvPr/>
        </p:nvSpPr>
        <p:spPr>
          <a:xfrm>
            <a:off x="9710738" y="3798340"/>
            <a:ext cx="130175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作容易被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住</a:t>
            </a:r>
          </a:p>
        </p:txBody>
      </p:sp>
      <p:sp>
        <p:nvSpPr>
          <p:cNvPr id="23" name="Text: 机会：让“这是我的学校”，变成“它会抱住我”。"/>
          <p:cNvSpPr txBox="1"/>
          <p:nvPr/>
        </p:nvSpPr>
        <p:spPr>
          <a:xfrm>
            <a:off x="3661866" y="4628245"/>
            <a:ext cx="4969768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机会：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“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这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是我的学校”，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变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成“它会抱住我”。</a:t>
            </a:r>
          </a:p>
        </p:txBody>
      </p:sp>
      <p:sp>
        <p:nvSpPr>
          <p:cNvPr id="24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5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6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1" name="Text: 10"/>
          <p:cNvSpPr txBox="1"/>
          <p:nvPr/>
        </p:nvSpPr>
        <p:spPr>
          <a:xfrm>
            <a:off x="11279684" y="6466713"/>
            <a:ext cx="20300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10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WHO"/>
          <p:cNvSpPr txBox="1"/>
          <p:nvPr/>
        </p:nvSpPr>
        <p:spPr>
          <a:xfrm>
            <a:off x="977702" y="400748"/>
            <a:ext cx="4791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WHO</a:t>
            </a:r>
          </a:p>
        </p:txBody>
      </p:sp>
      <p:sp>
        <p:nvSpPr>
          <p:cNvPr id="5" name="Text: IT"/>
          <p:cNvSpPr txBox="1"/>
          <p:nvPr/>
        </p:nvSpPr>
        <p:spPr>
          <a:xfrm>
            <a:off x="1417836" y="400748"/>
            <a:ext cx="26293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IT</a:t>
            </a:r>
          </a:p>
        </p:txBody>
      </p:sp>
      <p:sp>
        <p:nvSpPr>
          <p:cNvPr id="6" name="Text: IS"/>
          <p:cNvSpPr txBox="1"/>
          <p:nvPr/>
        </p:nvSpPr>
        <p:spPr>
          <a:xfrm>
            <a:off x="1641773" y="400748"/>
            <a:ext cx="26431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IS</a:t>
            </a:r>
          </a:p>
        </p:txBody>
      </p:sp>
      <p:sp>
        <p:nvSpPr>
          <p:cNvPr id="7" name="Text: FOR"/>
          <p:cNvSpPr txBox="1"/>
          <p:nvPr/>
        </p:nvSpPr>
        <p:spPr>
          <a:xfrm>
            <a:off x="1867098" y="400748"/>
            <a:ext cx="43428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FOR</a:t>
            </a:r>
          </a:p>
        </p:txBody>
      </p:sp>
      <p:sp>
        <p:nvSpPr>
          <p:cNvPr id="8" name="Text: 先服务想把校园带在身边的人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务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想把校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在身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边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的人。</a:t>
            </a:r>
          </a:p>
        </p:txBody>
      </p:sp>
      <p:sp>
        <p:nvSpPr>
          <p:cNvPr id="9" name="Text: 18"/>
          <p:cNvSpPr txBox="1"/>
          <p:nvPr/>
        </p:nvSpPr>
        <p:spPr>
          <a:xfrm>
            <a:off x="571500" y="2231727"/>
            <a:ext cx="850900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18</a:t>
            </a:r>
          </a:p>
        </p:txBody>
      </p:sp>
      <p:sp>
        <p:nvSpPr>
          <p:cNvPr id="10" name="Text: –"/>
          <p:cNvSpPr txBox="1"/>
          <p:nvPr/>
        </p:nvSpPr>
        <p:spPr>
          <a:xfrm>
            <a:off x="1279525" y="2231727"/>
            <a:ext cx="561975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11" name="Text: 25"/>
          <p:cNvSpPr txBox="1"/>
          <p:nvPr/>
        </p:nvSpPr>
        <p:spPr>
          <a:xfrm>
            <a:off x="1698625" y="2231727"/>
            <a:ext cx="867569" cy="1187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062"/>
              </a:lnSpc>
              <a:spcBef>
                <a:spcPts val="0"/>
              </a:spcBef>
              <a:spcAft>
                <a:spcPts val="0"/>
              </a:spcAft>
            </a:pPr>
            <a:r>
              <a:rPr sz="6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25</a:t>
            </a:r>
          </a:p>
        </p:txBody>
      </p:sp>
      <p:sp>
        <p:nvSpPr>
          <p:cNvPr id="12" name="Text: 在校大学生"/>
          <p:cNvSpPr txBox="1"/>
          <p:nvPr/>
        </p:nvSpPr>
        <p:spPr>
          <a:xfrm>
            <a:off x="571500" y="3384316"/>
            <a:ext cx="12446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在校大学生</a:t>
            </a:r>
          </a:p>
        </p:txBody>
      </p:sp>
      <p:sp>
        <p:nvSpPr>
          <p:cNvPr id="13" name="Text: /"/>
          <p:cNvSpPr txBox="1"/>
          <p:nvPr/>
        </p:nvSpPr>
        <p:spPr>
          <a:xfrm>
            <a:off x="1778496" y="3384316"/>
            <a:ext cx="226516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4" name="Text: 年轻校友"/>
          <p:cNvSpPr txBox="1"/>
          <p:nvPr/>
        </p:nvSpPr>
        <p:spPr>
          <a:xfrm>
            <a:off x="1967309" y="3384316"/>
            <a:ext cx="1016099" cy="368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年</a:t>
            </a:r>
            <a:r>
              <a:rPr sz="18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8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校友</a:t>
            </a:r>
          </a:p>
        </p:txBody>
      </p:sp>
      <p:sp>
        <p:nvSpPr>
          <p:cNvPr id="15" name="Text: 背包通勤"/>
          <p:cNvSpPr txBox="1"/>
          <p:nvPr/>
        </p:nvSpPr>
        <p:spPr>
          <a:xfrm>
            <a:off x="571500" y="3751409"/>
            <a:ext cx="7874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背包通勤</a:t>
            </a:r>
          </a:p>
        </p:txBody>
      </p:sp>
      <p:sp>
        <p:nvSpPr>
          <p:cNvPr id="16" name="Text: ·"/>
          <p:cNvSpPr txBox="1"/>
          <p:nvPr/>
        </p:nvSpPr>
        <p:spPr>
          <a:xfrm>
            <a:off x="1305223" y="3751409"/>
            <a:ext cx="14337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7" name="Text: 宿舍陪伴"/>
          <p:cNvSpPr txBox="1"/>
          <p:nvPr/>
        </p:nvSpPr>
        <p:spPr>
          <a:xfrm>
            <a:off x="1394916" y="3751409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宿舍陪伴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2128738" y="3751409"/>
            <a:ext cx="14337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毕业送礼"/>
          <p:cNvSpPr txBox="1"/>
          <p:nvPr/>
        </p:nvSpPr>
        <p:spPr>
          <a:xfrm>
            <a:off x="2218432" y="3751409"/>
            <a:ext cx="7874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毕业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送礼</a:t>
            </a:r>
          </a:p>
        </p:txBody>
      </p:sp>
      <p:sp>
        <p:nvSpPr>
          <p:cNvPr id="20" name="Editable rounded card"/>
          <p:cNvSpPr/>
          <p:nvPr/>
        </p:nvSpPr>
        <p:spPr>
          <a:xfrm>
            <a:off x="571500" y="4208760"/>
            <a:ext cx="2964061" cy="406400"/>
          </a:xfrm>
          <a:custGeom>
            <a:avLst/>
            <a:gdLst/>
            <a:ahLst/>
            <a:cxnLst/>
            <a:rect l="0" t="0" r="r" b="b"/>
            <a:pathLst>
              <a:path w="2964061" h="406400" fill="norm" stroke="0">
                <a:moveTo>
                  <a:pt x="203200" y="0"/>
                </a:moveTo>
                <a:lnTo>
                  <a:pt x="2760861" y="0"/>
                </a:lnTo>
                <a:cubicBezTo>
                  <a:pt x="2873085" y="0"/>
                  <a:pt x="2964061" y="90976"/>
                  <a:pt x="2964061" y="203200"/>
                </a:cubicBezTo>
                <a:lnTo>
                  <a:pt x="2964061" y="203200"/>
                </a:lnTo>
                <a:cubicBezTo>
                  <a:pt x="2964061" y="315424"/>
                  <a:pt x="2873085" y="406400"/>
                  <a:pt x="276086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lnTo>
                  <a:pt x="0" y="203200"/>
                </a:ln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“我想带走一点校园，也想随手摸到它。”"/>
          <p:cNvSpPr txBox="1"/>
          <p:nvPr/>
        </p:nvSpPr>
        <p:spPr>
          <a:xfrm>
            <a:off x="749300" y="4290866"/>
            <a:ext cx="2710061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“我想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走一点校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，也想随手摸到它。”</a:t>
            </a:r>
          </a:p>
        </p:txBody>
      </p:sp>
      <p:sp>
        <p:nvSpPr>
          <p:cNvPr id="22" name="Text: 假设性用户画像，非访谈原话"/>
          <p:cNvSpPr txBox="1"/>
          <p:nvPr/>
        </p:nvSpPr>
        <p:spPr>
          <a:xfrm>
            <a:off x="571500" y="4742859"/>
            <a:ext cx="18351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性用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画像，非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访谈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原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话</a:t>
            </a:r>
          </a:p>
        </p:txBody>
      </p:sp>
      <p:pic>
        <p:nvPicPr>
          <p:cNvPr id="23" name="Independent image" descr="image.png"/>
          <p:cNvPicPr>
            <a:picLocks noChangeAspect="1"/>
          </p:cNvPicPr>
          <p:nvPr/>
        </p:nvPicPr>
        <p:blipFill>
          <a:blip r:embed="rId3"/>
          <a:srcRect l="7978" r="7978"/>
          <a:stretch>
            <a:fillRect/>
          </a:stretch>
        </p:blipFill>
        <p:spPr>
          <a:xfrm>
            <a:off x="5836146" y="1730970"/>
            <a:ext cx="5784354" cy="3873500"/>
          </a:xfrm>
          <a:prstGeom prst="roundRect">
            <a:avLst>
              <a:gd name="adj" fmla="val 3934"/>
            </a:avLst>
          </a:prstGeom>
          <a:effectLst/>
        </p:spPr>
      </p:pic>
      <p:sp>
        <p:nvSpPr>
          <p:cNvPr id="24" name="Text: 人物与场景为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人物与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25" name="Text: AI"/>
          <p:cNvSpPr txBox="1"/>
          <p:nvPr/>
        </p:nvSpPr>
        <p:spPr>
          <a:xfrm>
            <a:off x="1329134" y="6095262"/>
            <a:ext cx="208260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26" name="Text: 概念图"/>
          <p:cNvSpPr txBox="1"/>
          <p:nvPr/>
        </p:nvSpPr>
        <p:spPr>
          <a:xfrm>
            <a:off x="1469430" y="6095262"/>
            <a:ext cx="4636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·"/>
          <p:cNvSpPr txBox="1"/>
          <p:nvPr/>
        </p:nvSpPr>
        <p:spPr>
          <a:xfrm>
            <a:off x="1865213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8" name="Text: 用户画像待验证"/>
          <p:cNvSpPr txBox="1"/>
          <p:nvPr/>
        </p:nvSpPr>
        <p:spPr>
          <a:xfrm>
            <a:off x="1928316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画像待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29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2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3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6" name="Text: 11"/>
          <p:cNvSpPr txBox="1"/>
          <p:nvPr/>
        </p:nvSpPr>
        <p:spPr>
          <a:xfrm>
            <a:off x="11293574" y="6466713"/>
            <a:ext cx="1892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11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USER"/>
          <p:cNvSpPr txBox="1"/>
          <p:nvPr/>
        </p:nvSpPr>
        <p:spPr>
          <a:xfrm>
            <a:off x="977702" y="400748"/>
            <a:ext cx="5336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USER</a:t>
            </a:r>
          </a:p>
        </p:txBody>
      </p:sp>
      <p:sp>
        <p:nvSpPr>
          <p:cNvPr id="5" name="Text: JOURNEY"/>
          <p:cNvSpPr txBox="1"/>
          <p:nvPr/>
        </p:nvSpPr>
        <p:spPr>
          <a:xfrm>
            <a:off x="1472505" y="400748"/>
            <a:ext cx="86588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JOURNEY</a:t>
            </a:r>
          </a:p>
        </p:txBody>
      </p:sp>
      <p:sp>
        <p:nvSpPr>
          <p:cNvPr id="6" name="Text: 让第一次触摸，自然接到下一次分享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第一次触摸，自然接到下一次分享。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2391370"/>
            <a:ext cx="11049000" cy="0"/>
          </a:xfrm>
          <a:prstGeom prst="line">
            <a:avLst/>
          </a:prstGeom>
          <a:ln w="12700">
            <a:solidFill>
              <a:srgbClr val="DDD3C6"/>
            </a:solidFill>
          </a:ln>
          <a:effectLst/>
        </p:spPr>
      </p:cxnSp>
      <p:sp>
        <p:nvSpPr>
          <p:cNvPr id="8" name="Editable rounded card"/>
          <p:cNvSpPr/>
          <p:nvPr/>
        </p:nvSpPr>
        <p:spPr>
          <a:xfrm>
            <a:off x="5715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01"/>
          <p:cNvSpPr txBox="1"/>
          <p:nvPr/>
        </p:nvSpPr>
        <p:spPr>
          <a:xfrm>
            <a:off x="766366" y="2234525"/>
            <a:ext cx="27066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0" name="Text: 看到"/>
          <p:cNvSpPr txBox="1"/>
          <p:nvPr/>
        </p:nvSpPr>
        <p:spPr>
          <a:xfrm>
            <a:off x="5715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看到</a:t>
            </a:r>
          </a:p>
        </p:txBody>
      </p:sp>
      <p:sp>
        <p:nvSpPr>
          <p:cNvPr id="11" name="Text: 耳朵与黄白配色"/>
          <p:cNvSpPr txBox="1"/>
          <p:nvPr/>
        </p:nvSpPr>
        <p:spPr>
          <a:xfrm>
            <a:off x="571500" y="3371429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耳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朵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与黄白配色</a:t>
            </a:r>
          </a:p>
        </p:txBody>
      </p:sp>
      <p:sp>
        <p:nvSpPr>
          <p:cNvPr id="12" name="Editable rounded card"/>
          <p:cNvSpPr/>
          <p:nvPr/>
        </p:nvSpPr>
        <p:spPr>
          <a:xfrm>
            <a:off x="21717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: 02"/>
          <p:cNvSpPr txBox="1"/>
          <p:nvPr/>
        </p:nvSpPr>
        <p:spPr>
          <a:xfrm>
            <a:off x="2360612" y="2234525"/>
            <a:ext cx="28247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4" name="Text: 摸到"/>
          <p:cNvSpPr txBox="1"/>
          <p:nvPr/>
        </p:nvSpPr>
        <p:spPr>
          <a:xfrm>
            <a:off x="21717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摸到</a:t>
            </a:r>
          </a:p>
        </p:txBody>
      </p:sp>
      <p:sp>
        <p:nvSpPr>
          <p:cNvPr id="15" name="Text: 腹部柔软可捏"/>
          <p:cNvSpPr txBox="1"/>
          <p:nvPr/>
        </p:nvSpPr>
        <p:spPr>
          <a:xfrm>
            <a:off x="21717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腹部柔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可捏</a:t>
            </a:r>
          </a:p>
        </p:txBody>
      </p:sp>
      <p:sp>
        <p:nvSpPr>
          <p:cNvPr id="16" name="Editable rounded card"/>
          <p:cNvSpPr/>
          <p:nvPr/>
        </p:nvSpPr>
        <p:spPr>
          <a:xfrm>
            <a:off x="37719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: 03"/>
          <p:cNvSpPr txBox="1"/>
          <p:nvPr/>
        </p:nvSpPr>
        <p:spPr>
          <a:xfrm>
            <a:off x="3957141" y="2234525"/>
            <a:ext cx="289818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18" name="Text: 购买"/>
          <p:cNvSpPr txBox="1"/>
          <p:nvPr/>
        </p:nvSpPr>
        <p:spPr>
          <a:xfrm>
            <a:off x="37719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购买</a:t>
            </a:r>
          </a:p>
        </p:txBody>
      </p:sp>
      <p:sp>
        <p:nvSpPr>
          <p:cNvPr id="19" name="Text: 一次演示看懂"/>
          <p:cNvSpPr txBox="1"/>
          <p:nvPr/>
        </p:nvSpPr>
        <p:spPr>
          <a:xfrm>
            <a:off x="37719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一次演示看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</a:t>
            </a:r>
          </a:p>
        </p:txBody>
      </p:sp>
      <p:sp>
        <p:nvSpPr>
          <p:cNvPr id="20" name="Editable rounded card"/>
          <p:cNvSpPr/>
          <p:nvPr/>
        </p:nvSpPr>
        <p:spPr>
          <a:xfrm>
            <a:off x="53721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04"/>
          <p:cNvSpPr txBox="1"/>
          <p:nvPr/>
        </p:nvSpPr>
        <p:spPr>
          <a:xfrm>
            <a:off x="5556448" y="2234525"/>
            <a:ext cx="291604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2" name="Text: 使用"/>
          <p:cNvSpPr txBox="1"/>
          <p:nvPr/>
        </p:nvSpPr>
        <p:spPr>
          <a:xfrm>
            <a:off x="53721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使用</a:t>
            </a:r>
          </a:p>
        </p:txBody>
      </p:sp>
      <p:sp>
        <p:nvSpPr>
          <p:cNvPr id="23" name="Text: 抱住我的手指"/>
          <p:cNvSpPr txBox="1"/>
          <p:nvPr/>
        </p:nvSpPr>
        <p:spPr>
          <a:xfrm>
            <a:off x="53721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抱住我的手指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69723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05"/>
          <p:cNvSpPr txBox="1"/>
          <p:nvPr/>
        </p:nvSpPr>
        <p:spPr>
          <a:xfrm>
            <a:off x="7159030" y="2234525"/>
            <a:ext cx="286841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26" name="Text: 携带"/>
          <p:cNvSpPr txBox="1"/>
          <p:nvPr/>
        </p:nvSpPr>
        <p:spPr>
          <a:xfrm>
            <a:off x="69723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携</a:t>
            </a:r>
            <a:r>
              <a:rPr sz="17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27" name="Text: 抱在背包肩带"/>
          <p:cNvSpPr txBox="1"/>
          <p:nvPr/>
        </p:nvSpPr>
        <p:spPr>
          <a:xfrm>
            <a:off x="69723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抱在背包肩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85725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: 06"/>
          <p:cNvSpPr txBox="1"/>
          <p:nvPr/>
        </p:nvSpPr>
        <p:spPr>
          <a:xfrm>
            <a:off x="8756848" y="2234525"/>
            <a:ext cx="291604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0" name="Text: 合影"/>
          <p:cNvSpPr txBox="1"/>
          <p:nvPr/>
        </p:nvSpPr>
        <p:spPr>
          <a:xfrm>
            <a:off x="85725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合影</a:t>
            </a:r>
          </a:p>
        </p:txBody>
      </p:sp>
      <p:sp>
        <p:nvSpPr>
          <p:cNvPr id="31" name="Text: 双鼠尾巴成心"/>
          <p:cNvSpPr txBox="1"/>
          <p:nvPr/>
        </p:nvSpPr>
        <p:spPr>
          <a:xfrm>
            <a:off x="8572500" y="3371429"/>
            <a:ext cx="101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双鼠尾巴成心</a:t>
            </a:r>
          </a:p>
        </p:txBody>
      </p:sp>
      <p:sp>
        <p:nvSpPr>
          <p:cNvPr id="32" name="Editable rounded card"/>
          <p:cNvSpPr/>
          <p:nvPr/>
        </p:nvSpPr>
        <p:spPr>
          <a:xfrm>
            <a:off x="10172700" y="2111970"/>
            <a:ext cx="558800" cy="558800"/>
          </a:xfrm>
          <a:custGeom>
            <a:avLst/>
            <a:gdLst/>
            <a:ahLst/>
            <a:cxnLst/>
            <a:rect l="0" t="0" r="r" b="b"/>
            <a:pathLst>
              <a:path w="558800" h="558800" fill="norm" stroke="0">
                <a:moveTo>
                  <a:pt x="279400" y="0"/>
                </a:moveTo>
                <a:lnTo>
                  <a:pt x="279400" y="0"/>
                </a:lnTo>
                <a:cubicBezTo>
                  <a:pt x="433708" y="0"/>
                  <a:pt x="558800" y="125092"/>
                  <a:pt x="558800" y="279400"/>
                </a:cubicBezTo>
                <a:lnTo>
                  <a:pt x="558800" y="279400"/>
                </a:lnTo>
                <a:cubicBezTo>
                  <a:pt x="558800" y="433708"/>
                  <a:pt x="433708" y="558800"/>
                  <a:pt x="279400" y="558800"/>
                </a:cubicBezTo>
                <a:lnTo>
                  <a:pt x="279400" y="558800"/>
                </a:lnTo>
                <a:cubicBezTo>
                  <a:pt x="125092" y="558800"/>
                  <a:pt x="0" y="433708"/>
                  <a:pt x="0" y="279400"/>
                </a:cubicBezTo>
                <a:lnTo>
                  <a:pt x="0" y="279400"/>
                </a:ln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: 07"/>
          <p:cNvSpPr txBox="1"/>
          <p:nvPr/>
        </p:nvSpPr>
        <p:spPr>
          <a:xfrm>
            <a:off x="10364788" y="2234525"/>
            <a:ext cx="27612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07</a:t>
            </a:r>
          </a:p>
        </p:txBody>
      </p:sp>
      <p:sp>
        <p:nvSpPr>
          <p:cNvPr id="34" name="Text: 分享"/>
          <p:cNvSpPr txBox="1"/>
          <p:nvPr/>
        </p:nvSpPr>
        <p:spPr>
          <a:xfrm>
            <a:off x="10172700" y="2892068"/>
            <a:ext cx="5461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3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分享</a:t>
            </a:r>
          </a:p>
        </p:txBody>
      </p:sp>
      <p:sp>
        <p:nvSpPr>
          <p:cNvPr id="35" name="Text: 一句话说清动作"/>
          <p:cNvSpPr txBox="1"/>
          <p:nvPr/>
        </p:nvSpPr>
        <p:spPr>
          <a:xfrm>
            <a:off x="10172700" y="3371429"/>
            <a:ext cx="1168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一句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话说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36" name="Editable rounded card"/>
          <p:cNvSpPr/>
          <p:nvPr/>
        </p:nvSpPr>
        <p:spPr>
          <a:xfrm>
            <a:off x="571500" y="4141986"/>
            <a:ext cx="11049000" cy="942280"/>
          </a:xfrm>
          <a:custGeom>
            <a:avLst/>
            <a:gdLst/>
            <a:ahLst/>
            <a:cxnLst/>
            <a:rect l="0" t="0" r="r" b="b"/>
            <a:pathLst>
              <a:path w="11049000" h="94228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789880"/>
                </a:lnTo>
                <a:cubicBezTo>
                  <a:pt x="11049000" y="874049"/>
                  <a:pt x="10980768" y="942280"/>
                  <a:pt x="10896600" y="942280"/>
                </a:cubicBezTo>
                <a:lnTo>
                  <a:pt x="152400" y="942280"/>
                </a:lnTo>
                <a:cubicBezTo>
                  <a:pt x="68232" y="942280"/>
                  <a:pt x="0" y="874049"/>
                  <a:pt x="0" y="78988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: 关键转化点：摸到"/>
          <p:cNvSpPr txBox="1"/>
          <p:nvPr/>
        </p:nvSpPr>
        <p:spPr>
          <a:xfrm>
            <a:off x="787400" y="4310134"/>
            <a:ext cx="15240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关键转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化点：摸到</a:t>
            </a:r>
          </a:p>
        </p:txBody>
      </p:sp>
      <p:sp>
        <p:nvSpPr>
          <p:cNvPr id="38" name="Text: →"/>
          <p:cNvSpPr txBox="1"/>
          <p:nvPr/>
        </p:nvSpPr>
        <p:spPr>
          <a:xfrm>
            <a:off x="2259509" y="4310134"/>
            <a:ext cx="279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9" name="Text: 看懂拥抱"/>
          <p:cNvSpPr txBox="1"/>
          <p:nvPr/>
        </p:nvSpPr>
        <p:spPr>
          <a:xfrm>
            <a:off x="2487116" y="4310134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看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懂拥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40" name="Text: →"/>
          <p:cNvSpPr txBox="1"/>
          <p:nvPr/>
        </p:nvSpPr>
        <p:spPr>
          <a:xfrm>
            <a:off x="3248124" y="4310134"/>
            <a:ext cx="279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1" name="Text: 愿意带走"/>
          <p:cNvSpPr txBox="1"/>
          <p:nvPr/>
        </p:nvSpPr>
        <p:spPr>
          <a:xfrm>
            <a:off x="3475732" y="4310134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愿意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走</a:t>
            </a:r>
          </a:p>
        </p:txBody>
      </p:sp>
      <p:sp>
        <p:nvSpPr>
          <p:cNvPr id="42" name="Text: 门店演示、包装动图、可触摸样机共同服务这一刻。"/>
          <p:cNvSpPr txBox="1"/>
          <p:nvPr/>
        </p:nvSpPr>
        <p:spPr>
          <a:xfrm>
            <a:off x="787400" y="4659090"/>
            <a:ext cx="36068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门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店演示、包装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动图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、可触摸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机共同服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务这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一刻。</a:t>
            </a:r>
          </a:p>
        </p:txBody>
      </p:sp>
      <p:sp>
        <p:nvSpPr>
          <p:cNvPr id="43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4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5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6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7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8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9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0" name="Text: 12"/>
          <p:cNvSpPr txBox="1"/>
          <p:nvPr/>
        </p:nvSpPr>
        <p:spPr>
          <a:xfrm>
            <a:off x="11286430" y="6466713"/>
            <a:ext cx="1962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12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RIORITY"/>
          <p:cNvSpPr txBox="1"/>
          <p:nvPr/>
        </p:nvSpPr>
        <p:spPr>
          <a:xfrm>
            <a:off x="977702" y="400748"/>
            <a:ext cx="8760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PRIORITY</a:t>
            </a:r>
          </a:p>
        </p:txBody>
      </p:sp>
      <p:sp>
        <p:nvSpPr>
          <p:cNvPr id="5" name="Text: 先满足互动记忆、校园识别与随身携带。"/>
          <p:cNvSpPr txBox="1"/>
          <p:nvPr/>
        </p:nvSpPr>
        <p:spPr>
          <a:xfrm>
            <a:off x="571500" y="706374"/>
            <a:ext cx="7531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满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足互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、校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与随身携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" name="Editable SVG path"/>
          <p:cNvSpPr/>
          <p:nvPr/>
        </p:nvSpPr>
        <p:spPr>
          <a:xfrm>
            <a:off x="2235200" y="5058370"/>
            <a:ext cx="8263467" cy="318"/>
          </a:xfrm>
          <a:custGeom>
            <a:avLst/>
            <a:gdLst/>
            <a:ahLst/>
            <a:cxnLst/>
            <a:rect l="0" t="0" r="r" b="b"/>
            <a:pathLst>
              <a:path w="8263467" h="318" fill="none" stroke="1">
                <a:moveTo>
                  <a:pt x="0" y="0"/>
                </a:moveTo>
                <a:lnTo>
                  <a:pt x="82634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235200" y="1942637"/>
            <a:ext cx="318" cy="3115733"/>
          </a:xfrm>
          <a:custGeom>
            <a:avLst/>
            <a:gdLst/>
            <a:ahLst/>
            <a:cxnLst/>
            <a:rect l="0" t="0" r="r" b="b"/>
            <a:pathLst>
              <a:path w="318" h="3115733" fill="none" stroke="1">
                <a:moveTo>
                  <a:pt x="0" y="3115733"/>
                </a:moveTo>
                <a:lnTo>
                  <a:pt x="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开发投入 →"/>
          <p:cNvSpPr txBox="1"/>
          <p:nvPr/>
        </p:nvSpPr>
        <p:spPr>
          <a:xfrm>
            <a:off x="9780852" y="5218814"/>
            <a:ext cx="99536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开发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投入 →</a:t>
            </a:r>
          </a:p>
        </p:txBody>
      </p:sp>
      <p:sp>
        <p:nvSpPr>
          <p:cNvPr id="9" name="Text: 用户价值 ↑"/>
          <p:cNvSpPr txBox="1"/>
          <p:nvPr/>
        </p:nvSpPr>
        <p:spPr>
          <a:xfrm>
            <a:off x="2235200" y="1595080"/>
            <a:ext cx="99536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 ↑</a:t>
            </a:r>
          </a:p>
        </p:txBody>
      </p:sp>
      <p:sp>
        <p:nvSpPr>
          <p:cNvPr id="10" name="Editable rounded card"/>
          <p:cNvSpPr/>
          <p:nvPr/>
        </p:nvSpPr>
        <p:spPr>
          <a:xfrm>
            <a:off x="2438400" y="2010370"/>
            <a:ext cx="4402666" cy="1557867"/>
          </a:xfrm>
          <a:custGeom>
            <a:avLst/>
            <a:gdLst/>
            <a:ahLst/>
            <a:cxnLst/>
            <a:rect l="0" t="0" r="r" b="b"/>
            <a:pathLst>
              <a:path w="4402666" h="1557867" fill="norm" stroke="0">
                <a:moveTo>
                  <a:pt x="228600" y="0"/>
                </a:moveTo>
                <a:lnTo>
                  <a:pt x="4174066" y="0"/>
                </a:lnTo>
                <a:cubicBezTo>
                  <a:pt x="4300318" y="0"/>
                  <a:pt x="4402666" y="102348"/>
                  <a:pt x="4402666" y="228600"/>
                </a:cubicBezTo>
                <a:lnTo>
                  <a:pt x="4402666" y="1329267"/>
                </a:lnTo>
                <a:cubicBezTo>
                  <a:pt x="4402666" y="1455519"/>
                  <a:pt x="4300318" y="1557867"/>
                  <a:pt x="4174066" y="1557867"/>
                </a:cubicBezTo>
                <a:lnTo>
                  <a:pt x="228600" y="1557867"/>
                </a:lnTo>
                <a:cubicBezTo>
                  <a:pt x="102348" y="1557867"/>
                  <a:pt x="0" y="1455519"/>
                  <a:pt x="0" y="1329267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0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3020907" y="2017144"/>
            <a:ext cx="1002453" cy="1002454"/>
          </a:xfrm>
          <a:prstGeom prst="ellipse">
            <a:avLst/>
          </a:prstGeom>
          <a:solidFill>
            <a:srgbClr val="E9B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互动记忆"/>
          <p:cNvSpPr txBox="1"/>
          <p:nvPr/>
        </p:nvSpPr>
        <p:spPr>
          <a:xfrm>
            <a:off x="3170056" y="2353507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动记忆</a:t>
            </a:r>
          </a:p>
        </p:txBody>
      </p:sp>
      <p:sp>
        <p:nvSpPr>
          <p:cNvPr id="13" name="Editable vector ellipse"/>
          <p:cNvSpPr/>
          <p:nvPr/>
        </p:nvSpPr>
        <p:spPr>
          <a:xfrm>
            <a:off x="4680373" y="1983277"/>
            <a:ext cx="934720" cy="934720"/>
          </a:xfrm>
          <a:prstGeom prst="ellipse">
            <a:avLst/>
          </a:prstGeom>
          <a:solidFill>
            <a:srgbClr val="F1DB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校园识别"/>
          <p:cNvSpPr txBox="1"/>
          <p:nvPr/>
        </p:nvSpPr>
        <p:spPr>
          <a:xfrm>
            <a:off x="4795656" y="2285774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</a:p>
        </p:txBody>
      </p:sp>
      <p:sp>
        <p:nvSpPr>
          <p:cNvPr id="15" name="Editable vector ellipse"/>
          <p:cNvSpPr/>
          <p:nvPr/>
        </p:nvSpPr>
        <p:spPr>
          <a:xfrm>
            <a:off x="3894667" y="3060237"/>
            <a:ext cx="880533" cy="880533"/>
          </a:xfrm>
          <a:prstGeom prst="ellipse">
            <a:avLst/>
          </a:prstGeom>
          <a:solidFill>
            <a:srgbClr val="D6E3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: 随身携带"/>
          <p:cNvSpPr txBox="1"/>
          <p:nvPr/>
        </p:nvSpPr>
        <p:spPr>
          <a:xfrm>
            <a:off x="3982855" y="3335641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随身携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7" name="Editable vector ellipse"/>
          <p:cNvSpPr/>
          <p:nvPr/>
        </p:nvSpPr>
        <p:spPr>
          <a:xfrm>
            <a:off x="7328746" y="2836717"/>
            <a:ext cx="785707" cy="785707"/>
          </a:xfrm>
          <a:prstGeom prst="ellipse">
            <a:avLst/>
          </a:prstGeom>
          <a:solidFill>
            <a:srgbClr val="E6D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尾巴磁吸"/>
          <p:cNvSpPr txBox="1"/>
          <p:nvPr/>
        </p:nvSpPr>
        <p:spPr>
          <a:xfrm>
            <a:off x="7369522" y="3064707"/>
            <a:ext cx="80575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尾巴磁吸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8717280" y="3818850"/>
            <a:ext cx="853439" cy="853440"/>
          </a:xfrm>
          <a:prstGeom prst="ellipse">
            <a:avLst/>
          </a:prstGeom>
          <a:solidFill>
            <a:srgbClr val="E3DE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多种电子功能"/>
          <p:cNvSpPr txBox="1"/>
          <p:nvPr/>
        </p:nvSpPr>
        <p:spPr>
          <a:xfrm>
            <a:off x="8615908" y="4080707"/>
            <a:ext cx="1157783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种电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子功能</a:t>
            </a:r>
          </a:p>
        </p:txBody>
      </p:sp>
      <p:sp>
        <p:nvSpPr>
          <p:cNvPr id="21" name="Text: 先做 / 后做 / 不做"/>
          <p:cNvSpPr txBox="1"/>
          <p:nvPr/>
        </p:nvSpPr>
        <p:spPr>
          <a:xfrm>
            <a:off x="7106229" y="1933374"/>
            <a:ext cx="1603276" cy="298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先做 / 后做 / 不做</a:t>
            </a:r>
          </a:p>
        </p:txBody>
      </p:sp>
      <p:sp>
        <p:nvSpPr>
          <p:cNvPr id="22" name="Text: 优先级为设计假设"/>
          <p:cNvSpPr txBox="1"/>
          <p:nvPr/>
        </p:nvSpPr>
        <p:spPr>
          <a:xfrm>
            <a:off x="571500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优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级为设计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23" name="Text: ·"/>
          <p:cNvSpPr txBox="1"/>
          <p:nvPr/>
        </p:nvSpPr>
        <p:spPr>
          <a:xfrm>
            <a:off x="1570434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4" name="Text: 非用户调查数据"/>
          <p:cNvSpPr txBox="1"/>
          <p:nvPr/>
        </p:nvSpPr>
        <p:spPr>
          <a:xfrm>
            <a:off x="163353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非用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户调查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2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2" name="Text: 13"/>
          <p:cNvSpPr txBox="1"/>
          <p:nvPr/>
        </p:nvSpPr>
        <p:spPr>
          <a:xfrm>
            <a:off x="11281966" y="6466713"/>
            <a:ext cx="20072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13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OMPETITIVE"/>
          <p:cNvSpPr txBox="1"/>
          <p:nvPr/>
        </p:nvSpPr>
        <p:spPr>
          <a:xfrm>
            <a:off x="977702" y="400748"/>
            <a:ext cx="121235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COMPETITIVE</a:t>
            </a:r>
          </a:p>
        </p:txBody>
      </p:sp>
      <p:sp>
        <p:nvSpPr>
          <p:cNvPr id="5" name="Text: SET"/>
          <p:cNvSpPr txBox="1"/>
          <p:nvPr/>
        </p:nvSpPr>
        <p:spPr>
          <a:xfrm>
            <a:off x="2151162" y="400748"/>
            <a:ext cx="41592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SET</a:t>
            </a:r>
          </a:p>
        </p:txBody>
      </p:sp>
      <p:sp>
        <p:nvSpPr>
          <p:cNvPr id="6" name="Text: 鼠大的差异，是让互动与校园身份同时成立。"/>
          <p:cNvSpPr txBox="1"/>
          <p:nvPr/>
        </p:nvSpPr>
        <p:spPr>
          <a:xfrm>
            <a:off x="571500" y="706374"/>
            <a:ext cx="8356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鼠大的差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异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，是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与校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时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667470"/>
            <a:ext cx="1104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71500" y="21437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9" name="Text: 类型"/>
          <p:cNvSpPr txBox="1"/>
          <p:nvPr/>
        </p:nvSpPr>
        <p:spPr>
          <a:xfrm>
            <a:off x="730250" y="1759418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类</a:t>
            </a: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型</a:t>
            </a:r>
          </a:p>
        </p:txBody>
      </p:sp>
      <p:sp>
        <p:nvSpPr>
          <p:cNvPr id="10" name="Text: 校园识别"/>
          <p:cNvSpPr txBox="1"/>
          <p:nvPr/>
        </p:nvSpPr>
        <p:spPr>
          <a:xfrm>
            <a:off x="3585369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</a:p>
        </p:txBody>
      </p:sp>
      <p:sp>
        <p:nvSpPr>
          <p:cNvPr id="11" name="Text: 动作记忆"/>
          <p:cNvSpPr txBox="1"/>
          <p:nvPr/>
        </p:nvSpPr>
        <p:spPr>
          <a:xfrm>
            <a:off x="5554464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作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记忆</a:t>
            </a:r>
          </a:p>
        </p:txBody>
      </p:sp>
      <p:sp>
        <p:nvSpPr>
          <p:cNvPr id="12" name="Text: 随身携带"/>
          <p:cNvSpPr txBox="1"/>
          <p:nvPr/>
        </p:nvSpPr>
        <p:spPr>
          <a:xfrm>
            <a:off x="7523559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随身携</a:t>
            </a:r>
            <a:r>
              <a:rPr sz="1400" b="0" i="0" spc="0" lang="zh-CN" dirty="0">
                <a:solidFill>
                  <a:srgbClr val="9D8B75"/>
                </a:solidFill>
                <a:latin typeface="Noto Sans CJK SC"/>
                <a:ea typeface="Noto Sans CJK SC"/>
                <a:cs typeface="Noto Sans CJK SC"/>
              </a:rPr>
              <a:t>带</a:t>
            </a:r>
          </a:p>
        </p:txBody>
      </p:sp>
      <p:sp>
        <p:nvSpPr>
          <p:cNvPr id="13" name="Text: 触感陪伴"/>
          <p:cNvSpPr txBox="1"/>
          <p:nvPr/>
        </p:nvSpPr>
        <p:spPr>
          <a:xfrm>
            <a:off x="9492655" y="17594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9D8B75"/>
                </a:solidFill>
                <a:latin typeface="Zen Maru Gothic"/>
                <a:ea typeface="Zen Maru Gothic"/>
                <a:cs typeface="Zen Maru Gothic"/>
              </a:rPr>
              <a:t>触感陪伴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14372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1500" y="272157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16" name="Text: 普通校园毛绒"/>
          <p:cNvSpPr txBox="1"/>
          <p:nvPr/>
        </p:nvSpPr>
        <p:spPr>
          <a:xfrm>
            <a:off x="730250" y="2286468"/>
            <a:ext cx="11684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普通校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毛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7" name="Text: ●"/>
          <p:cNvSpPr txBox="1"/>
          <p:nvPr/>
        </p:nvSpPr>
        <p:spPr>
          <a:xfrm>
            <a:off x="4433391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18" name="Text: ○"/>
          <p:cNvSpPr txBox="1"/>
          <p:nvPr/>
        </p:nvSpPr>
        <p:spPr>
          <a:xfrm>
            <a:off x="6402487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C4B7A1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19" name="Text: ◐"/>
          <p:cNvSpPr txBox="1"/>
          <p:nvPr/>
        </p:nvSpPr>
        <p:spPr>
          <a:xfrm>
            <a:off x="8371582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0" name="Text: ●"/>
          <p:cNvSpPr txBox="1"/>
          <p:nvPr/>
        </p:nvSpPr>
        <p:spPr>
          <a:xfrm>
            <a:off x="10340677" y="22080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272157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1500" y="32994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3" name="Text: 磁吸玩偶"/>
          <p:cNvSpPr txBox="1"/>
          <p:nvPr/>
        </p:nvSpPr>
        <p:spPr>
          <a:xfrm>
            <a:off x="730250" y="28643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磁吸玩偶</a:t>
            </a:r>
          </a:p>
        </p:txBody>
      </p:sp>
      <p:sp>
        <p:nvSpPr>
          <p:cNvPr id="24" name="Text: ◐"/>
          <p:cNvSpPr txBox="1"/>
          <p:nvPr/>
        </p:nvSpPr>
        <p:spPr>
          <a:xfrm>
            <a:off x="4433391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5" name="Text: ◐"/>
          <p:cNvSpPr txBox="1"/>
          <p:nvPr/>
        </p:nvSpPr>
        <p:spPr>
          <a:xfrm>
            <a:off x="6402487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26" name="Text: ●"/>
          <p:cNvSpPr txBox="1"/>
          <p:nvPr/>
        </p:nvSpPr>
        <p:spPr>
          <a:xfrm>
            <a:off x="8371582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7" name="Text: ●"/>
          <p:cNvSpPr txBox="1"/>
          <p:nvPr/>
        </p:nvSpPr>
        <p:spPr>
          <a:xfrm>
            <a:off x="10340677" y="27858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329942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71500" y="387727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30" name="Text: 魔术贴玩偶"/>
          <p:cNvSpPr txBox="1"/>
          <p:nvPr/>
        </p:nvSpPr>
        <p:spPr>
          <a:xfrm>
            <a:off x="730250" y="3442168"/>
            <a:ext cx="9906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魔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术贴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玩偶</a:t>
            </a:r>
          </a:p>
        </p:txBody>
      </p:sp>
      <p:sp>
        <p:nvSpPr>
          <p:cNvPr id="31" name="Text: ◐"/>
          <p:cNvSpPr txBox="1"/>
          <p:nvPr/>
        </p:nvSpPr>
        <p:spPr>
          <a:xfrm>
            <a:off x="4433391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2" name="Text: ◐"/>
          <p:cNvSpPr txBox="1"/>
          <p:nvPr/>
        </p:nvSpPr>
        <p:spPr>
          <a:xfrm>
            <a:off x="6402487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3" name="Text: ●"/>
          <p:cNvSpPr txBox="1"/>
          <p:nvPr/>
        </p:nvSpPr>
        <p:spPr>
          <a:xfrm>
            <a:off x="8371582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34" name="Text: ◐"/>
          <p:cNvSpPr txBox="1"/>
          <p:nvPr/>
        </p:nvSpPr>
        <p:spPr>
          <a:xfrm>
            <a:off x="10340677" y="336374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3877270"/>
            <a:ext cx="11049000" cy="5778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71500" y="4455120"/>
            <a:ext cx="11049000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37" name="Text: Yukai"/>
          <p:cNvSpPr txBox="1"/>
          <p:nvPr/>
        </p:nvSpPr>
        <p:spPr>
          <a:xfrm>
            <a:off x="730250" y="4020018"/>
            <a:ext cx="506512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8" name="Text: 代表产品"/>
          <p:cNvSpPr txBox="1"/>
          <p:nvPr/>
        </p:nvSpPr>
        <p:spPr>
          <a:xfrm>
            <a:off x="1184870" y="4020018"/>
            <a:ext cx="812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代表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39" name="Text: ○"/>
          <p:cNvSpPr txBox="1"/>
          <p:nvPr/>
        </p:nvSpPr>
        <p:spPr>
          <a:xfrm>
            <a:off x="4433391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C4B7A1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40" name="Text: ●"/>
          <p:cNvSpPr txBox="1"/>
          <p:nvPr/>
        </p:nvSpPr>
        <p:spPr>
          <a:xfrm>
            <a:off x="6402487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1" name="Text: ◐"/>
          <p:cNvSpPr txBox="1"/>
          <p:nvPr/>
        </p:nvSpPr>
        <p:spPr>
          <a:xfrm>
            <a:off x="8371582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ACC5CD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42" name="Text: ●"/>
          <p:cNvSpPr txBox="1"/>
          <p:nvPr/>
        </p:nvSpPr>
        <p:spPr>
          <a:xfrm>
            <a:off x="10340677" y="3941596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3" name="Editable rounded card"/>
          <p:cNvSpPr/>
          <p:nvPr/>
        </p:nvSpPr>
        <p:spPr>
          <a:xfrm>
            <a:off x="571500" y="4455120"/>
            <a:ext cx="11049000" cy="577850"/>
          </a:xfrm>
          <a:custGeom>
            <a:avLst/>
            <a:gdLst/>
            <a:ahLst/>
            <a:cxnLst/>
            <a:rect l="0" t="0" r="r" b="b"/>
            <a:pathLst>
              <a:path w="11049000" h="577850" fill="norm" stroke="0">
                <a:moveTo>
                  <a:pt x="127000" y="0"/>
                </a:moveTo>
                <a:lnTo>
                  <a:pt x="10922000" y="0"/>
                </a:lnTo>
                <a:cubicBezTo>
                  <a:pt x="10992140" y="0"/>
                  <a:pt x="11049000" y="56860"/>
                  <a:pt x="11049000" y="127000"/>
                </a:cubicBezTo>
                <a:lnTo>
                  <a:pt x="11049000" y="450850"/>
                </a:lnTo>
                <a:cubicBezTo>
                  <a:pt x="11049000" y="520990"/>
                  <a:pt x="10992140" y="577850"/>
                  <a:pt x="10922000" y="577850"/>
                </a:cubicBezTo>
                <a:lnTo>
                  <a:pt x="127000" y="577850"/>
                </a:lnTo>
                <a:cubicBezTo>
                  <a:pt x="56860" y="577850"/>
                  <a:pt x="0" y="520990"/>
                  <a:pt x="0" y="4508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1DD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: 鼠大"/>
          <p:cNvSpPr txBox="1"/>
          <p:nvPr/>
        </p:nvSpPr>
        <p:spPr>
          <a:xfrm>
            <a:off x="730250" y="4601043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135559" y="4601043"/>
            <a:ext cx="198834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目标"/>
          <p:cNvSpPr txBox="1"/>
          <p:nvPr/>
        </p:nvSpPr>
        <p:spPr>
          <a:xfrm>
            <a:off x="1282402" y="4601043"/>
            <a:ext cx="4572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目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47" name="Text: ●"/>
          <p:cNvSpPr txBox="1"/>
          <p:nvPr/>
        </p:nvSpPr>
        <p:spPr>
          <a:xfrm>
            <a:off x="4433391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8" name="Text: ●"/>
          <p:cNvSpPr txBox="1"/>
          <p:nvPr/>
        </p:nvSpPr>
        <p:spPr>
          <a:xfrm>
            <a:off x="6402487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49" name="Text: ●"/>
          <p:cNvSpPr txBox="1"/>
          <p:nvPr/>
        </p:nvSpPr>
        <p:spPr>
          <a:xfrm>
            <a:off x="8371582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0" name="Text: ●"/>
          <p:cNvSpPr txBox="1"/>
          <p:nvPr/>
        </p:nvSpPr>
        <p:spPr>
          <a:xfrm>
            <a:off x="10340677" y="4522621"/>
            <a:ext cx="374650" cy="431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17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 spc="0" lang="zh-CN" dirty="0">
                <a:solidFill>
                  <a:srgbClr val="DF926B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1" name="Text: ●"/>
          <p:cNvSpPr txBox="1"/>
          <p:nvPr/>
        </p:nvSpPr>
        <p:spPr>
          <a:xfrm>
            <a:off x="6994624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●</a:t>
            </a:r>
          </a:p>
        </p:txBody>
      </p:sp>
      <p:sp>
        <p:nvSpPr>
          <p:cNvPr id="52" name="Text: 典型优势"/>
          <p:cNvSpPr txBox="1"/>
          <p:nvPr/>
        </p:nvSpPr>
        <p:spPr>
          <a:xfrm>
            <a:off x="7173416" y="5198197"/>
            <a:ext cx="6604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典型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优势</a:t>
            </a:r>
          </a:p>
        </p:txBody>
      </p:sp>
      <p:sp>
        <p:nvSpPr>
          <p:cNvPr id="53" name="Text: ◐"/>
          <p:cNvSpPr txBox="1"/>
          <p:nvPr/>
        </p:nvSpPr>
        <p:spPr>
          <a:xfrm>
            <a:off x="7871916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◐</a:t>
            </a:r>
          </a:p>
        </p:txBody>
      </p:sp>
      <p:sp>
        <p:nvSpPr>
          <p:cNvPr id="54" name="Text: 因产品而异"/>
          <p:cNvSpPr txBox="1"/>
          <p:nvPr/>
        </p:nvSpPr>
        <p:spPr>
          <a:xfrm>
            <a:off x="8050709" y="5198197"/>
            <a:ext cx="8001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因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品而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异</a:t>
            </a:r>
          </a:p>
        </p:txBody>
      </p:sp>
      <p:sp>
        <p:nvSpPr>
          <p:cNvPr id="55" name="Text: ○"/>
          <p:cNvSpPr txBox="1"/>
          <p:nvPr/>
        </p:nvSpPr>
        <p:spPr>
          <a:xfrm>
            <a:off x="8888909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○</a:t>
            </a:r>
          </a:p>
        </p:txBody>
      </p:sp>
      <p:sp>
        <p:nvSpPr>
          <p:cNvPr id="56" name="Text: 通常不突出"/>
          <p:cNvSpPr txBox="1"/>
          <p:nvPr/>
        </p:nvSpPr>
        <p:spPr>
          <a:xfrm>
            <a:off x="9067701" y="5198197"/>
            <a:ext cx="8001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通常不突出</a:t>
            </a:r>
          </a:p>
        </p:txBody>
      </p:sp>
      <p:sp>
        <p:nvSpPr>
          <p:cNvPr id="57" name="Text: ／"/>
          <p:cNvSpPr txBox="1"/>
          <p:nvPr/>
        </p:nvSpPr>
        <p:spPr>
          <a:xfrm>
            <a:off x="9905901" y="5198197"/>
            <a:ext cx="2413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／</a:t>
            </a:r>
          </a:p>
        </p:txBody>
      </p:sp>
      <p:sp>
        <p:nvSpPr>
          <p:cNvPr id="58" name="Text: 鼠大一行为设计目标"/>
          <p:cNvSpPr txBox="1"/>
          <p:nvPr/>
        </p:nvSpPr>
        <p:spPr>
          <a:xfrm>
            <a:off x="10185301" y="5198197"/>
            <a:ext cx="13589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鼠大一行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为设计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目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59" name="Text: 定性类别比较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定性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类别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比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较</a:t>
            </a:r>
          </a:p>
        </p:txBody>
      </p:sp>
      <p:sp>
        <p:nvSpPr>
          <p:cNvPr id="60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61" name="Text: 未进行实物横评"/>
          <p:cNvSpPr txBox="1"/>
          <p:nvPr/>
        </p:nvSpPr>
        <p:spPr>
          <a:xfrm>
            <a:off x="1392238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未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行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物横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评</a:t>
            </a:r>
          </a:p>
        </p:txBody>
      </p:sp>
      <p:sp>
        <p:nvSpPr>
          <p:cNvPr id="6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6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6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6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6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69" name="Text: 14"/>
          <p:cNvSpPr txBox="1"/>
          <p:nvPr/>
        </p:nvSpPr>
        <p:spPr>
          <a:xfrm>
            <a:off x="11280973" y="6466713"/>
            <a:ext cx="20181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14</a:t>
            </a:r>
          </a:p>
        </p:txBody>
      </p:sp>
      <p:sp>
        <p:nvSpPr>
          <p:cNvPr id="70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7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"/>
          <p:cNvSpPr txBox="1"/>
          <p:nvPr/>
        </p:nvSpPr>
        <p:spPr>
          <a:xfrm>
            <a:off x="571500" y="400748"/>
            <a:ext cx="28416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676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E"/>
          <p:cNvSpPr txBox="1"/>
          <p:nvPr/>
        </p:nvSpPr>
        <p:spPr>
          <a:xfrm>
            <a:off x="977702" y="400748"/>
            <a:ext cx="425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THE</a:t>
            </a:r>
          </a:p>
        </p:txBody>
      </p:sp>
      <p:sp>
        <p:nvSpPr>
          <p:cNvPr id="5" name="Text: GAP"/>
          <p:cNvSpPr txBox="1"/>
          <p:nvPr/>
        </p:nvSpPr>
        <p:spPr>
          <a:xfrm>
            <a:off x="1364655" y="400748"/>
            <a:ext cx="43844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GAP</a:t>
            </a:r>
          </a:p>
        </p:txBody>
      </p:sp>
      <p:sp>
        <p:nvSpPr>
          <p:cNvPr id="6" name="Text: 空白在两者之间：有身份，也有一个生命行为。"/>
          <p:cNvSpPr txBox="1"/>
          <p:nvPr/>
        </p:nvSpPr>
        <p:spPr>
          <a:xfrm>
            <a:off x="571500" y="706374"/>
            <a:ext cx="8769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空白在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者之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间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：有身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份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，也有一个生命行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Editable rounded card"/>
          <p:cNvSpPr/>
          <p:nvPr/>
        </p:nvSpPr>
        <p:spPr>
          <a:xfrm>
            <a:off x="571500" y="1984970"/>
            <a:ext cx="3832622" cy="2222500"/>
          </a:xfrm>
          <a:custGeom>
            <a:avLst/>
            <a:gdLst/>
            <a:ahLst/>
            <a:cxnLst/>
            <a:rect l="0" t="0" r="r" b="b"/>
            <a:pathLst>
              <a:path w="3832622" h="2222500" fill="norm" stroke="0">
                <a:moveTo>
                  <a:pt x="1916311" y="0"/>
                </a:moveTo>
                <a:lnTo>
                  <a:pt x="1916311" y="0"/>
                </a:lnTo>
                <a:cubicBezTo>
                  <a:pt x="2974660" y="0"/>
                  <a:pt x="3832622" y="497524"/>
                  <a:pt x="3832622" y="1111250"/>
                </a:cubicBezTo>
                <a:lnTo>
                  <a:pt x="3832622" y="1111250"/>
                </a:lnTo>
                <a:cubicBezTo>
                  <a:pt x="3832622" y="1724976"/>
                  <a:pt x="2974660" y="2222500"/>
                  <a:pt x="1916311" y="2222500"/>
                </a:cubicBezTo>
                <a:lnTo>
                  <a:pt x="1916311" y="2222500"/>
                </a:lnTo>
                <a:cubicBezTo>
                  <a:pt x="857962" y="2222500"/>
                  <a:pt x="0" y="1724976"/>
                  <a:pt x="0" y="1111250"/>
                </a:cubicBezTo>
                <a:lnTo>
                  <a:pt x="0" y="1111250"/>
                </a:lnTo>
                <a:cubicBezTo>
                  <a:pt x="0" y="497524"/>
                  <a:pt x="857962" y="0"/>
                  <a:pt x="1916311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CAMPUS"/>
          <p:cNvSpPr txBox="1"/>
          <p:nvPr/>
        </p:nvSpPr>
        <p:spPr>
          <a:xfrm>
            <a:off x="2060674" y="2511826"/>
            <a:ext cx="74691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CAMPUS</a:t>
            </a:r>
          </a:p>
        </p:txBody>
      </p:sp>
      <p:sp>
        <p:nvSpPr>
          <p:cNvPr id="9" name="Text: IP"/>
          <p:cNvSpPr txBox="1"/>
          <p:nvPr/>
        </p:nvSpPr>
        <p:spPr>
          <a:xfrm>
            <a:off x="2762349" y="2511826"/>
            <a:ext cx="2541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0" name="Text: 校园"/>
          <p:cNvSpPr txBox="1"/>
          <p:nvPr/>
        </p:nvSpPr>
        <p:spPr>
          <a:xfrm>
            <a:off x="1799630" y="2848233"/>
            <a:ext cx="609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</a:p>
        </p:txBody>
      </p:sp>
      <p:sp>
        <p:nvSpPr>
          <p:cNvPr id="11" name="Text: IP"/>
          <p:cNvSpPr txBox="1"/>
          <p:nvPr/>
        </p:nvSpPr>
        <p:spPr>
          <a:xfrm>
            <a:off x="2378670" y="2848233"/>
            <a:ext cx="319683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2" name="Text: 毛绒"/>
          <p:cNvSpPr txBox="1"/>
          <p:nvPr/>
        </p:nvSpPr>
        <p:spPr>
          <a:xfrm>
            <a:off x="2667794" y="2848233"/>
            <a:ext cx="609699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毛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3" name="Text: “它属于我的学校。”"/>
          <p:cNvSpPr txBox="1"/>
          <p:nvPr/>
        </p:nvSpPr>
        <p:spPr>
          <a:xfrm>
            <a:off x="1728192" y="3382712"/>
            <a:ext cx="1620738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“它属于我的学校。”</a:t>
            </a:r>
          </a:p>
        </p:txBody>
      </p:sp>
      <p:sp>
        <p:nvSpPr>
          <p:cNvPr id="14" name="Text: ＋"/>
          <p:cNvSpPr txBox="1"/>
          <p:nvPr/>
        </p:nvSpPr>
        <p:spPr>
          <a:xfrm>
            <a:off x="5905401" y="2157055"/>
            <a:ext cx="4826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＋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606951" y="2699790"/>
            <a:ext cx="10795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582"/>
              </a:lnSpc>
              <a:spcBef>
                <a:spcPts val="0"/>
              </a:spcBef>
              <a:spcAft>
                <a:spcPts val="0"/>
              </a:spcAft>
            </a:pPr>
            <a:r>
              <a:rPr sz="38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低技术感"/>
          <p:cNvSpPr txBox="1"/>
          <p:nvPr/>
        </p:nvSpPr>
        <p:spPr>
          <a:xfrm>
            <a:off x="5343227" y="36947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低技</a:t>
            </a: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术</a:t>
            </a: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感</a:t>
            </a:r>
          </a:p>
        </p:txBody>
      </p:sp>
      <p:sp>
        <p:nvSpPr>
          <p:cNvPr id="17" name="Text: ×"/>
          <p:cNvSpPr txBox="1"/>
          <p:nvPr/>
        </p:nvSpPr>
        <p:spPr>
          <a:xfrm>
            <a:off x="6022677" y="3694708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×</a:t>
            </a:r>
          </a:p>
        </p:txBody>
      </p:sp>
      <p:sp>
        <p:nvSpPr>
          <p:cNvPr id="18" name="Text: 拟生行为"/>
          <p:cNvSpPr txBox="1"/>
          <p:nvPr/>
        </p:nvSpPr>
        <p:spPr>
          <a:xfrm>
            <a:off x="6213475" y="36947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拟</a:t>
            </a:r>
            <a:r>
              <a:rPr sz="12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生行</a:t>
            </a:r>
            <a:r>
              <a:rPr sz="12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7787779" y="1984970"/>
            <a:ext cx="3832721" cy="2222500"/>
          </a:xfrm>
          <a:custGeom>
            <a:avLst/>
            <a:gdLst/>
            <a:ahLst/>
            <a:cxnLst/>
            <a:rect l="0" t="0" r="r" b="b"/>
            <a:pathLst>
              <a:path w="3832721" h="2222500" fill="norm" stroke="0">
                <a:moveTo>
                  <a:pt x="1916361" y="0"/>
                </a:moveTo>
                <a:lnTo>
                  <a:pt x="1916361" y="0"/>
                </a:lnTo>
                <a:cubicBezTo>
                  <a:pt x="2974737" y="0"/>
                  <a:pt x="3832721" y="497524"/>
                  <a:pt x="3832721" y="1111250"/>
                </a:cubicBezTo>
                <a:lnTo>
                  <a:pt x="3832721" y="1111250"/>
                </a:lnTo>
                <a:cubicBezTo>
                  <a:pt x="3832721" y="1724976"/>
                  <a:pt x="2974737" y="2222500"/>
                  <a:pt x="1916361" y="2222500"/>
                </a:cubicBezTo>
                <a:lnTo>
                  <a:pt x="1916361" y="2222500"/>
                </a:lnTo>
                <a:cubicBezTo>
                  <a:pt x="857984" y="2222500"/>
                  <a:pt x="0" y="1724976"/>
                  <a:pt x="0" y="1111250"/>
                </a:cubicBezTo>
                <a:lnTo>
                  <a:pt x="0" y="1111250"/>
                </a:lnTo>
                <a:cubicBezTo>
                  <a:pt x="0" y="497524"/>
                  <a:pt x="857984" y="0"/>
                  <a:pt x="1916361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EMOTIONAL"/>
          <p:cNvSpPr txBox="1"/>
          <p:nvPr/>
        </p:nvSpPr>
        <p:spPr>
          <a:xfrm>
            <a:off x="9069090" y="2511826"/>
            <a:ext cx="101074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EMOTIONAL</a:t>
            </a:r>
          </a:p>
        </p:txBody>
      </p:sp>
      <p:sp>
        <p:nvSpPr>
          <p:cNvPr id="21" name="Text: TOY"/>
          <p:cNvSpPr txBox="1"/>
          <p:nvPr/>
        </p:nvSpPr>
        <p:spPr>
          <a:xfrm>
            <a:off x="10034588" y="2511826"/>
            <a:ext cx="40620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TOY</a:t>
            </a:r>
          </a:p>
        </p:txBody>
      </p:sp>
      <p:sp>
        <p:nvSpPr>
          <p:cNvPr id="22" name="Text: 情绪互动玩具"/>
          <p:cNvSpPr txBox="1"/>
          <p:nvPr/>
        </p:nvSpPr>
        <p:spPr>
          <a:xfrm>
            <a:off x="8942090" y="2848233"/>
            <a:ext cx="1625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情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绪</a:t>
            </a: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互</a:t>
            </a:r>
            <a:r>
              <a:rPr sz="20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20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玩具</a:t>
            </a:r>
          </a:p>
        </p:txBody>
      </p:sp>
      <p:sp>
        <p:nvSpPr>
          <p:cNvPr id="23" name="Text: “它好像在回应我。”"/>
          <p:cNvSpPr txBox="1"/>
          <p:nvPr/>
        </p:nvSpPr>
        <p:spPr>
          <a:xfrm>
            <a:off x="8944570" y="3382712"/>
            <a:ext cx="1620738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“它好像在回</a:t>
            </a:r>
            <a:r>
              <a:rPr sz="13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应</a:t>
            </a:r>
            <a:r>
              <a:rPr sz="13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我。”</a:t>
            </a:r>
          </a:p>
        </p:txBody>
      </p:sp>
      <p:sp>
        <p:nvSpPr>
          <p:cNvPr id="24" name="Text: 这是一处值得验证的机会缺口，不是已证明的无人市场。"/>
          <p:cNvSpPr txBox="1"/>
          <p:nvPr/>
        </p:nvSpPr>
        <p:spPr>
          <a:xfrm>
            <a:off x="3159125" y="4929275"/>
            <a:ext cx="59753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这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是一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处值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得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的机会缺口，不是已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明的无人市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2" name="Text: 15"/>
          <p:cNvSpPr txBox="1"/>
          <p:nvPr/>
        </p:nvSpPr>
        <p:spPr>
          <a:xfrm>
            <a:off x="11283851" y="6466713"/>
            <a:ext cx="19893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15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WHY"/>
          <p:cNvSpPr txBox="1"/>
          <p:nvPr/>
        </p:nvSpPr>
        <p:spPr>
          <a:xfrm>
            <a:off x="978892" y="400748"/>
            <a:ext cx="45948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WHY</a:t>
            </a:r>
          </a:p>
        </p:txBody>
      </p:sp>
      <p:sp>
        <p:nvSpPr>
          <p:cNvPr id="5" name="Text: SUDA"/>
          <p:cNvSpPr txBox="1"/>
          <p:nvPr/>
        </p:nvSpPr>
        <p:spPr>
          <a:xfrm>
            <a:off x="1399480" y="400748"/>
            <a:ext cx="54401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6" name="Text: 从“苏大”到“鼠大”，名字先带来亲近感。"/>
          <p:cNvSpPr txBox="1"/>
          <p:nvPr/>
        </p:nvSpPr>
        <p:spPr>
          <a:xfrm>
            <a:off x="571500" y="706374"/>
            <a:ext cx="7429996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从“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大”到“鼠大”，名字先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来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近感。</a:t>
            </a:r>
          </a:p>
        </p:txBody>
      </p:sp>
      <p:sp>
        <p:nvSpPr>
          <p:cNvPr id="7" name="Text: 苏大"/>
          <p:cNvSpPr txBox="1"/>
          <p:nvPr/>
        </p:nvSpPr>
        <p:spPr>
          <a:xfrm>
            <a:off x="911820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苏</a:t>
            </a: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大</a:t>
            </a:r>
          </a:p>
        </p:txBody>
      </p:sp>
      <p:sp>
        <p:nvSpPr>
          <p:cNvPr id="8" name="Text: 校园身份"/>
          <p:cNvSpPr txBox="1"/>
          <p:nvPr/>
        </p:nvSpPr>
        <p:spPr>
          <a:xfrm>
            <a:off x="1038721" y="3237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身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份</a:t>
            </a:r>
          </a:p>
        </p:txBody>
      </p:sp>
      <p:sp>
        <p:nvSpPr>
          <p:cNvPr id="9" name="Text: →"/>
          <p:cNvSpPr txBox="1"/>
          <p:nvPr/>
        </p:nvSpPr>
        <p:spPr>
          <a:xfrm>
            <a:off x="2481461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Text: 鼠大"/>
          <p:cNvSpPr txBox="1"/>
          <p:nvPr/>
        </p:nvSpPr>
        <p:spPr>
          <a:xfrm>
            <a:off x="3479602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1" name="Text: 谐音记忆"/>
          <p:cNvSpPr txBox="1"/>
          <p:nvPr/>
        </p:nvSpPr>
        <p:spPr>
          <a:xfrm>
            <a:off x="3606502" y="3237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谐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音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记忆</a:t>
            </a:r>
          </a:p>
        </p:txBody>
      </p:sp>
      <p:sp>
        <p:nvSpPr>
          <p:cNvPr id="12" name="Text: →"/>
          <p:cNvSpPr txBox="1"/>
          <p:nvPr/>
        </p:nvSpPr>
        <p:spPr>
          <a:xfrm>
            <a:off x="5049242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: 鼠类"/>
          <p:cNvSpPr txBox="1"/>
          <p:nvPr/>
        </p:nvSpPr>
        <p:spPr>
          <a:xfrm>
            <a:off x="6047482" y="2424390"/>
            <a:ext cx="990600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鼠</a:t>
            </a:r>
            <a:r>
              <a:rPr sz="35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类</a:t>
            </a:r>
          </a:p>
        </p:txBody>
      </p:sp>
      <p:sp>
        <p:nvSpPr>
          <p:cNvPr id="14" name="Text: IP"/>
          <p:cNvSpPr txBox="1"/>
          <p:nvPr/>
        </p:nvSpPr>
        <p:spPr>
          <a:xfrm>
            <a:off x="7060902" y="2424390"/>
            <a:ext cx="483096" cy="679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075"/>
              </a:lnSpc>
              <a:spcBef>
                <a:spcPts val="0"/>
              </a:spcBef>
              <a:spcAft>
                <a:spcPts val="0"/>
              </a:spcAft>
            </a:pPr>
            <a:r>
              <a:rPr sz="35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IP</a:t>
            </a:r>
          </a:p>
        </p:txBody>
      </p:sp>
      <p:sp>
        <p:nvSpPr>
          <p:cNvPr id="15" name="Text: 大耳"/>
          <p:cNvSpPr txBox="1"/>
          <p:nvPr/>
        </p:nvSpPr>
        <p:spPr>
          <a:xfrm>
            <a:off x="6363692" y="323750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大耳</a:t>
            </a:r>
          </a:p>
        </p:txBody>
      </p:sp>
      <p:sp>
        <p:nvSpPr>
          <p:cNvPr id="16" name="Text: ·"/>
          <p:cNvSpPr txBox="1"/>
          <p:nvPr/>
        </p:nvSpPr>
        <p:spPr>
          <a:xfrm>
            <a:off x="6725642" y="3237508"/>
            <a:ext cx="14019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7" name="Text: 小手"/>
          <p:cNvSpPr txBox="1"/>
          <p:nvPr/>
        </p:nvSpPr>
        <p:spPr>
          <a:xfrm>
            <a:off x="6808589" y="323750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小手</a:t>
            </a:r>
          </a:p>
        </p:txBody>
      </p:sp>
      <p:sp>
        <p:nvSpPr>
          <p:cNvPr id="18" name="Text: →"/>
          <p:cNvSpPr txBox="1"/>
          <p:nvPr/>
        </p:nvSpPr>
        <p:spPr>
          <a:xfrm>
            <a:off x="8123039" y="2726333"/>
            <a:ext cx="4191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 spc="0" lang="zh-CN" dirty="0">
                <a:solidFill>
                  <a:srgbClr val="C6B9A6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Editable SVG path"/>
          <p:cNvSpPr/>
          <p:nvPr/>
        </p:nvSpPr>
        <p:spPr>
          <a:xfrm>
            <a:off x="10598296" y="3232534"/>
            <a:ext cx="350838" cy="153093"/>
          </a:xfrm>
          <a:custGeom>
            <a:avLst/>
            <a:gdLst/>
            <a:ahLst/>
            <a:cxnLst/>
            <a:rect l="0" t="0" r="r" b="b"/>
            <a:pathLst>
              <a:path w="350838" h="153093" fill="none" stroke="1">
                <a:moveTo>
                  <a:pt x="0" y="0"/>
                </a:moveTo>
                <a:cubicBezTo>
                  <a:pt x="218299" y="187113"/>
                  <a:pt x="335245" y="202706"/>
                  <a:pt x="350837" y="46778"/>
                </a:cubicBezTo>
              </a:path>
            </a:pathLst>
          </a:custGeom>
          <a:noFill/>
          <a:ln w="84201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9817098" y="2390524"/>
            <a:ext cx="767165" cy="982345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 ellipse"/>
          <p:cNvSpPr/>
          <p:nvPr/>
        </p:nvSpPr>
        <p:spPr>
          <a:xfrm>
            <a:off x="9934043" y="2638449"/>
            <a:ext cx="533273" cy="67360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9629984" y="1838539"/>
            <a:ext cx="458427" cy="458428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10312948" y="1838539"/>
            <a:ext cx="458427" cy="458428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 ellipse"/>
          <p:cNvSpPr/>
          <p:nvPr/>
        </p:nvSpPr>
        <p:spPr>
          <a:xfrm>
            <a:off x="9695473" y="1904029"/>
            <a:ext cx="327449" cy="327448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10378437" y="1904029"/>
            <a:ext cx="327449" cy="327448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 ellipse"/>
          <p:cNvSpPr/>
          <p:nvPr/>
        </p:nvSpPr>
        <p:spPr>
          <a:xfrm>
            <a:off x="9760963" y="2006941"/>
            <a:ext cx="879433" cy="711031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 ellipse"/>
          <p:cNvSpPr/>
          <p:nvPr/>
        </p:nvSpPr>
        <p:spPr>
          <a:xfrm>
            <a:off x="9966788" y="2343745"/>
            <a:ext cx="467784" cy="30873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 ellipse"/>
          <p:cNvSpPr/>
          <p:nvPr/>
        </p:nvSpPr>
        <p:spPr>
          <a:xfrm>
            <a:off x="10018244" y="2292289"/>
            <a:ext cx="56134" cy="84201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 ellipse"/>
          <p:cNvSpPr/>
          <p:nvPr/>
        </p:nvSpPr>
        <p:spPr>
          <a:xfrm>
            <a:off x="10326981" y="2292289"/>
            <a:ext cx="56134" cy="84201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 ellipse"/>
          <p:cNvSpPr/>
          <p:nvPr/>
        </p:nvSpPr>
        <p:spPr>
          <a:xfrm>
            <a:off x="10158579" y="2437302"/>
            <a:ext cx="84201" cy="56134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 ellipse"/>
          <p:cNvSpPr/>
          <p:nvPr/>
        </p:nvSpPr>
        <p:spPr>
          <a:xfrm>
            <a:off x="9863875" y="2427946"/>
            <a:ext cx="130980" cy="74845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 ellipse"/>
          <p:cNvSpPr/>
          <p:nvPr/>
        </p:nvSpPr>
        <p:spPr>
          <a:xfrm>
            <a:off x="10406504" y="2427946"/>
            <a:ext cx="130980" cy="74845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SVG path"/>
          <p:cNvSpPr/>
          <p:nvPr/>
        </p:nvSpPr>
        <p:spPr>
          <a:xfrm>
            <a:off x="9732897" y="2727328"/>
            <a:ext cx="935566" cy="247925"/>
          </a:xfrm>
          <a:custGeom>
            <a:avLst/>
            <a:gdLst/>
            <a:ahLst/>
            <a:cxnLst/>
            <a:rect l="0" t="0" r="r" b="b"/>
            <a:pathLst>
              <a:path w="935566" h="247925" fill="none" stroke="1">
                <a:moveTo>
                  <a:pt x="149690" y="0"/>
                </a:moveTo>
                <a:cubicBezTo>
                  <a:pt x="49897" y="118505"/>
                  <a:pt x="0" y="201147"/>
                  <a:pt x="0" y="247925"/>
                </a:cubicBezTo>
                <a:moveTo>
                  <a:pt x="785876" y="0"/>
                </a:moveTo>
                <a:cubicBezTo>
                  <a:pt x="885670" y="118505"/>
                  <a:pt x="935566" y="201147"/>
                  <a:pt x="935566" y="247925"/>
                </a:cubicBezTo>
              </a:path>
            </a:pathLst>
          </a:custGeom>
          <a:noFill/>
          <a:ln w="88878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 ellipse"/>
          <p:cNvSpPr/>
          <p:nvPr/>
        </p:nvSpPr>
        <p:spPr>
          <a:xfrm>
            <a:off x="9639340" y="2914441"/>
            <a:ext cx="187113" cy="12162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 ellipse"/>
          <p:cNvSpPr/>
          <p:nvPr/>
        </p:nvSpPr>
        <p:spPr>
          <a:xfrm>
            <a:off x="10574906" y="2914441"/>
            <a:ext cx="187113" cy="12162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 ellipse"/>
          <p:cNvSpPr/>
          <p:nvPr/>
        </p:nvSpPr>
        <p:spPr>
          <a:xfrm>
            <a:off x="9803064" y="3251245"/>
            <a:ext cx="318093" cy="13098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 ellipse"/>
          <p:cNvSpPr/>
          <p:nvPr/>
        </p:nvSpPr>
        <p:spPr>
          <a:xfrm>
            <a:off x="10280203" y="3251245"/>
            <a:ext cx="318093" cy="13098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: 花枝鼠"/>
          <p:cNvSpPr txBox="1"/>
          <p:nvPr/>
        </p:nvSpPr>
        <p:spPr>
          <a:xfrm>
            <a:off x="9557246" y="4059833"/>
            <a:ext cx="57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花枝鼠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0077946" y="405983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亲近触感"/>
          <p:cNvSpPr txBox="1"/>
          <p:nvPr/>
        </p:nvSpPr>
        <p:spPr>
          <a:xfrm>
            <a:off x="10209014" y="405983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近触感</a:t>
            </a:r>
          </a:p>
        </p:txBody>
      </p:sp>
      <p:sp>
        <p:nvSpPr>
          <p:cNvPr id="41" name="Editable rounded card"/>
          <p:cNvSpPr/>
          <p:nvPr/>
        </p:nvSpPr>
        <p:spPr>
          <a:xfrm>
            <a:off x="571500" y="4832945"/>
            <a:ext cx="11049000" cy="632420"/>
          </a:xfrm>
          <a:custGeom>
            <a:avLst/>
            <a:gdLst/>
            <a:ahLst/>
            <a:cxnLst/>
            <a:rect l="0" t="0" r="r" b="b"/>
            <a:pathLst>
              <a:path w="11049000" h="63242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480020"/>
                </a:lnTo>
                <a:cubicBezTo>
                  <a:pt x="11049000" y="564189"/>
                  <a:pt x="10980768" y="632420"/>
                  <a:pt x="10896600" y="632420"/>
                </a:cubicBezTo>
                <a:lnTo>
                  <a:pt x="152400" y="632420"/>
                </a:lnTo>
                <a:cubicBezTo>
                  <a:pt x="68232" y="632420"/>
                  <a:pt x="0" y="564189"/>
                  <a:pt x="0" y="48002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: 校园识别由名字、包装和授权视觉承担；柔软体态负责让人靠近。"/>
          <p:cNvSpPr txBox="1"/>
          <p:nvPr/>
        </p:nvSpPr>
        <p:spPr>
          <a:xfrm>
            <a:off x="787400" y="5001093"/>
            <a:ext cx="52578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园识别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由名字、包装和授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权视觉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承担；柔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体</a:t>
            </a:r>
            <a:r>
              <a:rPr sz="14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态负责让</a:t>
            </a:r>
            <a:r>
              <a:rPr sz="14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人靠近。</a:t>
            </a:r>
          </a:p>
        </p:txBody>
      </p:sp>
      <p:sp>
        <p:nvSpPr>
          <p:cNvPr id="43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44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5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6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7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8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9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0" name="Text: 16"/>
          <p:cNvSpPr txBox="1"/>
          <p:nvPr/>
        </p:nvSpPr>
        <p:spPr>
          <a:xfrm>
            <a:off x="11280973" y="6466713"/>
            <a:ext cx="20181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16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ORE"/>
          <p:cNvSpPr txBox="1"/>
          <p:nvPr/>
        </p:nvSpPr>
        <p:spPr>
          <a:xfrm>
            <a:off x="978892" y="400748"/>
            <a:ext cx="552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CORE</a:t>
            </a:r>
          </a:p>
        </p:txBody>
      </p:sp>
      <p:sp>
        <p:nvSpPr>
          <p:cNvPr id="5" name="Text: CONCEPT"/>
          <p:cNvSpPr txBox="1"/>
          <p:nvPr/>
        </p:nvSpPr>
        <p:spPr>
          <a:xfrm>
            <a:off x="1492845" y="400748"/>
            <a:ext cx="88830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CONCEPT</a:t>
            </a:r>
          </a:p>
        </p:txBody>
      </p:sp>
      <p:sp>
        <p:nvSpPr>
          <p:cNvPr id="6" name="Text: 捏一下，它就抱住你。"/>
          <p:cNvSpPr txBox="1"/>
          <p:nvPr/>
        </p:nvSpPr>
        <p:spPr>
          <a:xfrm>
            <a:off x="571500" y="706374"/>
            <a:ext cx="4229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捏一下，它就抱住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Text: SQUEEZE"/>
          <p:cNvSpPr txBox="1"/>
          <p:nvPr/>
        </p:nvSpPr>
        <p:spPr>
          <a:xfrm>
            <a:off x="571500" y="2310444"/>
            <a:ext cx="4158881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8" name="Text: TO"/>
          <p:cNvSpPr txBox="1"/>
          <p:nvPr/>
        </p:nvSpPr>
        <p:spPr>
          <a:xfrm>
            <a:off x="571500" y="3334282"/>
            <a:ext cx="1387503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</a:t>
            </a:r>
          </a:p>
        </p:txBody>
      </p:sp>
      <p:sp>
        <p:nvSpPr>
          <p:cNvPr id="9" name="Text: HUG."/>
          <p:cNvSpPr txBox="1"/>
          <p:nvPr/>
        </p:nvSpPr>
        <p:spPr>
          <a:xfrm>
            <a:off x="2078930" y="3334282"/>
            <a:ext cx="2271939" cy="13144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77"/>
              </a:lnSpc>
              <a:spcBef>
                <a:spcPts val="0"/>
              </a:spcBef>
              <a:spcAft>
                <a:spcPts val="0"/>
              </a:spcAft>
            </a:pPr>
            <a:r>
              <a:rPr sz="695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HUG.</a:t>
            </a:r>
          </a:p>
        </p:txBody>
      </p:sp>
      <p:sp>
        <p:nvSpPr>
          <p:cNvPr id="10" name="Editable SVG path"/>
          <p:cNvSpPr/>
          <p:nvPr/>
        </p:nvSpPr>
        <p:spPr>
          <a:xfrm>
            <a:off x="9220164" y="4754045"/>
            <a:ext cx="791299" cy="345294"/>
          </a:xfrm>
          <a:custGeom>
            <a:avLst/>
            <a:gdLst/>
            <a:ahLst/>
            <a:cxnLst/>
            <a:rect l="0" t="0" r="r" b="b"/>
            <a:pathLst>
              <a:path w="791299" h="345294" fill="none" stroke="1">
                <a:moveTo>
                  <a:pt x="0" y="0"/>
                </a:moveTo>
                <a:cubicBezTo>
                  <a:pt x="492364" y="422026"/>
                  <a:pt x="756130" y="457195"/>
                  <a:pt x="791299" y="105507"/>
                </a:cubicBezTo>
              </a:path>
            </a:pathLst>
          </a:custGeom>
          <a:noFill/>
          <a:ln w="189911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7458206" y="2854928"/>
            <a:ext cx="1730306" cy="221563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 ellipse"/>
          <p:cNvSpPr/>
          <p:nvPr/>
        </p:nvSpPr>
        <p:spPr>
          <a:xfrm>
            <a:off x="7721972" y="3414113"/>
            <a:ext cx="1202775" cy="1519293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 ellipse"/>
          <p:cNvSpPr/>
          <p:nvPr/>
        </p:nvSpPr>
        <p:spPr>
          <a:xfrm>
            <a:off x="7036180" y="1609952"/>
            <a:ext cx="1033964" cy="103396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 ellipse"/>
          <p:cNvSpPr/>
          <p:nvPr/>
        </p:nvSpPr>
        <p:spPr>
          <a:xfrm>
            <a:off x="8576575" y="1609952"/>
            <a:ext cx="1033963" cy="103396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 ellipse"/>
          <p:cNvSpPr/>
          <p:nvPr/>
        </p:nvSpPr>
        <p:spPr>
          <a:xfrm>
            <a:off x="7183889" y="1757661"/>
            <a:ext cx="738545" cy="738546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 ellipse"/>
          <p:cNvSpPr/>
          <p:nvPr/>
        </p:nvSpPr>
        <p:spPr>
          <a:xfrm>
            <a:off x="8724284" y="1757661"/>
            <a:ext cx="738546" cy="738546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 ellipse"/>
          <p:cNvSpPr/>
          <p:nvPr/>
        </p:nvSpPr>
        <p:spPr>
          <a:xfrm>
            <a:off x="7331598" y="1989775"/>
            <a:ext cx="1983522" cy="160369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 ellipse"/>
          <p:cNvSpPr/>
          <p:nvPr/>
        </p:nvSpPr>
        <p:spPr>
          <a:xfrm>
            <a:off x="7795826" y="2749422"/>
            <a:ext cx="1055065" cy="696343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 ellipse"/>
          <p:cNvSpPr/>
          <p:nvPr/>
        </p:nvSpPr>
        <p:spPr>
          <a:xfrm>
            <a:off x="7911884" y="2633364"/>
            <a:ext cx="126608" cy="189912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8608227" y="2633364"/>
            <a:ext cx="126608" cy="189912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 ellipse"/>
          <p:cNvSpPr/>
          <p:nvPr/>
        </p:nvSpPr>
        <p:spPr>
          <a:xfrm>
            <a:off x="8228403" y="2960435"/>
            <a:ext cx="189912" cy="126608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7563713" y="2939333"/>
            <a:ext cx="295418" cy="168810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8787588" y="2939333"/>
            <a:ext cx="295418" cy="168810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SVG path"/>
          <p:cNvSpPr/>
          <p:nvPr/>
        </p:nvSpPr>
        <p:spPr>
          <a:xfrm>
            <a:off x="7505879" y="3614575"/>
            <a:ext cx="1634960" cy="559184"/>
          </a:xfrm>
          <a:custGeom>
            <a:avLst/>
            <a:gdLst/>
            <a:ahLst/>
            <a:cxnLst/>
            <a:rect l="0" t="0" r="r" b="b"/>
            <a:pathLst>
              <a:path w="1634960" h="559184" fill="none" stroke="1">
                <a:moveTo>
                  <a:pt x="100036" y="0"/>
                </a:moveTo>
                <a:cubicBezTo>
                  <a:pt x="-125044" y="267283"/>
                  <a:pt x="29698" y="453678"/>
                  <a:pt x="564265" y="559184"/>
                </a:cubicBezTo>
                <a:moveTo>
                  <a:pt x="1534924" y="0"/>
                </a:moveTo>
                <a:cubicBezTo>
                  <a:pt x="1760005" y="267283"/>
                  <a:pt x="1605262" y="453678"/>
                  <a:pt x="1070696" y="559184"/>
                </a:cubicBezTo>
              </a:path>
            </a:pathLst>
          </a:custGeom>
          <a:noFill/>
          <a:ln w="200462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7859130" y="4036601"/>
            <a:ext cx="422026" cy="274317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 ellipse"/>
          <p:cNvSpPr/>
          <p:nvPr/>
        </p:nvSpPr>
        <p:spPr>
          <a:xfrm>
            <a:off x="8365562" y="4036601"/>
            <a:ext cx="422025" cy="274317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 ellipse"/>
          <p:cNvSpPr/>
          <p:nvPr/>
        </p:nvSpPr>
        <p:spPr>
          <a:xfrm>
            <a:off x="7426554" y="4796248"/>
            <a:ext cx="717444" cy="295418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 ellipse"/>
          <p:cNvSpPr/>
          <p:nvPr/>
        </p:nvSpPr>
        <p:spPr>
          <a:xfrm>
            <a:off x="8502721" y="4796248"/>
            <a:ext cx="717444" cy="295418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: 它没有很多功能。它只是会抱住你。"/>
          <p:cNvSpPr txBox="1"/>
          <p:nvPr/>
        </p:nvSpPr>
        <p:spPr>
          <a:xfrm>
            <a:off x="571500" y="5490361"/>
            <a:ext cx="3454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它没有很多功能。它只是会抱住</a:t>
            </a:r>
            <a:r>
              <a:rPr sz="16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16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0" name="Text: 交互与结构为待验证设计方案"/>
          <p:cNvSpPr txBox="1"/>
          <p:nvPr/>
        </p:nvSpPr>
        <p:spPr>
          <a:xfrm>
            <a:off x="571500" y="6095262"/>
            <a:ext cx="16701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交互与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结构为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验证设计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方案</a:t>
            </a:r>
          </a:p>
        </p:txBody>
      </p:sp>
      <p:sp>
        <p:nvSpPr>
          <p:cNvPr id="31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2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3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4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5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6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7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8" name="Text: 17"/>
          <p:cNvSpPr txBox="1"/>
          <p:nvPr/>
        </p:nvSpPr>
        <p:spPr>
          <a:xfrm>
            <a:off x="11290201" y="6466713"/>
            <a:ext cx="19248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17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INTERACTION"/>
          <p:cNvSpPr txBox="1"/>
          <p:nvPr/>
        </p:nvSpPr>
        <p:spPr>
          <a:xfrm>
            <a:off x="978892" y="400748"/>
            <a:ext cx="12176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INTERACTION</a:t>
            </a:r>
          </a:p>
        </p:txBody>
      </p:sp>
      <p:sp>
        <p:nvSpPr>
          <p:cNvPr id="5" name="Text: 松开腹部后，它也暂时不松手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松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开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腹部后，它也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暂时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不松手。</a:t>
            </a:r>
          </a:p>
        </p:txBody>
      </p:sp>
      <p:sp>
        <p:nvSpPr>
          <p:cNvPr id="6" name="Editable rounded card"/>
          <p:cNvSpPr/>
          <p:nvPr/>
        </p:nvSpPr>
        <p:spPr>
          <a:xfrm>
            <a:off x="571500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SVG path"/>
          <p:cNvSpPr/>
          <p:nvPr/>
        </p:nvSpPr>
        <p:spPr>
          <a:xfrm>
            <a:off x="2260452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 ellipse"/>
          <p:cNvSpPr/>
          <p:nvPr/>
        </p:nvSpPr>
        <p:spPr>
          <a:xfrm>
            <a:off x="1515309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vector ellipse"/>
          <p:cNvSpPr/>
          <p:nvPr/>
        </p:nvSpPr>
        <p:spPr>
          <a:xfrm>
            <a:off x="1626857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vector ellipse"/>
          <p:cNvSpPr/>
          <p:nvPr/>
        </p:nvSpPr>
        <p:spPr>
          <a:xfrm>
            <a:off x="1336832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 ellipse"/>
          <p:cNvSpPr/>
          <p:nvPr/>
        </p:nvSpPr>
        <p:spPr>
          <a:xfrm>
            <a:off x="1988274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 ellipse"/>
          <p:cNvSpPr/>
          <p:nvPr/>
        </p:nvSpPr>
        <p:spPr>
          <a:xfrm>
            <a:off x="1399299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 ellipse"/>
          <p:cNvSpPr/>
          <p:nvPr/>
        </p:nvSpPr>
        <p:spPr>
          <a:xfrm>
            <a:off x="2050741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 ellipse"/>
          <p:cNvSpPr/>
          <p:nvPr/>
        </p:nvSpPr>
        <p:spPr>
          <a:xfrm>
            <a:off x="1461766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 ellipse"/>
          <p:cNvSpPr/>
          <p:nvPr/>
        </p:nvSpPr>
        <p:spPr>
          <a:xfrm>
            <a:off x="1658091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 ellipse"/>
          <p:cNvSpPr/>
          <p:nvPr/>
        </p:nvSpPr>
        <p:spPr>
          <a:xfrm>
            <a:off x="1707172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 ellipse"/>
          <p:cNvSpPr/>
          <p:nvPr/>
        </p:nvSpPr>
        <p:spPr>
          <a:xfrm>
            <a:off x="2001660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 ellipse"/>
          <p:cNvSpPr/>
          <p:nvPr/>
        </p:nvSpPr>
        <p:spPr>
          <a:xfrm>
            <a:off x="1841030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 ellipse"/>
          <p:cNvSpPr/>
          <p:nvPr/>
        </p:nvSpPr>
        <p:spPr>
          <a:xfrm>
            <a:off x="155992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 ellipse"/>
          <p:cNvSpPr/>
          <p:nvPr/>
        </p:nvSpPr>
        <p:spPr>
          <a:xfrm>
            <a:off x="207751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SVG path"/>
          <p:cNvSpPr/>
          <p:nvPr/>
        </p:nvSpPr>
        <p:spPr>
          <a:xfrm>
            <a:off x="1434994" y="2712587"/>
            <a:ext cx="892387" cy="236482"/>
          </a:xfrm>
          <a:custGeom>
            <a:avLst/>
            <a:gdLst/>
            <a:ahLst/>
            <a:cxnLst/>
            <a:rect l="0" t="0" r="r" b="b"/>
            <a:pathLst>
              <a:path w="892387" h="236482" fill="none" stroke="1">
                <a:moveTo>
                  <a:pt x="142782" y="0"/>
                </a:moveTo>
                <a:cubicBezTo>
                  <a:pt x="47594" y="113036"/>
                  <a:pt x="0" y="191863"/>
                  <a:pt x="0" y="236483"/>
                </a:cubicBezTo>
                <a:moveTo>
                  <a:pt x="749605" y="0"/>
                </a:moveTo>
                <a:cubicBezTo>
                  <a:pt x="844793" y="113036"/>
                  <a:pt x="892387" y="191863"/>
                  <a:pt x="892387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 ellipse"/>
          <p:cNvSpPr/>
          <p:nvPr/>
        </p:nvSpPr>
        <p:spPr>
          <a:xfrm>
            <a:off x="1345755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 ellipse"/>
          <p:cNvSpPr/>
          <p:nvPr/>
        </p:nvSpPr>
        <p:spPr>
          <a:xfrm>
            <a:off x="2238142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 ellipse"/>
          <p:cNvSpPr/>
          <p:nvPr/>
        </p:nvSpPr>
        <p:spPr>
          <a:xfrm>
            <a:off x="1501923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 ellipse"/>
          <p:cNvSpPr/>
          <p:nvPr/>
        </p:nvSpPr>
        <p:spPr>
          <a:xfrm>
            <a:off x="1957040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: NORMAL"/>
          <p:cNvSpPr txBox="1"/>
          <p:nvPr/>
        </p:nvSpPr>
        <p:spPr>
          <a:xfrm>
            <a:off x="1393329" y="3747603"/>
            <a:ext cx="1077218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NORMAL</a:t>
            </a:r>
          </a:p>
        </p:txBody>
      </p:sp>
      <p:sp>
        <p:nvSpPr>
          <p:cNvPr id="27" name="Text: 前爪张开"/>
          <p:cNvSpPr txBox="1"/>
          <p:nvPr/>
        </p:nvSpPr>
        <p:spPr>
          <a:xfrm>
            <a:off x="1550888" y="4135461"/>
            <a:ext cx="762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张开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3381375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SVG path"/>
          <p:cNvSpPr/>
          <p:nvPr/>
        </p:nvSpPr>
        <p:spPr>
          <a:xfrm>
            <a:off x="5070327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 ellipse"/>
          <p:cNvSpPr/>
          <p:nvPr/>
        </p:nvSpPr>
        <p:spPr>
          <a:xfrm>
            <a:off x="4325184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 ellipse"/>
          <p:cNvSpPr/>
          <p:nvPr/>
        </p:nvSpPr>
        <p:spPr>
          <a:xfrm>
            <a:off x="4436732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 ellipse"/>
          <p:cNvSpPr/>
          <p:nvPr/>
        </p:nvSpPr>
        <p:spPr>
          <a:xfrm>
            <a:off x="4146707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 ellipse"/>
          <p:cNvSpPr/>
          <p:nvPr/>
        </p:nvSpPr>
        <p:spPr>
          <a:xfrm>
            <a:off x="4798149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 ellipse"/>
          <p:cNvSpPr/>
          <p:nvPr/>
        </p:nvSpPr>
        <p:spPr>
          <a:xfrm>
            <a:off x="4209174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 ellipse"/>
          <p:cNvSpPr/>
          <p:nvPr/>
        </p:nvSpPr>
        <p:spPr>
          <a:xfrm>
            <a:off x="4860616" y="1927287"/>
            <a:ext cx="312336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 ellipse"/>
          <p:cNvSpPr/>
          <p:nvPr/>
        </p:nvSpPr>
        <p:spPr>
          <a:xfrm>
            <a:off x="4271641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 ellipse"/>
          <p:cNvSpPr/>
          <p:nvPr/>
        </p:nvSpPr>
        <p:spPr>
          <a:xfrm>
            <a:off x="4467966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 ellipse"/>
          <p:cNvSpPr/>
          <p:nvPr/>
        </p:nvSpPr>
        <p:spPr>
          <a:xfrm>
            <a:off x="4517047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 ellipse"/>
          <p:cNvSpPr/>
          <p:nvPr/>
        </p:nvSpPr>
        <p:spPr>
          <a:xfrm>
            <a:off x="4811535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 ellipse"/>
          <p:cNvSpPr/>
          <p:nvPr/>
        </p:nvSpPr>
        <p:spPr>
          <a:xfrm>
            <a:off x="4650905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 ellipse"/>
          <p:cNvSpPr/>
          <p:nvPr/>
        </p:nvSpPr>
        <p:spPr>
          <a:xfrm>
            <a:off x="436980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 ellipse"/>
          <p:cNvSpPr/>
          <p:nvPr/>
        </p:nvSpPr>
        <p:spPr>
          <a:xfrm>
            <a:off x="488738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rounded card"/>
          <p:cNvSpPr/>
          <p:nvPr/>
        </p:nvSpPr>
        <p:spPr>
          <a:xfrm>
            <a:off x="4610748" y="2806288"/>
            <a:ext cx="160630" cy="602361"/>
          </a:xfrm>
          <a:custGeom>
            <a:avLst/>
            <a:gdLst/>
            <a:ahLst/>
            <a:cxnLst/>
            <a:rect l="0" t="0" r="r" b="b"/>
            <a:pathLst>
              <a:path w="160630" h="602361" fill="norm" stroke="0">
                <a:moveTo>
                  <a:pt x="80315" y="0"/>
                </a:moveTo>
                <a:lnTo>
                  <a:pt x="80315" y="0"/>
                </a:lnTo>
                <a:cubicBezTo>
                  <a:pt x="124672" y="0"/>
                  <a:pt x="160630" y="35958"/>
                  <a:pt x="160630" y="80315"/>
                </a:cubicBezTo>
                <a:lnTo>
                  <a:pt x="160630" y="522046"/>
                </a:lnTo>
                <a:cubicBezTo>
                  <a:pt x="160630" y="566403"/>
                  <a:pt x="124672" y="602361"/>
                  <a:pt x="80315" y="602361"/>
                </a:cubicBezTo>
                <a:lnTo>
                  <a:pt x="80315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5"/>
                </a:lnTo>
                <a:cubicBezTo>
                  <a:pt x="0" y="35958"/>
                  <a:pt x="35958" y="0"/>
                  <a:pt x="80315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SVG path"/>
          <p:cNvSpPr/>
          <p:nvPr/>
        </p:nvSpPr>
        <p:spPr>
          <a:xfrm>
            <a:off x="4244869" y="2712587"/>
            <a:ext cx="892387" cy="236482"/>
          </a:xfrm>
          <a:custGeom>
            <a:avLst/>
            <a:gdLst/>
            <a:ahLst/>
            <a:cxnLst/>
            <a:rect l="0" t="0" r="r" b="b"/>
            <a:pathLst>
              <a:path w="892387" h="236482" fill="none" stroke="1">
                <a:moveTo>
                  <a:pt x="142782" y="0"/>
                </a:moveTo>
                <a:cubicBezTo>
                  <a:pt x="47594" y="113036"/>
                  <a:pt x="0" y="191863"/>
                  <a:pt x="0" y="236483"/>
                </a:cubicBezTo>
                <a:moveTo>
                  <a:pt x="749605" y="0"/>
                </a:moveTo>
                <a:cubicBezTo>
                  <a:pt x="844793" y="113036"/>
                  <a:pt x="892387" y="191863"/>
                  <a:pt x="892387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 ellipse"/>
          <p:cNvSpPr/>
          <p:nvPr/>
        </p:nvSpPr>
        <p:spPr>
          <a:xfrm>
            <a:off x="4155630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ditable vector ellipse"/>
          <p:cNvSpPr/>
          <p:nvPr/>
        </p:nvSpPr>
        <p:spPr>
          <a:xfrm>
            <a:off x="5048017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 ellipse"/>
          <p:cNvSpPr/>
          <p:nvPr/>
        </p:nvSpPr>
        <p:spPr>
          <a:xfrm>
            <a:off x="4311798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 ellipse"/>
          <p:cNvSpPr/>
          <p:nvPr/>
        </p:nvSpPr>
        <p:spPr>
          <a:xfrm>
            <a:off x="4766915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: SQUEEZE"/>
          <p:cNvSpPr txBox="1"/>
          <p:nvPr/>
        </p:nvSpPr>
        <p:spPr>
          <a:xfrm>
            <a:off x="4174629" y="3747603"/>
            <a:ext cx="1134368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50" name="Text: 捏压白色腹部"/>
          <p:cNvSpPr txBox="1"/>
          <p:nvPr/>
        </p:nvSpPr>
        <p:spPr>
          <a:xfrm>
            <a:off x="4195663" y="4135461"/>
            <a:ext cx="1092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白色腹部</a:t>
            </a:r>
          </a:p>
        </p:txBody>
      </p:sp>
      <p:sp>
        <p:nvSpPr>
          <p:cNvPr id="51" name="Editable rounded card"/>
          <p:cNvSpPr/>
          <p:nvPr/>
        </p:nvSpPr>
        <p:spPr>
          <a:xfrm>
            <a:off x="6191250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SVG path"/>
          <p:cNvSpPr/>
          <p:nvPr/>
        </p:nvSpPr>
        <p:spPr>
          <a:xfrm>
            <a:off x="7880202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 ellipse"/>
          <p:cNvSpPr/>
          <p:nvPr/>
        </p:nvSpPr>
        <p:spPr>
          <a:xfrm>
            <a:off x="7135059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 ellipse"/>
          <p:cNvSpPr/>
          <p:nvPr/>
        </p:nvSpPr>
        <p:spPr>
          <a:xfrm>
            <a:off x="7246607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 ellipse"/>
          <p:cNvSpPr/>
          <p:nvPr/>
        </p:nvSpPr>
        <p:spPr>
          <a:xfrm>
            <a:off x="6956582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vector ellipse"/>
          <p:cNvSpPr/>
          <p:nvPr/>
        </p:nvSpPr>
        <p:spPr>
          <a:xfrm>
            <a:off x="7608024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 ellipse"/>
          <p:cNvSpPr/>
          <p:nvPr/>
        </p:nvSpPr>
        <p:spPr>
          <a:xfrm>
            <a:off x="7019049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vector ellipse"/>
          <p:cNvSpPr/>
          <p:nvPr/>
        </p:nvSpPr>
        <p:spPr>
          <a:xfrm>
            <a:off x="7670491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vector ellipse"/>
          <p:cNvSpPr/>
          <p:nvPr/>
        </p:nvSpPr>
        <p:spPr>
          <a:xfrm>
            <a:off x="7081516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 ellipse"/>
          <p:cNvSpPr/>
          <p:nvPr/>
        </p:nvSpPr>
        <p:spPr>
          <a:xfrm>
            <a:off x="7277841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 ellipse"/>
          <p:cNvSpPr/>
          <p:nvPr/>
        </p:nvSpPr>
        <p:spPr>
          <a:xfrm>
            <a:off x="7326922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 ellipse"/>
          <p:cNvSpPr/>
          <p:nvPr/>
        </p:nvSpPr>
        <p:spPr>
          <a:xfrm>
            <a:off x="7621410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vector ellipse"/>
          <p:cNvSpPr/>
          <p:nvPr/>
        </p:nvSpPr>
        <p:spPr>
          <a:xfrm>
            <a:off x="7460780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 ellipse"/>
          <p:cNvSpPr/>
          <p:nvPr/>
        </p:nvSpPr>
        <p:spPr>
          <a:xfrm>
            <a:off x="717967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 ellipse"/>
          <p:cNvSpPr/>
          <p:nvPr/>
        </p:nvSpPr>
        <p:spPr>
          <a:xfrm>
            <a:off x="769726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rounded card"/>
          <p:cNvSpPr/>
          <p:nvPr/>
        </p:nvSpPr>
        <p:spPr>
          <a:xfrm>
            <a:off x="7420623" y="2806288"/>
            <a:ext cx="160629" cy="602361"/>
          </a:xfrm>
          <a:custGeom>
            <a:avLst/>
            <a:gdLst/>
            <a:ahLst/>
            <a:cxnLst/>
            <a:rect l="0" t="0" r="r" b="b"/>
            <a:pathLst>
              <a:path w="160629" h="602361" fill="norm" stroke="0">
                <a:moveTo>
                  <a:pt x="80314" y="0"/>
                </a:moveTo>
                <a:lnTo>
                  <a:pt x="80314" y="0"/>
                </a:lnTo>
                <a:cubicBezTo>
                  <a:pt x="124671" y="0"/>
                  <a:pt x="160629" y="35958"/>
                  <a:pt x="160629" y="80314"/>
                </a:cubicBezTo>
                <a:lnTo>
                  <a:pt x="160629" y="522046"/>
                </a:lnTo>
                <a:cubicBezTo>
                  <a:pt x="160629" y="566403"/>
                  <a:pt x="124671" y="602361"/>
                  <a:pt x="80314" y="602361"/>
                </a:cubicBezTo>
                <a:lnTo>
                  <a:pt x="80314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4"/>
                </a:lnTo>
                <a:cubicBezTo>
                  <a:pt x="0" y="35958"/>
                  <a:pt x="35958" y="0"/>
                  <a:pt x="80314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SVG path"/>
          <p:cNvSpPr/>
          <p:nvPr/>
        </p:nvSpPr>
        <p:spPr>
          <a:xfrm>
            <a:off x="7155221" y="2712587"/>
            <a:ext cx="691434" cy="236482"/>
          </a:xfrm>
          <a:custGeom>
            <a:avLst/>
            <a:gdLst/>
            <a:ahLst/>
            <a:cxnLst/>
            <a:rect l="0" t="0" r="r" b="b"/>
            <a:pathLst>
              <a:path w="691434" h="236482" fill="none" stroke="1">
                <a:moveTo>
                  <a:pt x="42305" y="0"/>
                </a:moveTo>
                <a:cubicBezTo>
                  <a:pt x="-52882" y="113036"/>
                  <a:pt x="12559" y="191863"/>
                  <a:pt x="238630" y="236483"/>
                </a:cubicBezTo>
                <a:moveTo>
                  <a:pt x="649128" y="0"/>
                </a:moveTo>
                <a:cubicBezTo>
                  <a:pt x="744316" y="113036"/>
                  <a:pt x="678875" y="191863"/>
                  <a:pt x="452803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 ellipse"/>
          <p:cNvSpPr/>
          <p:nvPr/>
        </p:nvSpPr>
        <p:spPr>
          <a:xfrm>
            <a:off x="7304612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 ellipse"/>
          <p:cNvSpPr/>
          <p:nvPr/>
        </p:nvSpPr>
        <p:spPr>
          <a:xfrm>
            <a:off x="7518785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 ellipse"/>
          <p:cNvSpPr/>
          <p:nvPr/>
        </p:nvSpPr>
        <p:spPr>
          <a:xfrm>
            <a:off x="7121673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 ellipse"/>
          <p:cNvSpPr/>
          <p:nvPr/>
        </p:nvSpPr>
        <p:spPr>
          <a:xfrm>
            <a:off x="7576790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: HUG"/>
          <p:cNvSpPr txBox="1"/>
          <p:nvPr/>
        </p:nvSpPr>
        <p:spPr>
          <a:xfrm>
            <a:off x="7258745" y="3747603"/>
            <a:ext cx="585986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</a:t>
            </a:r>
          </a:p>
        </p:txBody>
      </p:sp>
      <p:sp>
        <p:nvSpPr>
          <p:cNvPr id="73" name="Text: 前爪向内闭合"/>
          <p:cNvSpPr txBox="1"/>
          <p:nvPr/>
        </p:nvSpPr>
        <p:spPr>
          <a:xfrm>
            <a:off x="7005538" y="4135461"/>
            <a:ext cx="1092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前爪向内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</a:t>
            </a:r>
          </a:p>
        </p:txBody>
      </p:sp>
      <p:sp>
        <p:nvSpPr>
          <p:cNvPr id="74" name="Editable rounded card"/>
          <p:cNvSpPr/>
          <p:nvPr/>
        </p:nvSpPr>
        <p:spPr>
          <a:xfrm>
            <a:off x="9001125" y="1603970"/>
            <a:ext cx="2619375" cy="2976860"/>
          </a:xfrm>
          <a:custGeom>
            <a:avLst/>
            <a:gdLst/>
            <a:ahLst/>
            <a:cxnLst/>
            <a:rect l="0" t="0" r="r" b="b"/>
            <a:pathLst>
              <a:path w="2619375" h="2976860" fill="norm" stroke="0">
                <a:moveTo>
                  <a:pt x="1178719" y="0"/>
                </a:moveTo>
                <a:lnTo>
                  <a:pt x="1440656" y="0"/>
                </a:lnTo>
                <a:cubicBezTo>
                  <a:pt x="2091645" y="0"/>
                  <a:pt x="2619375" y="599754"/>
                  <a:pt x="2619375" y="1339587"/>
                </a:cubicBezTo>
                <a:lnTo>
                  <a:pt x="2619375" y="2824460"/>
                </a:lnTo>
                <a:cubicBezTo>
                  <a:pt x="2619375" y="2908628"/>
                  <a:pt x="2551143" y="2976860"/>
                  <a:pt x="2466975" y="2976860"/>
                </a:cubicBezTo>
                <a:lnTo>
                  <a:pt x="152400" y="2976860"/>
                </a:lnTo>
                <a:cubicBezTo>
                  <a:pt x="68232" y="2976860"/>
                  <a:pt x="0" y="2908628"/>
                  <a:pt x="0" y="2824460"/>
                </a:cubicBezTo>
                <a:lnTo>
                  <a:pt x="0" y="1339587"/>
                </a:lnTo>
                <a:cubicBezTo>
                  <a:pt x="0" y="599754"/>
                  <a:pt x="527730" y="0"/>
                  <a:pt x="1178719" y="0"/>
                </a:cubicBezTo>
                <a:close/>
              </a:path>
            </a:pathLst>
          </a:custGeom>
          <a:solidFill>
            <a:srgbClr val="F3EC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SVG path"/>
          <p:cNvSpPr/>
          <p:nvPr/>
        </p:nvSpPr>
        <p:spPr>
          <a:xfrm>
            <a:off x="10690077" y="3194476"/>
            <a:ext cx="334645" cy="146027"/>
          </a:xfrm>
          <a:custGeom>
            <a:avLst/>
            <a:gdLst/>
            <a:ahLst/>
            <a:cxnLst/>
            <a:rect l="0" t="0" r="r" b="b"/>
            <a:pathLst>
              <a:path w="334645" h="146027" fill="none" stroke="1">
                <a:moveTo>
                  <a:pt x="0" y="0"/>
                </a:moveTo>
                <a:cubicBezTo>
                  <a:pt x="208223" y="178477"/>
                  <a:pt x="319772" y="193350"/>
                  <a:pt x="334645" y="44619"/>
                </a:cubicBezTo>
              </a:path>
            </a:pathLst>
          </a:custGeom>
          <a:noFill/>
          <a:ln w="80314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 ellipse"/>
          <p:cNvSpPr/>
          <p:nvPr/>
        </p:nvSpPr>
        <p:spPr>
          <a:xfrm>
            <a:off x="9944934" y="2391328"/>
            <a:ext cx="731757" cy="937006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vector ellipse"/>
          <p:cNvSpPr/>
          <p:nvPr/>
        </p:nvSpPr>
        <p:spPr>
          <a:xfrm>
            <a:off x="10056482" y="2627811"/>
            <a:ext cx="508660" cy="642518"/>
          </a:xfrm>
          <a:prstGeom prst="ellipse">
            <a:avLst/>
          </a:prstGeom>
          <a:solidFill>
            <a:srgbClr val="FFF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 ellipse"/>
          <p:cNvSpPr/>
          <p:nvPr/>
        </p:nvSpPr>
        <p:spPr>
          <a:xfrm>
            <a:off x="9766457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 ellipse"/>
          <p:cNvSpPr/>
          <p:nvPr/>
        </p:nvSpPr>
        <p:spPr>
          <a:xfrm>
            <a:off x="10417899" y="1864820"/>
            <a:ext cx="437269" cy="437269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Editable vector ellipse"/>
          <p:cNvSpPr/>
          <p:nvPr/>
        </p:nvSpPr>
        <p:spPr>
          <a:xfrm>
            <a:off x="9828924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Editable vector ellipse"/>
          <p:cNvSpPr/>
          <p:nvPr/>
        </p:nvSpPr>
        <p:spPr>
          <a:xfrm>
            <a:off x="10480366" y="1927287"/>
            <a:ext cx="312335" cy="312335"/>
          </a:xfrm>
          <a:prstGeom prst="ellipse">
            <a:avLst/>
          </a:prstGeom>
          <a:solidFill>
            <a:srgbClr val="EDC8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vector ellipse"/>
          <p:cNvSpPr/>
          <p:nvPr/>
        </p:nvSpPr>
        <p:spPr>
          <a:xfrm>
            <a:off x="9891391" y="2025449"/>
            <a:ext cx="838843" cy="678214"/>
          </a:xfrm>
          <a:prstGeom prst="ellipse">
            <a:avLst/>
          </a:prstGeom>
          <a:solidFill>
            <a:srgbClr val="F1D9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vector ellipse"/>
          <p:cNvSpPr/>
          <p:nvPr/>
        </p:nvSpPr>
        <p:spPr>
          <a:xfrm>
            <a:off x="10087716" y="2346709"/>
            <a:ext cx="446193" cy="294487"/>
          </a:xfrm>
          <a:prstGeom prst="ellipse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vector ellipse"/>
          <p:cNvSpPr/>
          <p:nvPr/>
        </p:nvSpPr>
        <p:spPr>
          <a:xfrm>
            <a:off x="10136797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vector ellipse"/>
          <p:cNvSpPr/>
          <p:nvPr/>
        </p:nvSpPr>
        <p:spPr>
          <a:xfrm>
            <a:off x="10431285" y="2297627"/>
            <a:ext cx="53543" cy="80315"/>
          </a:xfrm>
          <a:prstGeom prst="ellipse">
            <a:avLst/>
          </a:prstGeom>
          <a:solidFill>
            <a:srgbClr val="50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ditable vector ellipse"/>
          <p:cNvSpPr/>
          <p:nvPr/>
        </p:nvSpPr>
        <p:spPr>
          <a:xfrm>
            <a:off x="10270655" y="2435947"/>
            <a:ext cx="80314" cy="53543"/>
          </a:xfrm>
          <a:prstGeom prst="ellipse">
            <a:avLst/>
          </a:prstGeom>
          <a:solidFill>
            <a:srgbClr val="E8A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ditable vector ellipse"/>
          <p:cNvSpPr/>
          <p:nvPr/>
        </p:nvSpPr>
        <p:spPr>
          <a:xfrm>
            <a:off x="9989553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vector ellipse"/>
          <p:cNvSpPr/>
          <p:nvPr/>
        </p:nvSpPr>
        <p:spPr>
          <a:xfrm>
            <a:off x="10507138" y="2427023"/>
            <a:ext cx="124934" cy="71391"/>
          </a:xfrm>
          <a:prstGeom prst="ellipse">
            <a:avLst/>
          </a:prstGeom>
          <a:solidFill>
            <a:srgbClr val="EFD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rounded card"/>
          <p:cNvSpPr/>
          <p:nvPr/>
        </p:nvSpPr>
        <p:spPr>
          <a:xfrm>
            <a:off x="10230498" y="2806288"/>
            <a:ext cx="160629" cy="602361"/>
          </a:xfrm>
          <a:custGeom>
            <a:avLst/>
            <a:gdLst/>
            <a:ahLst/>
            <a:cxnLst/>
            <a:rect l="0" t="0" r="r" b="b"/>
            <a:pathLst>
              <a:path w="160629" h="602361" fill="norm" stroke="0">
                <a:moveTo>
                  <a:pt x="80314" y="0"/>
                </a:moveTo>
                <a:lnTo>
                  <a:pt x="80314" y="0"/>
                </a:lnTo>
                <a:cubicBezTo>
                  <a:pt x="124671" y="0"/>
                  <a:pt x="160629" y="35958"/>
                  <a:pt x="160629" y="80314"/>
                </a:cubicBezTo>
                <a:lnTo>
                  <a:pt x="160629" y="522046"/>
                </a:lnTo>
                <a:cubicBezTo>
                  <a:pt x="160629" y="566403"/>
                  <a:pt x="124671" y="602361"/>
                  <a:pt x="80314" y="602361"/>
                </a:cubicBezTo>
                <a:lnTo>
                  <a:pt x="80314" y="602361"/>
                </a:lnTo>
                <a:cubicBezTo>
                  <a:pt x="35958" y="602361"/>
                  <a:pt x="0" y="566403"/>
                  <a:pt x="0" y="522046"/>
                </a:cubicBezTo>
                <a:lnTo>
                  <a:pt x="0" y="80314"/>
                </a:lnTo>
                <a:cubicBezTo>
                  <a:pt x="0" y="35958"/>
                  <a:pt x="35958" y="0"/>
                  <a:pt x="80314" y="0"/>
                </a:cubicBezTo>
                <a:close/>
              </a:path>
            </a:pathLst>
          </a:custGeom>
          <a:solidFill>
            <a:srgbClr val="E4B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SVG path"/>
          <p:cNvSpPr/>
          <p:nvPr/>
        </p:nvSpPr>
        <p:spPr>
          <a:xfrm>
            <a:off x="9965096" y="2712587"/>
            <a:ext cx="691434" cy="236482"/>
          </a:xfrm>
          <a:custGeom>
            <a:avLst/>
            <a:gdLst/>
            <a:ahLst/>
            <a:cxnLst/>
            <a:rect l="0" t="0" r="r" b="b"/>
            <a:pathLst>
              <a:path w="691434" h="236482" fill="none" stroke="1">
                <a:moveTo>
                  <a:pt x="42305" y="0"/>
                </a:moveTo>
                <a:cubicBezTo>
                  <a:pt x="-52882" y="113036"/>
                  <a:pt x="12559" y="191863"/>
                  <a:pt x="238630" y="236483"/>
                </a:cubicBezTo>
                <a:moveTo>
                  <a:pt x="649128" y="0"/>
                </a:moveTo>
                <a:cubicBezTo>
                  <a:pt x="744316" y="113036"/>
                  <a:pt x="678875" y="191863"/>
                  <a:pt x="452803" y="236483"/>
                </a:cubicBezTo>
              </a:path>
            </a:pathLst>
          </a:custGeom>
          <a:noFill/>
          <a:ln w="84776">
            <a:solidFill>
              <a:srgbClr val="F1D9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Editable vector ellipse"/>
          <p:cNvSpPr/>
          <p:nvPr/>
        </p:nvSpPr>
        <p:spPr>
          <a:xfrm>
            <a:off x="10114487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vector ellipse"/>
          <p:cNvSpPr/>
          <p:nvPr/>
        </p:nvSpPr>
        <p:spPr>
          <a:xfrm>
            <a:off x="10328660" y="2891065"/>
            <a:ext cx="178477" cy="116010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Editable vector ellipse"/>
          <p:cNvSpPr/>
          <p:nvPr/>
        </p:nvSpPr>
        <p:spPr>
          <a:xfrm>
            <a:off x="9931548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Editable vector ellipse"/>
          <p:cNvSpPr/>
          <p:nvPr/>
        </p:nvSpPr>
        <p:spPr>
          <a:xfrm>
            <a:off x="10386665" y="3212324"/>
            <a:ext cx="303412" cy="124934"/>
          </a:xfrm>
          <a:prstGeom prst="ellipse">
            <a:avLst/>
          </a:prstGeom>
          <a:solidFill>
            <a:srgbClr val="EFC7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: HOLD"/>
          <p:cNvSpPr txBox="1"/>
          <p:nvPr/>
        </p:nvSpPr>
        <p:spPr>
          <a:xfrm>
            <a:off x="9991130" y="3747603"/>
            <a:ext cx="740866" cy="387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55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HOLD</a:t>
            </a:r>
          </a:p>
        </p:txBody>
      </p:sp>
      <p:sp>
        <p:nvSpPr>
          <p:cNvPr id="96" name="Text: 撤去按压仍抱住"/>
          <p:cNvSpPr txBox="1"/>
          <p:nvPr/>
        </p:nvSpPr>
        <p:spPr>
          <a:xfrm>
            <a:off x="9732863" y="4135461"/>
            <a:ext cx="12573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撤去按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仍抱住</a:t>
            </a:r>
          </a:p>
        </p:txBody>
      </p:sp>
      <p:sp>
        <p:nvSpPr>
          <p:cNvPr id="97" name="Text: SQUEEZE"/>
          <p:cNvSpPr txBox="1"/>
          <p:nvPr/>
        </p:nvSpPr>
        <p:spPr>
          <a:xfrm>
            <a:off x="4208562" y="4849435"/>
            <a:ext cx="100588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SQUEEZE</a:t>
            </a:r>
          </a:p>
        </p:txBody>
      </p:sp>
      <p:sp>
        <p:nvSpPr>
          <p:cNvPr id="98" name="Text: →"/>
          <p:cNvSpPr txBox="1"/>
          <p:nvPr/>
        </p:nvSpPr>
        <p:spPr>
          <a:xfrm>
            <a:off x="5178822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9" name="Text: HUG"/>
          <p:cNvSpPr txBox="1"/>
          <p:nvPr/>
        </p:nvSpPr>
        <p:spPr>
          <a:xfrm>
            <a:off x="5448002" y="4849435"/>
            <a:ext cx="522188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HUG</a:t>
            </a:r>
          </a:p>
        </p:txBody>
      </p:sp>
      <p:sp>
        <p:nvSpPr>
          <p:cNvPr id="100" name="Text: →"/>
          <p:cNvSpPr txBox="1"/>
          <p:nvPr/>
        </p:nvSpPr>
        <p:spPr>
          <a:xfrm>
            <a:off x="5934472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1" name="Text: HOLD"/>
          <p:cNvSpPr txBox="1"/>
          <p:nvPr/>
        </p:nvSpPr>
        <p:spPr>
          <a:xfrm>
            <a:off x="6203752" y="4849435"/>
            <a:ext cx="65712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HOLD</a:t>
            </a:r>
          </a:p>
        </p:txBody>
      </p:sp>
      <p:sp>
        <p:nvSpPr>
          <p:cNvPr id="102" name="Text: →"/>
          <p:cNvSpPr txBox="1"/>
          <p:nvPr/>
        </p:nvSpPr>
        <p:spPr>
          <a:xfrm>
            <a:off x="6825258" y="4849435"/>
            <a:ext cx="3048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10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3" name="Text: RELEASE"/>
          <p:cNvSpPr txBox="1"/>
          <p:nvPr/>
        </p:nvSpPr>
        <p:spPr>
          <a:xfrm>
            <a:off x="7094538" y="4849435"/>
            <a:ext cx="990501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RELEASE</a:t>
            </a:r>
          </a:p>
        </p:txBody>
      </p:sp>
      <p:sp>
        <p:nvSpPr>
          <p:cNvPr id="104" name="Text: 用户主动掰开前爪，完成释放与复位。"/>
          <p:cNvSpPr txBox="1"/>
          <p:nvPr/>
        </p:nvSpPr>
        <p:spPr>
          <a:xfrm>
            <a:off x="4746526" y="5245993"/>
            <a:ext cx="280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主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动掰开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前爪，完成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复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位。</a:t>
            </a:r>
          </a:p>
        </p:txBody>
      </p:sp>
      <p:sp>
        <p:nvSpPr>
          <p:cNvPr id="10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0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0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0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11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112" name="Text: 18"/>
          <p:cNvSpPr txBox="1"/>
          <p:nvPr/>
        </p:nvSpPr>
        <p:spPr>
          <a:xfrm>
            <a:off x="11279188" y="6466713"/>
            <a:ext cx="203597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18</a:t>
            </a:r>
          </a:p>
        </p:txBody>
      </p:sp>
      <p:sp>
        <p:nvSpPr>
          <p:cNvPr id="113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OUCH"/>
          <p:cNvSpPr txBox="1"/>
          <p:nvPr/>
        </p:nvSpPr>
        <p:spPr>
          <a:xfrm>
            <a:off x="978892" y="400748"/>
            <a:ext cx="6721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5" name="Text: 被一只小鼠抱住，就够了。"/>
          <p:cNvSpPr txBox="1"/>
          <p:nvPr/>
        </p:nvSpPr>
        <p:spPr>
          <a:xfrm>
            <a:off x="571500" y="706374"/>
            <a:ext cx="5054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被一只小鼠抱住，就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够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了。</a:t>
            </a:r>
          </a:p>
        </p:txBody>
      </p:sp>
      <p:sp>
        <p:nvSpPr>
          <p:cNvPr id="6" name="Text: WITH"/>
          <p:cNvSpPr txBox="1"/>
          <p:nvPr/>
        </p:nvSpPr>
        <p:spPr>
          <a:xfrm>
            <a:off x="571500" y="2104727"/>
            <a:ext cx="173672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WITH</a:t>
            </a:r>
          </a:p>
        </p:txBody>
      </p:sp>
      <p:sp>
        <p:nvSpPr>
          <p:cNvPr id="7" name="Text: YOU."/>
          <p:cNvSpPr txBox="1"/>
          <p:nvPr/>
        </p:nvSpPr>
        <p:spPr>
          <a:xfrm>
            <a:off x="571500" y="2841327"/>
            <a:ext cx="161359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YOU.</a:t>
            </a:r>
          </a:p>
        </p:txBody>
      </p:sp>
      <p:sp>
        <p:nvSpPr>
          <p:cNvPr id="8" name="Text: 巴掌大小。"/>
          <p:cNvSpPr txBox="1"/>
          <p:nvPr/>
        </p:nvSpPr>
        <p:spPr>
          <a:xfrm>
            <a:off x="571500" y="3998361"/>
            <a:ext cx="10858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巴掌大小。</a:t>
            </a:r>
          </a:p>
        </p:txBody>
      </p:sp>
      <p:sp>
        <p:nvSpPr>
          <p:cNvPr id="9" name="Text: 手指轻压腹部，前爪向内拥抱。"/>
          <p:cNvSpPr txBox="1"/>
          <p:nvPr/>
        </p:nvSpPr>
        <p:spPr>
          <a:xfrm>
            <a:off x="571500" y="4352671"/>
            <a:ext cx="28575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手指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轻压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腹部，前爪向内</a:t>
            </a:r>
            <a:r>
              <a:rPr sz="15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15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抱。</a:t>
            </a:r>
          </a:p>
        </p:txBody>
      </p:sp>
      <p:sp>
        <p:nvSpPr>
          <p:cNvPr id="10" name="Text: 交互目标：撤去按压后仍保持，手动掰开释放。"/>
          <p:cNvSpPr txBox="1"/>
          <p:nvPr/>
        </p:nvSpPr>
        <p:spPr>
          <a:xfrm>
            <a:off x="571500" y="4852396"/>
            <a:ext cx="29019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交互目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：撤去按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后仍保持，手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动掰开释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放。</a:t>
            </a:r>
          </a:p>
        </p:txBody>
      </p:sp>
      <p:pic>
        <p:nvPicPr>
          <p:cNvPr id="11" name="Independent image" descr="image.png"/>
          <p:cNvPicPr>
            <a:picLocks noChangeAspect="1"/>
          </p:cNvPicPr>
          <p:nvPr/>
        </p:nvPicPr>
        <p:blipFill>
          <a:blip r:embed="rId3"/>
          <a:srcRect l="614" r="614"/>
          <a:stretch>
            <a:fillRect/>
          </a:stretch>
        </p:blipFill>
        <p:spPr>
          <a:xfrm>
            <a:off x="4376738" y="1603970"/>
            <a:ext cx="7243762" cy="4127500"/>
          </a:xfrm>
          <a:prstGeom prst="roundRect">
            <a:avLst>
              <a:gd name="adj" fmla="val 3692"/>
            </a:avLst>
          </a:prstGeom>
          <a:effectLst/>
        </p:spPr>
      </p:pic>
      <p:sp>
        <p:nvSpPr>
          <p:cNvPr id="12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3" name="Text: 场景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4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5" name="Text: 非实物或性能证明"/>
          <p:cNvSpPr txBox="1"/>
          <p:nvPr/>
        </p:nvSpPr>
        <p:spPr>
          <a:xfrm>
            <a:off x="1411883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非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物或性能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明</a:t>
            </a:r>
          </a:p>
        </p:txBody>
      </p:sp>
      <p:sp>
        <p:nvSpPr>
          <p:cNvPr id="16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7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8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9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0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3" name="Text: 19"/>
          <p:cNvSpPr txBox="1"/>
          <p:nvPr/>
        </p:nvSpPr>
        <p:spPr>
          <a:xfrm>
            <a:off x="11283057" y="6466713"/>
            <a:ext cx="199727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19</a:t>
            </a:r>
          </a:p>
        </p:txBody>
      </p:sp>
      <p:sp>
        <p:nvSpPr>
          <p:cNvPr id="24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5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RAVEL"/>
          <p:cNvSpPr txBox="1"/>
          <p:nvPr/>
        </p:nvSpPr>
        <p:spPr>
          <a:xfrm>
            <a:off x="978892" y="400748"/>
            <a:ext cx="73005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TRAVEL</a:t>
            </a:r>
          </a:p>
        </p:txBody>
      </p:sp>
      <p:sp>
        <p:nvSpPr>
          <p:cNvPr id="5" name="Text: 让陪伴，跟着背包一起出门。"/>
          <p:cNvSpPr txBox="1"/>
          <p:nvPr/>
        </p:nvSpPr>
        <p:spPr>
          <a:xfrm>
            <a:off x="571500" y="706374"/>
            <a:ext cx="5467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陪伴，跟着背包一起出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793750" y="4425950"/>
            <a:ext cx="2362299" cy="1381720"/>
          </a:xfrm>
          <a:custGeom>
            <a:avLst/>
            <a:gdLst/>
            <a:ahLst/>
            <a:cxnLst/>
            <a:rect l="0" t="0" r="r" b="b"/>
            <a:pathLst>
              <a:path w="2362299" h="1381720" fill="norm" stroke="0">
                <a:moveTo>
                  <a:pt x="127000" y="0"/>
                </a:moveTo>
                <a:lnTo>
                  <a:pt x="2235299" y="0"/>
                </a:lnTo>
                <a:cubicBezTo>
                  <a:pt x="2305439" y="0"/>
                  <a:pt x="2362299" y="56860"/>
                  <a:pt x="2362299" y="127000"/>
                </a:cubicBezTo>
                <a:lnTo>
                  <a:pt x="2362299" y="1254720"/>
                </a:lnTo>
                <a:cubicBezTo>
                  <a:pt x="2362299" y="1324860"/>
                  <a:pt x="2305439" y="1381720"/>
                  <a:pt x="22352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TRAVEL"/>
          <p:cNvSpPr txBox="1"/>
          <p:nvPr/>
        </p:nvSpPr>
        <p:spPr>
          <a:xfrm>
            <a:off x="984250" y="4534218"/>
            <a:ext cx="1652885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TRAVEL</a:t>
            </a:r>
          </a:p>
        </p:txBody>
      </p:sp>
      <p:sp>
        <p:nvSpPr>
          <p:cNvPr id="9" name="Text: 两只前爪抱住肩带。"/>
          <p:cNvSpPr txBox="1"/>
          <p:nvPr/>
        </p:nvSpPr>
        <p:spPr>
          <a:xfrm>
            <a:off x="984250" y="5084191"/>
            <a:ext cx="15875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只前爪抱住肩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0" name="Text: 小尺寸，才愿意每天带着。"/>
          <p:cNvSpPr txBox="1"/>
          <p:nvPr/>
        </p:nvSpPr>
        <p:spPr>
          <a:xfrm>
            <a:off x="984250" y="5381351"/>
            <a:ext cx="20828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小尺寸，才愿意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天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着。</a:t>
            </a:r>
          </a:p>
        </p:txBody>
      </p:sp>
      <p:sp>
        <p:nvSpPr>
          <p:cNvPr id="11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2" name="Text: 场景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景概念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3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4" name="Text: 肩带适配与防脱性能待验证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肩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带适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配与防脱性能待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0"/>
          <p:cNvSpPr txBox="1"/>
          <p:nvPr/>
        </p:nvSpPr>
        <p:spPr>
          <a:xfrm>
            <a:off x="11272639" y="6466713"/>
            <a:ext cx="21014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20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OGETHER"/>
          <p:cNvSpPr txBox="1"/>
          <p:nvPr/>
        </p:nvSpPr>
        <p:spPr>
          <a:xfrm>
            <a:off x="978892" y="400748"/>
            <a:ext cx="97859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TOGETHER</a:t>
            </a:r>
          </a:p>
        </p:txBody>
      </p:sp>
      <p:sp>
        <p:nvSpPr>
          <p:cNvPr id="5" name="Text: 靠近一点，尾巴就连成一颗心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靠近一点，尾巴就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连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颗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心。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8375551" y="4425950"/>
            <a:ext cx="3022699" cy="1381720"/>
          </a:xfrm>
          <a:custGeom>
            <a:avLst/>
            <a:gdLst/>
            <a:ahLst/>
            <a:cxnLst/>
            <a:rect l="0" t="0" r="r" b="b"/>
            <a:pathLst>
              <a:path w="3022699" h="1381720" fill="norm" stroke="0">
                <a:moveTo>
                  <a:pt x="127000" y="0"/>
                </a:moveTo>
                <a:lnTo>
                  <a:pt x="2895699" y="0"/>
                </a:lnTo>
                <a:cubicBezTo>
                  <a:pt x="2965839" y="0"/>
                  <a:pt x="3022699" y="56860"/>
                  <a:pt x="3022699" y="127000"/>
                </a:cubicBezTo>
                <a:lnTo>
                  <a:pt x="3022699" y="1254720"/>
                </a:lnTo>
                <a:cubicBezTo>
                  <a:pt x="3022699" y="1324860"/>
                  <a:pt x="2965839" y="1381720"/>
                  <a:pt x="28956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: TOGETHER"/>
          <p:cNvSpPr txBox="1"/>
          <p:nvPr/>
        </p:nvSpPr>
        <p:spPr>
          <a:xfrm>
            <a:off x="8566051" y="4534218"/>
            <a:ext cx="2272506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TOGETHER</a:t>
            </a:r>
          </a:p>
        </p:txBody>
      </p:sp>
      <p:sp>
        <p:nvSpPr>
          <p:cNvPr id="9" name="Text: 黄鼠是黄尾巴，灰鼠是灰尾巴。"/>
          <p:cNvSpPr txBox="1"/>
          <p:nvPr/>
        </p:nvSpPr>
        <p:spPr>
          <a:xfrm>
            <a:off x="8566051" y="5084191"/>
            <a:ext cx="2413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黄鼠是黄尾巴，灰鼠是灰尾巴。</a:t>
            </a:r>
          </a:p>
        </p:txBody>
      </p:sp>
      <p:sp>
        <p:nvSpPr>
          <p:cNvPr id="10" name="Text: 短、圆、柔软；社交体验保持轻量。"/>
          <p:cNvSpPr txBox="1"/>
          <p:nvPr/>
        </p:nvSpPr>
        <p:spPr>
          <a:xfrm>
            <a:off x="8566051" y="5381351"/>
            <a:ext cx="27432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短、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圆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、柔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软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；社交体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保持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量。</a:t>
            </a:r>
          </a:p>
        </p:txBody>
      </p:sp>
      <p:sp>
        <p:nvSpPr>
          <p:cNvPr id="11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2" name="Text: 形态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形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3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4" name="Text: 尾巴成形与磁体安全待验证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尾巴成形与磁体安全待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1"/>
          <p:cNvSpPr txBox="1"/>
          <p:nvPr/>
        </p:nvSpPr>
        <p:spPr>
          <a:xfrm>
            <a:off x="11286430" y="6466713"/>
            <a:ext cx="1962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21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FAMILY"/>
          <p:cNvSpPr txBox="1"/>
          <p:nvPr/>
        </p:nvSpPr>
        <p:spPr>
          <a:xfrm>
            <a:off x="978892" y="400748"/>
            <a:ext cx="67825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5" name="Text: 同一只鼠，装下五种校园心情。"/>
          <p:cNvSpPr txBox="1"/>
          <p:nvPr/>
        </p:nvSpPr>
        <p:spPr>
          <a:xfrm>
            <a:off x="571500" y="706374"/>
            <a:ext cx="5880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同一只鼠，装下五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心情。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t="23960" b="23960"/>
          <a:stretch>
            <a:fillRect/>
          </a:stretch>
        </p:blipFill>
        <p:spPr>
          <a:xfrm>
            <a:off x="571500" y="1603970"/>
            <a:ext cx="11049000" cy="3238500"/>
          </a:xfrm>
          <a:prstGeom prst="roundRect">
            <a:avLst>
              <a:gd name="adj" fmla="val 4705"/>
            </a:avLst>
          </a:prstGeom>
          <a:effectLst/>
        </p:spPr>
      </p:pic>
      <p:sp>
        <p:nvSpPr>
          <p:cNvPr id="7" name="Editable rounded card"/>
          <p:cNvSpPr/>
          <p:nvPr/>
        </p:nvSpPr>
        <p:spPr>
          <a:xfrm>
            <a:off x="116304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EDDA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6304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32179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16304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16304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12" name="Text: 黄白"/>
          <p:cNvSpPr txBox="1"/>
          <p:nvPr/>
        </p:nvSpPr>
        <p:spPr>
          <a:xfrm>
            <a:off x="1385292" y="5000204"/>
            <a:ext cx="406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黄白</a:t>
            </a:r>
          </a:p>
        </p:txBody>
      </p:sp>
      <p:sp>
        <p:nvSpPr>
          <p:cNvPr id="13" name="Text: /"/>
          <p:cNvSpPr txBox="1"/>
          <p:nvPr/>
        </p:nvSpPr>
        <p:spPr>
          <a:xfrm>
            <a:off x="173275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4" name="Text: ORIGINAL"/>
          <p:cNvSpPr txBox="1"/>
          <p:nvPr/>
        </p:nvSpPr>
        <p:spPr>
          <a:xfrm>
            <a:off x="1858566" y="5000204"/>
            <a:ext cx="773013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ORIGINAL</a:t>
            </a:r>
          </a:p>
        </p:txBody>
      </p:sp>
      <p:sp>
        <p:nvSpPr>
          <p:cNvPr id="15" name="Editable rounded card"/>
          <p:cNvSpPr/>
          <p:nvPr/>
        </p:nvSpPr>
        <p:spPr>
          <a:xfrm>
            <a:off x="371326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E9C8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1326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387201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371326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71326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20" name="Text: 粉"/>
          <p:cNvSpPr txBox="1"/>
          <p:nvPr/>
        </p:nvSpPr>
        <p:spPr>
          <a:xfrm>
            <a:off x="3935512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粉</a:t>
            </a:r>
          </a:p>
        </p:txBody>
      </p:sp>
      <p:sp>
        <p:nvSpPr>
          <p:cNvPr id="21" name="Text: /"/>
          <p:cNvSpPr txBox="1"/>
          <p:nvPr/>
        </p:nvSpPr>
        <p:spPr>
          <a:xfrm>
            <a:off x="413057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2" name="Text: PINK"/>
          <p:cNvSpPr txBox="1"/>
          <p:nvPr/>
        </p:nvSpPr>
        <p:spPr>
          <a:xfrm>
            <a:off x="4256385" y="5000204"/>
            <a:ext cx="42922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PINK</a:t>
            </a:r>
          </a:p>
        </p:txBody>
      </p:sp>
      <p:sp>
        <p:nvSpPr>
          <p:cNvPr id="23" name="Editable rounded card"/>
          <p:cNvSpPr/>
          <p:nvPr/>
        </p:nvSpPr>
        <p:spPr>
          <a:xfrm>
            <a:off x="5767189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BDBB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767189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5925939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767189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767189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28" name="Text: 灰"/>
          <p:cNvSpPr txBox="1"/>
          <p:nvPr/>
        </p:nvSpPr>
        <p:spPr>
          <a:xfrm>
            <a:off x="5989439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灰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6184503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GREY"/>
          <p:cNvSpPr txBox="1"/>
          <p:nvPr/>
        </p:nvSpPr>
        <p:spPr>
          <a:xfrm>
            <a:off x="6310312" y="5000204"/>
            <a:ext cx="479227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GREY</a:t>
            </a:r>
          </a:p>
        </p:txBody>
      </p:sp>
      <p:sp>
        <p:nvSpPr>
          <p:cNvPr id="31" name="Editable rounded card"/>
          <p:cNvSpPr/>
          <p:nvPr/>
        </p:nvSpPr>
        <p:spPr>
          <a:xfrm>
            <a:off x="7871222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F1ED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871222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802997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871222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871222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36" name="Text: 白"/>
          <p:cNvSpPr txBox="1"/>
          <p:nvPr/>
        </p:nvSpPr>
        <p:spPr>
          <a:xfrm>
            <a:off x="8093472" y="5000204"/>
            <a:ext cx="254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8288536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WHITE"/>
          <p:cNvSpPr txBox="1"/>
          <p:nvPr/>
        </p:nvSpPr>
        <p:spPr>
          <a:xfrm>
            <a:off x="8414345" y="5000204"/>
            <a:ext cx="54887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WHITE</a:t>
            </a:r>
          </a:p>
        </p:txBody>
      </p:sp>
      <p:sp>
        <p:nvSpPr>
          <p:cNvPr id="39" name="Editable rounded card"/>
          <p:cNvSpPr/>
          <p:nvPr/>
        </p:nvSpPr>
        <p:spPr>
          <a:xfrm>
            <a:off x="10044807" y="5032970"/>
            <a:ext cx="158750" cy="158750"/>
          </a:xfrm>
          <a:custGeom>
            <a:avLst/>
            <a:gdLst/>
            <a:ahLst/>
            <a:cxnLst/>
            <a:rect l="0" t="0" r="r" b="b"/>
            <a:pathLst>
              <a:path w="158750" h="158750" fill="norm" stroke="0">
                <a:moveTo>
                  <a:pt x="79375" y="0"/>
                </a:moveTo>
                <a:lnTo>
                  <a:pt x="79375" y="0"/>
                </a:lnTo>
                <a:cubicBezTo>
                  <a:pt x="123213" y="0"/>
                  <a:pt x="158750" y="35537"/>
                  <a:pt x="158750" y="79375"/>
                </a:cubicBezTo>
                <a:lnTo>
                  <a:pt x="158750" y="79375"/>
                </a:lnTo>
                <a:cubicBezTo>
                  <a:pt x="158750" y="123213"/>
                  <a:pt x="123213" y="158750"/>
                  <a:pt x="79375" y="158750"/>
                </a:cubicBezTo>
                <a:lnTo>
                  <a:pt x="79375" y="158750"/>
                </a:lnTo>
                <a:cubicBezTo>
                  <a:pt x="35537" y="158750"/>
                  <a:pt x="0" y="123213"/>
                  <a:pt x="0" y="79375"/>
                </a:cubicBezTo>
                <a:lnTo>
                  <a:pt x="0" y="79375"/>
                </a:lnTo>
                <a:cubicBezTo>
                  <a:pt x="0" y="35537"/>
                  <a:pt x="35537" y="0"/>
                  <a:pt x="79375" y="0"/>
                </a:cubicBezTo>
                <a:close/>
              </a:path>
            </a:pathLst>
          </a:custGeom>
          <a:solidFill>
            <a:srgbClr val="BF78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44807" y="503297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0203557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10044807" y="5191720"/>
            <a:ext cx="158750" cy="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0044807" y="5032970"/>
            <a:ext cx="0" cy="158750"/>
          </a:xfrm>
          <a:prstGeom prst="line">
            <a:avLst/>
          </a:prstGeom>
          <a:ln w="6350">
            <a:solidFill>
              <a:srgbClr val="D2C8BA"/>
            </a:solidFill>
          </a:ln>
          <a:effectLst/>
        </p:spPr>
      </p:cxnSp>
      <p:sp>
        <p:nvSpPr>
          <p:cNvPr id="44" name="Text: 柔红"/>
          <p:cNvSpPr txBox="1"/>
          <p:nvPr/>
        </p:nvSpPr>
        <p:spPr>
          <a:xfrm>
            <a:off x="10267057" y="5000204"/>
            <a:ext cx="4064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柔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红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0614521" y="50002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RED"/>
          <p:cNvSpPr txBox="1"/>
          <p:nvPr/>
        </p:nvSpPr>
        <p:spPr>
          <a:xfrm>
            <a:off x="10740330" y="5000204"/>
            <a:ext cx="39002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RED</a:t>
            </a:r>
          </a:p>
        </p:txBody>
      </p:sp>
      <p:sp>
        <p:nvSpPr>
          <p:cNvPr id="47" name="Text: 后四色作为学士服领色的纪念联想；具体对应以校方规范与授权为准。"/>
          <p:cNvSpPr txBox="1"/>
          <p:nvPr/>
        </p:nvSpPr>
        <p:spPr>
          <a:xfrm>
            <a:off x="3733800" y="5451054"/>
            <a:ext cx="48260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后四色作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学士服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领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色的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纪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念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联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想；具体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对应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以校方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范与授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准。</a:t>
            </a:r>
          </a:p>
        </p:txBody>
      </p:sp>
      <p:sp>
        <p:nvSpPr>
          <p:cNvPr id="48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49" name="Text: 配色概念图"/>
          <p:cNvSpPr txBox="1"/>
          <p:nvPr/>
        </p:nvSpPr>
        <p:spPr>
          <a:xfrm>
            <a:off x="711795" y="6095262"/>
            <a:ext cx="7049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配色概念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50" name="Text: ·"/>
          <p:cNvSpPr txBox="1"/>
          <p:nvPr/>
        </p:nvSpPr>
        <p:spPr>
          <a:xfrm>
            <a:off x="1348780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1" name="Text: 颜色打样与校方规范待确认"/>
          <p:cNvSpPr txBox="1"/>
          <p:nvPr/>
        </p:nvSpPr>
        <p:spPr>
          <a:xfrm>
            <a:off x="1411883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颜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色打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与校方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范待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确认</a:t>
            </a:r>
          </a:p>
        </p:txBody>
      </p:sp>
      <p:sp>
        <p:nvSpPr>
          <p:cNvPr id="52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3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4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5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6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7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8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9" name="Text: 22"/>
          <p:cNvSpPr txBox="1"/>
          <p:nvPr/>
        </p:nvSpPr>
        <p:spPr>
          <a:xfrm>
            <a:off x="11279386" y="6466713"/>
            <a:ext cx="20339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22</a:t>
            </a:r>
          </a:p>
        </p:txBody>
      </p:sp>
      <p:sp>
        <p:nvSpPr>
          <p:cNvPr id="60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1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A"/>
          <p:cNvSpPr txBox="1"/>
          <p:nvPr/>
        </p:nvSpPr>
        <p:spPr>
          <a:xfrm>
            <a:off x="978892" y="400748"/>
            <a:ext cx="2142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A</a:t>
            </a:r>
          </a:p>
        </p:txBody>
      </p:sp>
      <p:sp>
        <p:nvSpPr>
          <p:cNvPr id="5" name="Text: LITTLE"/>
          <p:cNvSpPr txBox="1"/>
          <p:nvPr/>
        </p:nvSpPr>
        <p:spPr>
          <a:xfrm>
            <a:off x="1154112" y="400748"/>
            <a:ext cx="67111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LITTLE</a:t>
            </a:r>
          </a:p>
        </p:txBody>
      </p:sp>
      <p:sp>
        <p:nvSpPr>
          <p:cNvPr id="6" name="Text: FAMILY"/>
          <p:cNvSpPr txBox="1"/>
          <p:nvPr/>
        </p:nvSpPr>
        <p:spPr>
          <a:xfrm>
            <a:off x="1786235" y="400748"/>
            <a:ext cx="67825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7" name="Text: 装进帆布包，也装进一起毕业的记忆。"/>
          <p:cNvSpPr txBox="1"/>
          <p:nvPr/>
        </p:nvSpPr>
        <p:spPr>
          <a:xfrm>
            <a:off x="571500" y="706374"/>
            <a:ext cx="71183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帆布包，也装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一起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毕业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记忆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8" name="Independent image" descr="image.png"/>
          <p:cNvPicPr>
            <a:picLocks noChangeAspect="1"/>
          </p:cNvPicPr>
          <p:nvPr/>
        </p:nvPicPr>
        <p:blipFill>
          <a:blip r:embed="rId3"/>
          <a:srcRect t="14770" b="14770"/>
          <a:stretch>
            <a:fillRect/>
          </a:stretch>
        </p:blipFill>
        <p:spPr>
          <a:xfrm>
            <a:off x="571500" y="1603970"/>
            <a:ext cx="11049000" cy="4381500"/>
          </a:xfrm>
          <a:prstGeom prst="roundRect">
            <a:avLst>
              <a:gd name="adj" fmla="val 3478"/>
            </a:avLst>
          </a:prstGeom>
          <a:effectLst/>
        </p:spPr>
      </p:pic>
      <p:sp>
        <p:nvSpPr>
          <p:cNvPr id="9" name="Editable rounded card"/>
          <p:cNvSpPr/>
          <p:nvPr/>
        </p:nvSpPr>
        <p:spPr>
          <a:xfrm>
            <a:off x="793750" y="4425950"/>
            <a:ext cx="2692499" cy="1381720"/>
          </a:xfrm>
          <a:custGeom>
            <a:avLst/>
            <a:gdLst/>
            <a:ahLst/>
            <a:cxnLst/>
            <a:rect l="0" t="0" r="r" b="b"/>
            <a:pathLst>
              <a:path w="2692499" h="1381720" fill="norm" stroke="0">
                <a:moveTo>
                  <a:pt x="127000" y="0"/>
                </a:moveTo>
                <a:lnTo>
                  <a:pt x="2565499" y="0"/>
                </a:lnTo>
                <a:cubicBezTo>
                  <a:pt x="2635639" y="0"/>
                  <a:pt x="2692499" y="56860"/>
                  <a:pt x="2692499" y="127000"/>
                </a:cubicBezTo>
                <a:lnTo>
                  <a:pt x="2692499" y="1254720"/>
                </a:lnTo>
                <a:cubicBezTo>
                  <a:pt x="2692499" y="1324860"/>
                  <a:pt x="2635639" y="1381720"/>
                  <a:pt x="2565499" y="1381720"/>
                </a:cubicBezTo>
                <a:lnTo>
                  <a:pt x="127000" y="1381720"/>
                </a:lnTo>
                <a:cubicBezTo>
                  <a:pt x="56860" y="1381720"/>
                  <a:pt x="0" y="1324860"/>
                  <a:pt x="0" y="125472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FBF8EF">
              <a:alpha val="9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FAMILY"/>
          <p:cNvSpPr txBox="1"/>
          <p:nvPr/>
        </p:nvSpPr>
        <p:spPr>
          <a:xfrm>
            <a:off x="984250" y="4534218"/>
            <a:ext cx="1517452" cy="546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2750" b="0" i="0" spc="4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FAMILY</a:t>
            </a:r>
          </a:p>
        </p:txBody>
      </p:sp>
      <p:sp>
        <p:nvSpPr>
          <p:cNvPr id="11" name="Text: 一只自用，两只互赠。"/>
          <p:cNvSpPr txBox="1"/>
          <p:nvPr/>
        </p:nvSpPr>
        <p:spPr>
          <a:xfrm>
            <a:off x="984250" y="5084191"/>
            <a:ext cx="17526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一只自用，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只互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赠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2" name="Text: 五色是选择，不是五套新功能。"/>
          <p:cNvSpPr txBox="1"/>
          <p:nvPr/>
        </p:nvSpPr>
        <p:spPr>
          <a:xfrm>
            <a:off x="984250" y="5381351"/>
            <a:ext cx="2413099" cy="27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8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五色是</a:t>
            </a:r>
            <a:r>
              <a:rPr sz="13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选择</a:t>
            </a:r>
            <a:r>
              <a:rPr sz="13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，不是五套新功能。</a:t>
            </a:r>
          </a:p>
        </p:txBody>
      </p:sp>
      <p:sp>
        <p:nvSpPr>
          <p:cNvPr id="13" name="Text: AI"/>
          <p:cNvSpPr txBox="1"/>
          <p:nvPr/>
        </p:nvSpPr>
        <p:spPr>
          <a:xfrm>
            <a:off x="571500" y="6095262"/>
            <a:ext cx="208161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14" name="Text: 生活方式概念图"/>
          <p:cNvSpPr txBox="1"/>
          <p:nvPr/>
        </p:nvSpPr>
        <p:spPr>
          <a:xfrm>
            <a:off x="711795" y="6095262"/>
            <a:ext cx="9462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生活方式概念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15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16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7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8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9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20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1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22" name="Text: 23"/>
          <p:cNvSpPr txBox="1"/>
          <p:nvPr/>
        </p:nvSpPr>
        <p:spPr>
          <a:xfrm>
            <a:off x="11274921" y="6466713"/>
            <a:ext cx="207863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23</a:t>
            </a:r>
          </a:p>
        </p:txBody>
      </p:sp>
      <p:sp>
        <p:nvSpPr>
          <p:cNvPr id="23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4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CMF"/>
          <p:cNvSpPr txBox="1"/>
          <p:nvPr/>
        </p:nvSpPr>
        <p:spPr>
          <a:xfrm>
            <a:off x="978892" y="400748"/>
            <a:ext cx="44370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CMF</a:t>
            </a:r>
          </a:p>
        </p:txBody>
      </p:sp>
      <p:sp>
        <p:nvSpPr>
          <p:cNvPr id="5" name="Text: 让人想反复捏的，是材质的松弛感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让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人想反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复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捏的，是材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的松弛感。</a:t>
            </a:r>
          </a:p>
        </p:txBody>
      </p:sp>
      <p:pic>
        <p:nvPicPr>
          <p:cNvPr id="6" name="Independent image" descr="image.png"/>
          <p:cNvPicPr>
            <a:picLocks noChangeAspect="1"/>
          </p:cNvPicPr>
          <p:nvPr/>
        </p:nvPicPr>
        <p:blipFill>
          <a:blip r:embed="rId3"/>
          <a:srcRect l="17140" r="7346"/>
          <a:stretch>
            <a:fillRect/>
          </a:stretch>
        </p:blipFill>
        <p:spPr>
          <a:xfrm>
            <a:off x="571500" y="1603970"/>
            <a:ext cx="5538093" cy="4127500"/>
          </a:xfrm>
          <a:prstGeom prst="roundRect">
            <a:avLst>
              <a:gd name="adj" fmla="val 3692"/>
            </a:avLst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585843" y="171509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585843" y="301684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9" name="Text: Fine"/>
          <p:cNvSpPr txBox="1"/>
          <p:nvPr/>
        </p:nvSpPr>
        <p:spPr>
          <a:xfrm>
            <a:off x="6585843" y="1851557"/>
            <a:ext cx="558304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Fine</a:t>
            </a:r>
          </a:p>
        </p:txBody>
      </p:sp>
      <p:sp>
        <p:nvSpPr>
          <p:cNvPr id="10" name="Text: Fur"/>
          <p:cNvSpPr txBox="1"/>
          <p:nvPr/>
        </p:nvSpPr>
        <p:spPr>
          <a:xfrm>
            <a:off x="7111802" y="1851557"/>
            <a:ext cx="459780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Fur</a:t>
            </a:r>
          </a:p>
        </p:txBody>
      </p:sp>
      <p:sp>
        <p:nvSpPr>
          <p:cNvPr id="11" name="Text: 细软短绒"/>
          <p:cNvSpPr txBox="1"/>
          <p:nvPr/>
        </p:nvSpPr>
        <p:spPr>
          <a:xfrm>
            <a:off x="6585843" y="2263100"/>
            <a:ext cx="8636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细软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短</a:t>
            </a: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</a:p>
        </p:txBody>
      </p:sp>
      <p:sp>
        <p:nvSpPr>
          <p:cNvPr id="12" name="Text: 自然毛流，保留耳、鼻与脸部轮廓。"/>
          <p:cNvSpPr txBox="1"/>
          <p:nvPr/>
        </p:nvSpPr>
        <p:spPr>
          <a:xfrm>
            <a:off x="6585843" y="2577108"/>
            <a:ext cx="264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自然毛流，保留耳、鼻与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脸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轮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5843" y="301684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85843" y="431859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15" name="Text: Beanbag"/>
          <p:cNvSpPr txBox="1"/>
          <p:nvPr/>
        </p:nvSpPr>
        <p:spPr>
          <a:xfrm>
            <a:off x="6585843" y="3153307"/>
            <a:ext cx="1049933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Beanbag</a:t>
            </a:r>
          </a:p>
        </p:txBody>
      </p:sp>
      <p:sp>
        <p:nvSpPr>
          <p:cNvPr id="16" name="Text: Body"/>
          <p:cNvSpPr txBox="1"/>
          <p:nvPr/>
        </p:nvSpPr>
        <p:spPr>
          <a:xfrm>
            <a:off x="7603430" y="3153307"/>
            <a:ext cx="651173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Body</a:t>
            </a:r>
          </a:p>
        </p:txBody>
      </p:sp>
      <p:sp>
        <p:nvSpPr>
          <p:cNvPr id="17" name="Text: 饱满，却不僵硬"/>
          <p:cNvSpPr txBox="1"/>
          <p:nvPr/>
        </p:nvSpPr>
        <p:spPr>
          <a:xfrm>
            <a:off x="6585843" y="3564850"/>
            <a:ext cx="14351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饱满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，却不僵硬</a:t>
            </a:r>
          </a:p>
        </p:txBody>
      </p:sp>
      <p:sp>
        <p:nvSpPr>
          <p:cNvPr id="18" name="Text: 下腹独立豆袋，上腹留出机构空间。"/>
          <p:cNvSpPr txBox="1"/>
          <p:nvPr/>
        </p:nvSpPr>
        <p:spPr>
          <a:xfrm>
            <a:off x="6585843" y="3878858"/>
            <a:ext cx="264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下腹独立豆袋，上腹留出机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间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5843" y="4318595"/>
            <a:ext cx="5034657" cy="1301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5843" y="5620345"/>
            <a:ext cx="5034657" cy="0"/>
          </a:xfrm>
          <a:prstGeom prst="line">
            <a:avLst/>
          </a:prstGeom>
          <a:ln w="6350">
            <a:solidFill>
              <a:srgbClr val="DDD3C6"/>
            </a:solidFill>
          </a:ln>
          <a:effectLst/>
        </p:spPr>
      </p:cxnSp>
      <p:sp>
        <p:nvSpPr>
          <p:cNvPr id="21" name="Text: Soft"/>
          <p:cNvSpPr txBox="1"/>
          <p:nvPr/>
        </p:nvSpPr>
        <p:spPr>
          <a:xfrm>
            <a:off x="6585843" y="4455057"/>
            <a:ext cx="568226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Soft</a:t>
            </a:r>
          </a:p>
        </p:txBody>
      </p:sp>
      <p:sp>
        <p:nvSpPr>
          <p:cNvPr id="22" name="Text: Touch"/>
          <p:cNvSpPr txBox="1"/>
          <p:nvPr/>
        </p:nvSpPr>
        <p:spPr>
          <a:xfrm>
            <a:off x="7121723" y="4455057"/>
            <a:ext cx="747812" cy="393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Touch</a:t>
            </a:r>
          </a:p>
        </p:txBody>
      </p:sp>
      <p:sp>
        <p:nvSpPr>
          <p:cNvPr id="23" name="Text: 耳内、掌心、脚尖轻轻带粉"/>
          <p:cNvSpPr txBox="1"/>
          <p:nvPr/>
        </p:nvSpPr>
        <p:spPr>
          <a:xfrm>
            <a:off x="6585843" y="4866600"/>
            <a:ext cx="23876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耳内、掌心、脚尖</a:t>
            </a:r>
            <a:r>
              <a:rPr sz="15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轻轻带</a:t>
            </a: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粉</a:t>
            </a:r>
          </a:p>
        </p:txBody>
      </p:sp>
      <p:sp>
        <p:nvSpPr>
          <p:cNvPr id="24" name="Text: 白色嘴筒与肚皮用柔和渐变衔接。"/>
          <p:cNvSpPr txBox="1"/>
          <p:nvPr/>
        </p:nvSpPr>
        <p:spPr>
          <a:xfrm>
            <a:off x="6585843" y="5180608"/>
            <a:ext cx="2482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白色嘴筒与肚皮用柔和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渐变衔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接。</a:t>
            </a:r>
          </a:p>
        </p:txBody>
      </p:sp>
      <p:sp>
        <p:nvSpPr>
          <p:cNvPr id="25" name="Text: 材质意向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材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质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意向</a:t>
            </a:r>
          </a:p>
        </p:txBody>
      </p:sp>
      <p:sp>
        <p:nvSpPr>
          <p:cNvPr id="26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7" name="Text: 绒料、渐变工艺与填充规格待打样"/>
          <p:cNvSpPr txBox="1"/>
          <p:nvPr/>
        </p:nvSpPr>
        <p:spPr>
          <a:xfrm>
            <a:off x="1150938" y="6095262"/>
            <a:ext cx="19114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料、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渐变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工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与填充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格待打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</a:p>
        </p:txBody>
      </p:sp>
      <p:sp>
        <p:nvSpPr>
          <p:cNvPr id="2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5" name="Text: 24"/>
          <p:cNvSpPr txBox="1"/>
          <p:nvPr/>
        </p:nvSpPr>
        <p:spPr>
          <a:xfrm>
            <a:off x="11273929" y="6466713"/>
            <a:ext cx="2088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24</a:t>
            </a:r>
          </a:p>
        </p:txBody>
      </p:sp>
      <p:sp>
        <p:nvSpPr>
          <p:cNvPr id="36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STRUCTURE"/>
          <p:cNvSpPr txBox="1"/>
          <p:nvPr/>
        </p:nvSpPr>
        <p:spPr>
          <a:xfrm>
            <a:off x="978892" y="400748"/>
            <a:ext cx="1081881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STRUCTURE</a:t>
            </a:r>
          </a:p>
        </p:txBody>
      </p:sp>
      <p:sp>
        <p:nvSpPr>
          <p:cNvPr id="5" name="Text: 拥抱需要一条独立、可保持的机械路径。"/>
          <p:cNvSpPr txBox="1"/>
          <p:nvPr/>
        </p:nvSpPr>
        <p:spPr>
          <a:xfrm>
            <a:off x="571500" y="706374"/>
            <a:ext cx="75311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拥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抱需要一条独立、可保持的机械路径。</a:t>
            </a:r>
          </a:p>
        </p:txBody>
      </p:sp>
      <p:sp>
        <p:nvSpPr>
          <p:cNvPr id="6" name="Editable SVG path"/>
          <p:cNvSpPr/>
          <p:nvPr/>
        </p:nvSpPr>
        <p:spPr>
          <a:xfrm>
            <a:off x="3454400" y="1942637"/>
            <a:ext cx="318" cy="3454400"/>
          </a:xfrm>
          <a:custGeom>
            <a:avLst/>
            <a:gdLst/>
            <a:ahLst/>
            <a:cxnLst/>
            <a:rect l="0" t="0" r="r" b="b"/>
            <a:pathLst>
              <a:path w="318" h="3454400" fill="norm" stroke="1">
                <a:moveTo>
                  <a:pt x="0" y="0"/>
                </a:moveTo>
                <a:lnTo>
                  <a:pt x="0" y="3454400"/>
                </a:lnTo>
              </a:path>
            </a:pathLst>
          </a:custGeom>
          <a:solidFill>
            <a:srgbClr val="000000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 ellipse"/>
          <p:cNvSpPr/>
          <p:nvPr/>
        </p:nvSpPr>
        <p:spPr>
          <a:xfrm>
            <a:off x="2133600" y="1827490"/>
            <a:ext cx="2641600" cy="568960"/>
          </a:xfrm>
          <a:prstGeom prst="ellipse">
            <a:avLst/>
          </a:prstGeom>
          <a:solidFill>
            <a:srgbClr val="F1D997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SVG path"/>
          <p:cNvSpPr/>
          <p:nvPr/>
        </p:nvSpPr>
        <p:spPr>
          <a:xfrm>
            <a:off x="4775200" y="2111970"/>
            <a:ext cx="1998134" cy="318"/>
          </a:xfrm>
          <a:custGeom>
            <a:avLst/>
            <a:gdLst/>
            <a:ahLst/>
            <a:cxnLst/>
            <a:rect l="0" t="0" r="r" b="b"/>
            <a:pathLst>
              <a:path w="1998134" h="318" fill="none" stroke="1">
                <a:moveTo>
                  <a:pt x="0" y="0"/>
                </a:moveTo>
                <a:lnTo>
                  <a:pt x="19981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外部绒布 / 内衬：亲肤接触层"/>
          <p:cNvSpPr txBox="1"/>
          <p:nvPr/>
        </p:nvSpPr>
        <p:spPr>
          <a:xfrm>
            <a:off x="6976533" y="1953881"/>
            <a:ext cx="240853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外部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布 / 内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衬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亲肤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接触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10" name="Editable vector ellipse"/>
          <p:cNvSpPr/>
          <p:nvPr/>
        </p:nvSpPr>
        <p:spPr>
          <a:xfrm>
            <a:off x="2438400" y="2552237"/>
            <a:ext cx="2032000" cy="406400"/>
          </a:xfrm>
          <a:prstGeom prst="ellipse">
            <a:avLst/>
          </a:prstGeom>
          <a:solidFill>
            <a:srgbClr val="E4E7E2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SVG path"/>
          <p:cNvSpPr/>
          <p:nvPr/>
        </p:nvSpPr>
        <p:spPr>
          <a:xfrm>
            <a:off x="4470400" y="2755437"/>
            <a:ext cx="2302934" cy="318"/>
          </a:xfrm>
          <a:custGeom>
            <a:avLst/>
            <a:gdLst/>
            <a:ahLst/>
            <a:cxnLst/>
            <a:rect l="0" t="0" r="r" b="b"/>
            <a:pathLst>
              <a:path w="2302934" h="318" fill="none" stroke="1">
                <a:moveTo>
                  <a:pt x="0" y="0"/>
                </a:moveTo>
                <a:lnTo>
                  <a:pt x="23029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: 上半身框架：隔离手指可触及夹点"/>
          <p:cNvSpPr txBox="1"/>
          <p:nvPr/>
        </p:nvSpPr>
        <p:spPr>
          <a:xfrm>
            <a:off x="6976533" y="2597347"/>
            <a:ext cx="2741910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上半身框架：隔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离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手指可触及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点</a:t>
            </a:r>
          </a:p>
        </p:txBody>
      </p:sp>
      <p:sp>
        <p:nvSpPr>
          <p:cNvPr id="13" name="Editable vector ellipse"/>
          <p:cNvSpPr/>
          <p:nvPr/>
        </p:nvSpPr>
        <p:spPr>
          <a:xfrm>
            <a:off x="2709333" y="3168610"/>
            <a:ext cx="1490133" cy="325120"/>
          </a:xfrm>
          <a:prstGeom prst="ellipse">
            <a:avLst/>
          </a:prstGeom>
          <a:solidFill>
            <a:srgbClr val="F2D7CB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SVG path"/>
          <p:cNvSpPr/>
          <p:nvPr/>
        </p:nvSpPr>
        <p:spPr>
          <a:xfrm>
            <a:off x="4199467" y="3331170"/>
            <a:ext cx="2573867" cy="318"/>
          </a:xfrm>
          <a:custGeom>
            <a:avLst/>
            <a:gdLst/>
            <a:ahLst/>
            <a:cxnLst/>
            <a:rect l="0" t="0" r="r" b="b"/>
            <a:pathLst>
              <a:path w="2573867" h="318" fill="none" stroke="1">
                <a:moveTo>
                  <a:pt x="0" y="0"/>
                </a:moveTo>
                <a:lnTo>
                  <a:pt x="2573867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腹部挤压板：接收捏压力"/>
          <p:cNvSpPr txBox="1"/>
          <p:nvPr/>
        </p:nvSpPr>
        <p:spPr>
          <a:xfrm>
            <a:off x="6976533" y="3173081"/>
            <a:ext cx="2037853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腹部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挤压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板：接收捏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力</a:t>
            </a:r>
          </a:p>
        </p:txBody>
      </p:sp>
      <p:sp>
        <p:nvSpPr>
          <p:cNvPr id="16" name="Editable vector ellipse"/>
          <p:cNvSpPr/>
          <p:nvPr/>
        </p:nvSpPr>
        <p:spPr>
          <a:xfrm>
            <a:off x="2540000" y="3751117"/>
            <a:ext cx="1828800" cy="311574"/>
          </a:xfrm>
          <a:prstGeom prst="ellipse">
            <a:avLst/>
          </a:prstGeom>
          <a:solidFill>
            <a:srgbClr val="CDDFE4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SVG path"/>
          <p:cNvSpPr/>
          <p:nvPr/>
        </p:nvSpPr>
        <p:spPr>
          <a:xfrm>
            <a:off x="4368800" y="3906903"/>
            <a:ext cx="2404534" cy="318"/>
          </a:xfrm>
          <a:custGeom>
            <a:avLst/>
            <a:gdLst/>
            <a:ahLst/>
            <a:cxnLst/>
            <a:rect l="0" t="0" r="r" b="b"/>
            <a:pathLst>
              <a:path w="2404534" h="318" fill="none" stroke="1">
                <a:moveTo>
                  <a:pt x="0" y="0"/>
                </a:moveTo>
                <a:lnTo>
                  <a:pt x="2404533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连杆 → 前爪：把按压转成内合"/>
          <p:cNvSpPr txBox="1"/>
          <p:nvPr/>
        </p:nvSpPr>
        <p:spPr>
          <a:xfrm>
            <a:off x="6976533" y="3748814"/>
            <a:ext cx="249013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连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杆 → 前爪：把按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压转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成内合</a:t>
            </a:r>
          </a:p>
        </p:txBody>
      </p:sp>
      <p:sp>
        <p:nvSpPr>
          <p:cNvPr id="19" name="Editable vector ellipse"/>
          <p:cNvSpPr/>
          <p:nvPr/>
        </p:nvSpPr>
        <p:spPr>
          <a:xfrm>
            <a:off x="2675467" y="4313303"/>
            <a:ext cx="1557867" cy="338667"/>
          </a:xfrm>
          <a:prstGeom prst="ellipse">
            <a:avLst/>
          </a:prstGeom>
          <a:solidFill>
            <a:srgbClr val="E3D3D9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SVG path"/>
          <p:cNvSpPr/>
          <p:nvPr/>
        </p:nvSpPr>
        <p:spPr>
          <a:xfrm>
            <a:off x="4233333" y="4482637"/>
            <a:ext cx="2540000" cy="318"/>
          </a:xfrm>
          <a:custGeom>
            <a:avLst/>
            <a:gdLst/>
            <a:ahLst/>
            <a:cxnLst/>
            <a:rect l="0" t="0" r="r" b="b"/>
            <a:pathLst>
              <a:path w="2540000" h="318" fill="none" stroke="1">
                <a:moveTo>
                  <a:pt x="0" y="0"/>
                </a:moveTo>
                <a:lnTo>
                  <a:pt x="254000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: 越中心保持 / 可回掰释放：候选机构"/>
          <p:cNvSpPr txBox="1"/>
          <p:nvPr/>
        </p:nvSpPr>
        <p:spPr>
          <a:xfrm>
            <a:off x="6976533" y="4324547"/>
            <a:ext cx="2936577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越中心保持 / 可回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掰释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放：候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</a:p>
        </p:txBody>
      </p:sp>
      <p:sp>
        <p:nvSpPr>
          <p:cNvPr id="22" name="Editable vector ellipse"/>
          <p:cNvSpPr/>
          <p:nvPr/>
        </p:nvSpPr>
        <p:spPr>
          <a:xfrm>
            <a:off x="2370667" y="4889037"/>
            <a:ext cx="2167467" cy="541867"/>
          </a:xfrm>
          <a:prstGeom prst="ellipse">
            <a:avLst/>
          </a:prstGeom>
          <a:solidFill>
            <a:srgbClr val="E7DFC9"/>
          </a:solidFill>
          <a:ln w="13546">
            <a:solidFill>
              <a:srgbClr val="C8BE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SVG path"/>
          <p:cNvSpPr/>
          <p:nvPr/>
        </p:nvSpPr>
        <p:spPr>
          <a:xfrm>
            <a:off x="4538133" y="5159970"/>
            <a:ext cx="2235200" cy="318"/>
          </a:xfrm>
          <a:custGeom>
            <a:avLst/>
            <a:gdLst/>
            <a:ahLst/>
            <a:cxnLst/>
            <a:rect l="0" t="0" r="r" b="b"/>
            <a:pathLst>
              <a:path w="2235200" h="318" fill="none" stroke="1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13546">
            <a:solidFill>
              <a:srgbClr val="C7BC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: 下腹豆袋：密封内袋，远离传动"/>
          <p:cNvSpPr txBox="1"/>
          <p:nvPr/>
        </p:nvSpPr>
        <p:spPr>
          <a:xfrm>
            <a:off x="6976533" y="5001881"/>
            <a:ext cx="2565895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下腹豆袋：密封内袋，</a:t>
            </a:r>
            <a:r>
              <a:rPr sz="1386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远离传动</a:t>
            </a:r>
          </a:p>
        </p:txBody>
      </p:sp>
      <p:sp>
        <p:nvSpPr>
          <p:cNvPr id="25" name="Text: 尾部磁吸：独立封装模块"/>
          <p:cNvSpPr txBox="1"/>
          <p:nvPr/>
        </p:nvSpPr>
        <p:spPr>
          <a:xfrm>
            <a:off x="8280764" y="5083347"/>
            <a:ext cx="196353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33"/>
              </a:lnSpc>
              <a:spcBef>
                <a:spcPts val="0"/>
              </a:spcBef>
              <a:spcAft>
                <a:spcPts val="0"/>
              </a:spcAft>
            </a:pPr>
            <a:r>
              <a:rPr sz="133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尾部磁吸：独立封装模</a:t>
            </a:r>
            <a:r>
              <a:rPr sz="133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块</a:t>
            </a:r>
          </a:p>
        </p:txBody>
      </p:sp>
      <p:sp>
        <p:nvSpPr>
          <p:cNvPr id="26" name="Text: 概念爆炸示意 / 非工程图"/>
          <p:cNvSpPr txBox="1"/>
          <p:nvPr/>
        </p:nvSpPr>
        <p:spPr>
          <a:xfrm>
            <a:off x="2627362" y="5550842"/>
            <a:ext cx="1755676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173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概念爆炸示意 / 非工程</a:t>
            </a:r>
            <a:r>
              <a:rPr sz="1173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</a:p>
        </p:txBody>
      </p:sp>
      <p:sp>
        <p:nvSpPr>
          <p:cNvPr id="27" name="Text: 概念结构"/>
          <p:cNvSpPr txBox="1"/>
          <p:nvPr/>
        </p:nvSpPr>
        <p:spPr>
          <a:xfrm>
            <a:off x="571500" y="6095262"/>
            <a:ext cx="5842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28" name="Text: ·"/>
          <p:cNvSpPr txBox="1"/>
          <p:nvPr/>
        </p:nvSpPr>
        <p:spPr>
          <a:xfrm>
            <a:off x="10878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29" name="Text: 保持、释放、夹力与寿命均待工程验证"/>
          <p:cNvSpPr txBox="1"/>
          <p:nvPr/>
        </p:nvSpPr>
        <p:spPr>
          <a:xfrm>
            <a:off x="1150938" y="6095262"/>
            <a:ext cx="21527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保持、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放、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力与寿命均待工程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3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7" name="Text: 25"/>
          <p:cNvSpPr txBox="1"/>
          <p:nvPr/>
        </p:nvSpPr>
        <p:spPr>
          <a:xfrm>
            <a:off x="11276707" y="6466713"/>
            <a:ext cx="20597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25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AI"/>
          <p:cNvSpPr txBox="1"/>
          <p:nvPr/>
        </p:nvSpPr>
        <p:spPr>
          <a:xfrm>
            <a:off x="975519" y="400748"/>
            <a:ext cx="27027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5" name="Text: DESIGN"/>
          <p:cNvSpPr txBox="1"/>
          <p:nvPr/>
        </p:nvSpPr>
        <p:spPr>
          <a:xfrm>
            <a:off x="1206798" y="400748"/>
            <a:ext cx="71407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DESIGN</a:t>
            </a:r>
          </a:p>
        </p:txBody>
      </p:sp>
      <p:sp>
        <p:nvSpPr>
          <p:cNvPr id="6" name="Text: EXECUTION"/>
          <p:cNvSpPr txBox="1"/>
          <p:nvPr/>
        </p:nvSpPr>
        <p:spPr>
          <a:xfrm>
            <a:off x="1881882" y="400748"/>
            <a:ext cx="104011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EXECUTION</a:t>
            </a:r>
          </a:p>
        </p:txBody>
      </p:sp>
      <p:sp>
        <p:nvSpPr>
          <p:cNvPr id="7" name="Text: AI"/>
          <p:cNvSpPr txBox="1"/>
          <p:nvPr/>
        </p:nvSpPr>
        <p:spPr>
          <a:xfrm>
            <a:off x="571500" y="706374"/>
            <a:ext cx="473174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8" name="Text: 产出候选，人负责证据与取舍。"/>
          <p:cNvSpPr txBox="1"/>
          <p:nvPr/>
        </p:nvSpPr>
        <p:spPr>
          <a:xfrm>
            <a:off x="1063129" y="706374"/>
            <a:ext cx="588019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出候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，人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负责证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据与取舍。</a:t>
            </a:r>
          </a:p>
        </p:txBody>
      </p:sp>
      <p:sp>
        <p:nvSpPr>
          <p:cNvPr id="9" name="Editable rounded card"/>
          <p:cNvSpPr/>
          <p:nvPr/>
        </p:nvSpPr>
        <p:spPr>
          <a:xfrm>
            <a:off x="57150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: Research"/>
          <p:cNvSpPr txBox="1"/>
          <p:nvPr/>
        </p:nvSpPr>
        <p:spPr>
          <a:xfrm>
            <a:off x="762000" y="2102890"/>
            <a:ext cx="89415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Research</a:t>
            </a:r>
          </a:p>
        </p:txBody>
      </p:sp>
      <p:sp>
        <p:nvSpPr>
          <p:cNvPr id="11" name="Text: 研究助理"/>
          <p:cNvSpPr txBox="1"/>
          <p:nvPr/>
        </p:nvSpPr>
        <p:spPr>
          <a:xfrm>
            <a:off x="762000" y="2531832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研究助理</a:t>
            </a:r>
          </a:p>
        </p:txBody>
      </p:sp>
      <p:sp>
        <p:nvSpPr>
          <p:cNvPr id="12" name="Text: 交付：产品与行为索引；验收："/>
          <p:cNvSpPr txBox="1"/>
          <p:nvPr/>
        </p:nvSpPr>
        <p:spPr>
          <a:xfrm>
            <a:off x="76200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品与行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索引；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13" name="Text: 每条事实可追溯。"/>
          <p:cNvSpPr txBox="1"/>
          <p:nvPr/>
        </p:nvSpPr>
        <p:spPr>
          <a:xfrm>
            <a:off x="76200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每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条事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可追溯。</a:t>
            </a:r>
          </a:p>
        </p:txBody>
      </p:sp>
      <p:sp>
        <p:nvSpPr>
          <p:cNvPr id="14" name="Editable rounded card"/>
          <p:cNvSpPr/>
          <p:nvPr/>
        </p:nvSpPr>
        <p:spPr>
          <a:xfrm>
            <a:off x="337502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: Concept"/>
          <p:cNvSpPr txBox="1"/>
          <p:nvPr/>
        </p:nvSpPr>
        <p:spPr>
          <a:xfrm>
            <a:off x="3565525" y="2102890"/>
            <a:ext cx="82014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Concept</a:t>
            </a:r>
          </a:p>
        </p:txBody>
      </p:sp>
      <p:sp>
        <p:nvSpPr>
          <p:cNvPr id="16" name="Text: 概念设计师"/>
          <p:cNvSpPr txBox="1"/>
          <p:nvPr/>
        </p:nvSpPr>
        <p:spPr>
          <a:xfrm>
            <a:off x="356552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设计师</a:t>
            </a:r>
          </a:p>
        </p:txBody>
      </p:sp>
      <p:sp>
        <p:nvSpPr>
          <p:cNvPr id="17" name="Text: 交付：统一造型与场景；验收："/>
          <p:cNvSpPr txBox="1"/>
          <p:nvPr/>
        </p:nvSpPr>
        <p:spPr>
          <a:xfrm>
            <a:off x="3565525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一造型与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18" name="Text: 比例、耳鼻、色彩一致。"/>
          <p:cNvSpPr txBox="1"/>
          <p:nvPr/>
        </p:nvSpPr>
        <p:spPr>
          <a:xfrm>
            <a:off x="3565525" y="3285133"/>
            <a:ext cx="184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比例、耳鼻、色彩一致。</a:t>
            </a:r>
          </a:p>
        </p:txBody>
      </p:sp>
      <p:sp>
        <p:nvSpPr>
          <p:cNvPr id="19" name="Editable rounded card"/>
          <p:cNvSpPr/>
          <p:nvPr/>
        </p:nvSpPr>
        <p:spPr>
          <a:xfrm>
            <a:off x="6178550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: Structure"/>
          <p:cNvSpPr txBox="1"/>
          <p:nvPr/>
        </p:nvSpPr>
        <p:spPr>
          <a:xfrm>
            <a:off x="6369050" y="2102890"/>
            <a:ext cx="92938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Structure</a:t>
            </a:r>
          </a:p>
        </p:txBody>
      </p:sp>
      <p:sp>
        <p:nvSpPr>
          <p:cNvPr id="21" name="Text: 结构助理"/>
          <p:cNvSpPr txBox="1"/>
          <p:nvPr/>
        </p:nvSpPr>
        <p:spPr>
          <a:xfrm>
            <a:off x="6369050" y="2531832"/>
            <a:ext cx="914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助理</a:t>
            </a:r>
          </a:p>
        </p:txBody>
      </p:sp>
      <p:sp>
        <p:nvSpPr>
          <p:cNvPr id="22" name="Text: 交付：机构候选与风险；验收："/>
          <p:cNvSpPr txBox="1"/>
          <p:nvPr/>
        </p:nvSpPr>
        <p:spPr>
          <a:xfrm>
            <a:off x="6369050" y="29993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候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选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风险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</a:p>
        </p:txBody>
      </p:sp>
      <p:sp>
        <p:nvSpPr>
          <p:cNvPr id="23" name="Text: 由工程样机证实。"/>
          <p:cNvSpPr txBox="1"/>
          <p:nvPr/>
        </p:nvSpPr>
        <p:spPr>
          <a:xfrm>
            <a:off x="6369050" y="3285133"/>
            <a:ext cx="1371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由工程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证实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4" name="Editable rounded card"/>
          <p:cNvSpPr/>
          <p:nvPr/>
        </p:nvSpPr>
        <p:spPr>
          <a:xfrm>
            <a:off x="8982075" y="1889720"/>
            <a:ext cx="2638425" cy="2127250"/>
          </a:xfrm>
          <a:custGeom>
            <a:avLst/>
            <a:gdLst/>
            <a:ahLst/>
            <a:cxnLst/>
            <a:rect l="0" t="0" r="r" b="b"/>
            <a:pathLst>
              <a:path w="2638425" h="2127250" fill="norm" stroke="0">
                <a:moveTo>
                  <a:pt x="190500" y="0"/>
                </a:moveTo>
                <a:lnTo>
                  <a:pt x="2447925" y="0"/>
                </a:lnTo>
                <a:cubicBezTo>
                  <a:pt x="2553135" y="0"/>
                  <a:pt x="2638425" y="85290"/>
                  <a:pt x="2638425" y="190500"/>
                </a:cubicBezTo>
                <a:lnTo>
                  <a:pt x="2638425" y="1936750"/>
                </a:lnTo>
                <a:cubicBezTo>
                  <a:pt x="2638425" y="2041960"/>
                  <a:pt x="2553135" y="2127250"/>
                  <a:pt x="2447925" y="2127250"/>
                </a:cubicBezTo>
                <a:lnTo>
                  <a:pt x="190500" y="2127250"/>
                </a:lnTo>
                <a:cubicBezTo>
                  <a:pt x="85290" y="2127250"/>
                  <a:pt x="0" y="2041960"/>
                  <a:pt x="0" y="1936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DEA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: Visual"/>
          <p:cNvSpPr txBox="1"/>
          <p:nvPr/>
        </p:nvSpPr>
        <p:spPr>
          <a:xfrm>
            <a:off x="9172575" y="2102890"/>
            <a:ext cx="62031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Visual</a:t>
            </a:r>
          </a:p>
        </p:txBody>
      </p:sp>
      <p:sp>
        <p:nvSpPr>
          <p:cNvPr id="26" name="Text: 视觉设计师"/>
          <p:cNvSpPr txBox="1"/>
          <p:nvPr/>
        </p:nvSpPr>
        <p:spPr>
          <a:xfrm>
            <a:off x="9172575" y="2531832"/>
            <a:ext cx="11176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视觉设计师</a:t>
            </a:r>
          </a:p>
        </p:txBody>
      </p:sp>
      <p:sp>
        <p:nvSpPr>
          <p:cNvPr id="27" name="Text: 交付：讲解图与品牌页面；验"/>
          <p:cNvSpPr txBox="1"/>
          <p:nvPr/>
        </p:nvSpPr>
        <p:spPr>
          <a:xfrm>
            <a:off x="9172575" y="299938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交付：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讲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解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与品牌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面；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</a:p>
        </p:txBody>
      </p:sp>
      <p:sp>
        <p:nvSpPr>
          <p:cNvPr id="28" name="Text: 收：结论清楚、假设可见。"/>
          <p:cNvSpPr txBox="1"/>
          <p:nvPr/>
        </p:nvSpPr>
        <p:spPr>
          <a:xfrm>
            <a:off x="9172575" y="3285133"/>
            <a:ext cx="200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清楚、假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见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9" name="Editable rounded card"/>
          <p:cNvSpPr/>
          <p:nvPr/>
        </p:nvSpPr>
        <p:spPr>
          <a:xfrm>
            <a:off x="571500" y="4524970"/>
            <a:ext cx="11049000" cy="942280"/>
          </a:xfrm>
          <a:custGeom>
            <a:avLst/>
            <a:gdLst/>
            <a:ahLst/>
            <a:cxnLst/>
            <a:rect l="0" t="0" r="r" b="b"/>
            <a:pathLst>
              <a:path w="11049000" h="942280" fill="norm" stroke="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789880"/>
                </a:lnTo>
                <a:cubicBezTo>
                  <a:pt x="11049000" y="874049"/>
                  <a:pt x="10980768" y="942280"/>
                  <a:pt x="10896600" y="942280"/>
                </a:cubicBezTo>
                <a:lnTo>
                  <a:pt x="152400" y="942280"/>
                </a:lnTo>
                <a:cubicBezTo>
                  <a:pt x="68232" y="942280"/>
                  <a:pt x="0" y="874049"/>
                  <a:pt x="0" y="78988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E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: 设计总监的门槛：来源、造型、机构、成本，四道验收。"/>
          <p:cNvSpPr txBox="1"/>
          <p:nvPr/>
        </p:nvSpPr>
        <p:spPr>
          <a:xfrm>
            <a:off x="787400" y="4693118"/>
            <a:ext cx="4546699" cy="292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设计总监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的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门槛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：来源、造型、机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、成本，四道</a:t>
            </a:r>
            <a:r>
              <a:rPr sz="14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  <a:r>
              <a:rPr sz="14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收。</a:t>
            </a:r>
          </a:p>
        </p:txBody>
      </p:sp>
      <p:sp>
        <p:nvSpPr>
          <p:cNvPr id="31" name="Text: 本轮已完成"/>
          <p:cNvSpPr txBox="1"/>
          <p:nvPr/>
        </p:nvSpPr>
        <p:spPr>
          <a:xfrm>
            <a:off x="787400" y="5042075"/>
            <a:ext cx="8636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本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轮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已完成</a:t>
            </a:r>
          </a:p>
        </p:txBody>
      </p:sp>
      <p:sp>
        <p:nvSpPr>
          <p:cNvPr id="32" name="Text: AI"/>
          <p:cNvSpPr txBox="1"/>
          <p:nvPr/>
        </p:nvSpPr>
        <p:spPr>
          <a:xfrm>
            <a:off x="1592064" y="5042075"/>
            <a:ext cx="23624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33" name="Text: 场景与页面执行；品牌产品已核对官方总览；用户研究与机构性能仍待验证。"/>
          <p:cNvSpPr txBox="1"/>
          <p:nvPr/>
        </p:nvSpPr>
        <p:spPr>
          <a:xfrm>
            <a:off x="1769269" y="5042075"/>
            <a:ext cx="52832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景与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行；品牌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品已核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；用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研究与机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性能仍待</a:t>
            </a:r>
            <a:r>
              <a:rPr sz="12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4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5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6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37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8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9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0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1" name="Text: 26"/>
          <p:cNvSpPr txBox="1"/>
          <p:nvPr/>
        </p:nvSpPr>
        <p:spPr>
          <a:xfrm>
            <a:off x="11273929" y="6466713"/>
            <a:ext cx="208855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26</a:t>
            </a:r>
          </a:p>
        </p:txBody>
      </p:sp>
      <p:sp>
        <p:nvSpPr>
          <p:cNvPr id="42" name="Text: /"/>
          <p:cNvSpPr txBox="1"/>
          <p:nvPr/>
        </p:nvSpPr>
        <p:spPr>
          <a:xfrm>
            <a:off x="1141313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3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LESS"/>
          <p:cNvSpPr txBox="1"/>
          <p:nvPr/>
        </p:nvSpPr>
        <p:spPr>
          <a:xfrm>
            <a:off x="975519" y="400748"/>
            <a:ext cx="51752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LESS</a:t>
            </a:r>
          </a:p>
        </p:txBody>
      </p:sp>
      <p:sp>
        <p:nvSpPr>
          <p:cNvPr id="5" name="Text: BUT"/>
          <p:cNvSpPr txBox="1"/>
          <p:nvPr/>
        </p:nvSpPr>
        <p:spPr>
          <a:xfrm>
            <a:off x="1454051" y="400748"/>
            <a:ext cx="4284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BUT</a:t>
            </a:r>
          </a:p>
        </p:txBody>
      </p:sp>
      <p:sp>
        <p:nvSpPr>
          <p:cNvPr id="6" name="Text: STRONGER"/>
          <p:cNvSpPr txBox="1"/>
          <p:nvPr/>
        </p:nvSpPr>
        <p:spPr>
          <a:xfrm>
            <a:off x="1843584" y="400748"/>
            <a:ext cx="99238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STRONGER</a:t>
            </a:r>
          </a:p>
        </p:txBody>
      </p:sp>
      <p:sp>
        <p:nvSpPr>
          <p:cNvPr id="7" name="Text: 不断删减，才留下最强的那个动作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不断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删减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，才留下最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强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的那个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111970"/>
            <a:ext cx="2077641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71500" y="2111970"/>
            <a:ext cx="2077641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10" name="Text: 01"/>
          <p:cNvSpPr txBox="1"/>
          <p:nvPr/>
        </p:nvSpPr>
        <p:spPr>
          <a:xfrm>
            <a:off x="698500" y="2278594"/>
            <a:ext cx="462161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1" name="Text: 晚安海豹"/>
          <p:cNvSpPr txBox="1"/>
          <p:nvPr/>
        </p:nvSpPr>
        <p:spPr>
          <a:xfrm>
            <a:off x="698500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晚</a:t>
            </a: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安海豹</a:t>
            </a:r>
          </a:p>
        </p:txBody>
      </p:sp>
      <p:sp>
        <p:nvSpPr>
          <p:cNvPr id="12" name="Text: 探索安抚与陪伴"/>
          <p:cNvSpPr txBox="1"/>
          <p:nvPr/>
        </p:nvSpPr>
        <p:spPr>
          <a:xfrm>
            <a:off x="698500" y="3647083"/>
            <a:ext cx="1212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探索安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抚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与陪伴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4241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814241" y="2111970"/>
            <a:ext cx="2077739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15" name="Text: 02"/>
          <p:cNvSpPr txBox="1"/>
          <p:nvPr/>
        </p:nvSpPr>
        <p:spPr>
          <a:xfrm>
            <a:off x="2941241" y="2278594"/>
            <a:ext cx="487362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6" name="Text: 旅行陪伴"/>
          <p:cNvSpPr txBox="1"/>
          <p:nvPr/>
        </p:nvSpPr>
        <p:spPr>
          <a:xfrm>
            <a:off x="2941241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旅行陪伴</a:t>
            </a:r>
          </a:p>
        </p:txBody>
      </p:sp>
      <p:sp>
        <p:nvSpPr>
          <p:cNvPr id="17" name="Text: 转向随身场景"/>
          <p:cNvSpPr txBox="1"/>
          <p:nvPr/>
        </p:nvSpPr>
        <p:spPr>
          <a:xfrm>
            <a:off x="2941241" y="364708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转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向随身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7080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057080" y="2111970"/>
            <a:ext cx="2077740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20" name="Text: 03"/>
          <p:cNvSpPr txBox="1"/>
          <p:nvPr/>
        </p:nvSpPr>
        <p:spPr>
          <a:xfrm>
            <a:off x="5184080" y="2278594"/>
            <a:ext cx="503138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1" name="Text: 花枝鼠"/>
          <p:cNvSpPr txBox="1"/>
          <p:nvPr/>
        </p:nvSpPr>
        <p:spPr>
          <a:xfrm>
            <a:off x="5184080" y="3140289"/>
            <a:ext cx="7493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花枝鼠</a:t>
            </a:r>
          </a:p>
        </p:txBody>
      </p:sp>
      <p:sp>
        <p:nvSpPr>
          <p:cNvPr id="22" name="Text: 建立校园命名与体态"/>
          <p:cNvSpPr txBox="1"/>
          <p:nvPr/>
        </p:nvSpPr>
        <p:spPr>
          <a:xfrm>
            <a:off x="5184080" y="3647083"/>
            <a:ext cx="153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建立校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命名与体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9920" y="2111970"/>
            <a:ext cx="2077740" cy="2000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299920" y="2111970"/>
            <a:ext cx="2077740" cy="0"/>
          </a:xfrm>
          <a:prstGeom prst="line">
            <a:avLst/>
          </a:prstGeom>
          <a:ln w="12700">
            <a:solidFill>
              <a:srgbClr val="D9CCB9"/>
            </a:solidFill>
          </a:ln>
          <a:effectLst/>
        </p:spPr>
      </p:cxnSp>
      <p:sp>
        <p:nvSpPr>
          <p:cNvPr id="25" name="Text: 04"/>
          <p:cNvSpPr txBox="1"/>
          <p:nvPr/>
        </p:nvSpPr>
        <p:spPr>
          <a:xfrm>
            <a:off x="7426920" y="2278594"/>
            <a:ext cx="50680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BCA98E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6" name="Text: 多交互探索"/>
          <p:cNvSpPr txBox="1"/>
          <p:nvPr/>
        </p:nvSpPr>
        <p:spPr>
          <a:xfrm>
            <a:off x="7426920" y="3140289"/>
            <a:ext cx="11811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多交互探索</a:t>
            </a:r>
          </a:p>
        </p:txBody>
      </p:sp>
      <p:sp>
        <p:nvSpPr>
          <p:cNvPr id="27" name="Text: 减少机构与记忆负担"/>
          <p:cNvSpPr txBox="1"/>
          <p:nvPr/>
        </p:nvSpPr>
        <p:spPr>
          <a:xfrm>
            <a:off x="7426920" y="3647083"/>
            <a:ext cx="153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减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少机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记忆负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担</a:t>
            </a:r>
          </a:p>
        </p:txBody>
      </p:sp>
      <p:sp>
        <p:nvSpPr>
          <p:cNvPr id="28" name="Editable rounded card"/>
          <p:cNvSpPr/>
          <p:nvPr/>
        </p:nvSpPr>
        <p:spPr>
          <a:xfrm>
            <a:off x="9542760" y="2111970"/>
            <a:ext cx="2077740" cy="2000250"/>
          </a:xfrm>
          <a:custGeom>
            <a:avLst/>
            <a:gdLst/>
            <a:ahLst/>
            <a:cxnLst/>
            <a:rect l="0" t="0" r="r" b="b"/>
            <a:pathLst>
              <a:path w="2077740" h="2000250" fill="norm" stroke="0">
                <a:moveTo>
                  <a:pt x="0" y="0"/>
                </a:moveTo>
                <a:lnTo>
                  <a:pt x="2077740" y="0"/>
                </a:lnTo>
                <a:cubicBezTo>
                  <a:pt x="2077740" y="0"/>
                  <a:pt x="2077740" y="0"/>
                  <a:pt x="2077740" y="0"/>
                </a:cubicBezTo>
                <a:lnTo>
                  <a:pt x="2077740" y="1841500"/>
                </a:lnTo>
                <a:cubicBezTo>
                  <a:pt x="2077740" y="1929175"/>
                  <a:pt x="2006665" y="2000250"/>
                  <a:pt x="1918990" y="2000250"/>
                </a:cubicBezTo>
                <a:lnTo>
                  <a:pt x="158750" y="2000250"/>
                </a:lnTo>
                <a:cubicBezTo>
                  <a:pt x="71075" y="2000250"/>
                  <a:pt x="0" y="1929175"/>
                  <a:pt x="0" y="1841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0DD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42760" y="2111970"/>
            <a:ext cx="2077740" cy="0"/>
          </a:xfrm>
          <a:prstGeom prst="line">
            <a:avLst/>
          </a:prstGeom>
          <a:ln w="12700">
            <a:solidFill>
              <a:srgbClr val="E07B51"/>
            </a:solidFill>
          </a:ln>
          <a:effectLst/>
        </p:spPr>
      </p:cxnSp>
      <p:sp>
        <p:nvSpPr>
          <p:cNvPr id="30" name="Text: 05"/>
          <p:cNvSpPr txBox="1"/>
          <p:nvPr/>
        </p:nvSpPr>
        <p:spPr>
          <a:xfrm>
            <a:off x="9669760" y="2278594"/>
            <a:ext cx="496689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1" name="Text: 捏压拥抱"/>
          <p:cNvSpPr txBox="1"/>
          <p:nvPr/>
        </p:nvSpPr>
        <p:spPr>
          <a:xfrm>
            <a:off x="9669760" y="3140289"/>
            <a:ext cx="965200" cy="34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6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捏</a:t>
            </a:r>
            <a:r>
              <a:rPr sz="17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压拥</a:t>
            </a:r>
            <a:r>
              <a:rPr sz="17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抱</a:t>
            </a:r>
          </a:p>
        </p:txBody>
      </p:sp>
      <p:sp>
        <p:nvSpPr>
          <p:cNvPr id="32" name="Text: 保留可演示的第一动作"/>
          <p:cNvSpPr txBox="1"/>
          <p:nvPr/>
        </p:nvSpPr>
        <p:spPr>
          <a:xfrm>
            <a:off x="9669760" y="3647083"/>
            <a:ext cx="168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保留可演示的第一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33" name="Text: 删去的是功能数量，留下的是行为辨识度。"/>
          <p:cNvSpPr txBox="1"/>
          <p:nvPr/>
        </p:nvSpPr>
        <p:spPr>
          <a:xfrm>
            <a:off x="3863975" y="4643525"/>
            <a:ext cx="45656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删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去的是功能数量，留下的是行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辨</a:t>
            </a:r>
            <a:r>
              <a:rPr sz="185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识</a:t>
            </a:r>
            <a:r>
              <a:rPr sz="185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度。</a:t>
            </a:r>
          </a:p>
        </p:txBody>
      </p:sp>
      <p:sp>
        <p:nvSpPr>
          <p:cNvPr id="34" name="Text: 概念演进复盘"/>
          <p:cNvSpPr txBox="1"/>
          <p:nvPr/>
        </p:nvSpPr>
        <p:spPr>
          <a:xfrm>
            <a:off x="571500" y="6095262"/>
            <a:ext cx="8255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概念演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进复盘</a:t>
            </a:r>
          </a:p>
        </p:txBody>
      </p:sp>
      <p:sp>
        <p:nvSpPr>
          <p:cNvPr id="35" name="Text: ·"/>
          <p:cNvSpPr txBox="1"/>
          <p:nvPr/>
        </p:nvSpPr>
        <p:spPr>
          <a:xfrm>
            <a:off x="1329134" y="6095262"/>
            <a:ext cx="13096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6" name="Text: 未提供历史样机与实验数据"/>
          <p:cNvSpPr txBox="1"/>
          <p:nvPr/>
        </p:nvSpPr>
        <p:spPr>
          <a:xfrm>
            <a:off x="1392238" y="6095262"/>
            <a:ext cx="15494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未提供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历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史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机与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实验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37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38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9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40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1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42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3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44" name="Text: 27"/>
          <p:cNvSpPr txBox="1"/>
          <p:nvPr/>
        </p:nvSpPr>
        <p:spPr>
          <a:xfrm>
            <a:off x="11283156" y="6466713"/>
            <a:ext cx="19962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27</a:t>
            </a:r>
          </a:p>
        </p:txBody>
      </p:sp>
      <p:sp>
        <p:nvSpPr>
          <p:cNvPr id="45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6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"/>
          <p:cNvSpPr txBox="1"/>
          <p:nvPr/>
        </p:nvSpPr>
        <p:spPr>
          <a:xfrm>
            <a:off x="571500" y="400748"/>
            <a:ext cx="28207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4586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PILOT"/>
          <p:cNvSpPr txBox="1"/>
          <p:nvPr/>
        </p:nvSpPr>
        <p:spPr>
          <a:xfrm>
            <a:off x="975519" y="400748"/>
            <a:ext cx="59402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PILOT</a:t>
            </a:r>
          </a:p>
        </p:txBody>
      </p:sp>
      <p:sp>
        <p:nvSpPr>
          <p:cNvPr id="5" name="Text: TO"/>
          <p:cNvSpPr txBox="1"/>
          <p:nvPr/>
        </p:nvSpPr>
        <p:spPr>
          <a:xfrm>
            <a:off x="1530548" y="400748"/>
            <a:ext cx="3285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TO</a:t>
            </a:r>
          </a:p>
        </p:txBody>
      </p:sp>
      <p:sp>
        <p:nvSpPr>
          <p:cNvPr id="6" name="Text: LAUNCH"/>
          <p:cNvSpPr txBox="1"/>
          <p:nvPr/>
        </p:nvSpPr>
        <p:spPr>
          <a:xfrm>
            <a:off x="1820069" y="400748"/>
            <a:ext cx="77489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LAUNCH</a:t>
            </a:r>
          </a:p>
        </p:txBody>
      </p:sp>
      <p:sp>
        <p:nvSpPr>
          <p:cNvPr id="7" name="Text: 先验证拥抱，再决定值不值得量产。"/>
          <p:cNvSpPr txBox="1"/>
          <p:nvPr/>
        </p:nvSpPr>
        <p:spPr>
          <a:xfrm>
            <a:off x="571500" y="706374"/>
            <a:ext cx="6705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验证拥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抱，再决定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不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值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得量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8" name="Editable rounded card"/>
          <p:cNvSpPr/>
          <p:nvPr/>
        </p:nvSpPr>
        <p:spPr>
          <a:xfrm>
            <a:off x="571500" y="160397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: G0"/>
          <p:cNvSpPr txBox="1"/>
          <p:nvPr/>
        </p:nvSpPr>
        <p:spPr>
          <a:xfrm>
            <a:off x="730250" y="1717254"/>
            <a:ext cx="28098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G0</a:t>
            </a:r>
          </a:p>
        </p:txBody>
      </p:sp>
      <p:sp>
        <p:nvSpPr>
          <p:cNvPr id="10" name="Text: /"/>
          <p:cNvSpPr txBox="1"/>
          <p:nvPr/>
        </p:nvSpPr>
        <p:spPr>
          <a:xfrm>
            <a:off x="952202" y="1717254"/>
            <a:ext cx="184944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" name="Text: 1"/>
          <p:cNvSpPr txBox="1"/>
          <p:nvPr/>
        </p:nvSpPr>
        <p:spPr>
          <a:xfrm>
            <a:off x="1078111" y="1717254"/>
            <a:ext cx="16004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</a:t>
            </a:r>
          </a:p>
        </p:txBody>
      </p:sp>
      <p:sp>
        <p:nvSpPr>
          <p:cNvPr id="12" name="Text: –"/>
          <p:cNvSpPr txBox="1"/>
          <p:nvPr/>
        </p:nvSpPr>
        <p:spPr>
          <a:xfrm>
            <a:off x="1136452" y="171725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13" name="Text: 2"/>
          <p:cNvSpPr txBox="1"/>
          <p:nvPr/>
        </p:nvSpPr>
        <p:spPr>
          <a:xfrm>
            <a:off x="1216918" y="1717254"/>
            <a:ext cx="16956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2</a:t>
            </a:r>
          </a:p>
        </p:txBody>
      </p:sp>
      <p:sp>
        <p:nvSpPr>
          <p:cNvPr id="14" name="Text: 周"/>
          <p:cNvSpPr txBox="1"/>
          <p:nvPr/>
        </p:nvSpPr>
        <p:spPr>
          <a:xfrm>
            <a:off x="1284784" y="1717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15" name="Text: 需求与授权"/>
          <p:cNvSpPr txBox="1"/>
          <p:nvPr/>
        </p:nvSpPr>
        <p:spPr>
          <a:xfrm>
            <a:off x="730250" y="1993797"/>
            <a:ext cx="102244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需求与授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16" name="Text: 访谈、校方边界、竞品样品"/>
          <p:cNvSpPr txBox="1"/>
          <p:nvPr/>
        </p:nvSpPr>
        <p:spPr>
          <a:xfrm>
            <a:off x="730250" y="2321076"/>
            <a:ext cx="185420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访谈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、校方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边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界、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竞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样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3471763" y="160397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G1"/>
          <p:cNvSpPr txBox="1"/>
          <p:nvPr/>
        </p:nvSpPr>
        <p:spPr>
          <a:xfrm>
            <a:off x="3630513" y="1717254"/>
            <a:ext cx="262632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G1</a:t>
            </a:r>
          </a:p>
        </p:txBody>
      </p:sp>
      <p:sp>
        <p:nvSpPr>
          <p:cNvPr id="19" name="Text: /"/>
          <p:cNvSpPr txBox="1"/>
          <p:nvPr/>
        </p:nvSpPr>
        <p:spPr>
          <a:xfrm>
            <a:off x="3834110" y="17172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0" name="Text: 3"/>
          <p:cNvSpPr txBox="1"/>
          <p:nvPr/>
        </p:nvSpPr>
        <p:spPr>
          <a:xfrm>
            <a:off x="3959920" y="1717254"/>
            <a:ext cx="17551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3</a:t>
            </a:r>
          </a:p>
        </p:txBody>
      </p:sp>
      <p:sp>
        <p:nvSpPr>
          <p:cNvPr id="21" name="Text: –"/>
          <p:cNvSpPr txBox="1"/>
          <p:nvPr/>
        </p:nvSpPr>
        <p:spPr>
          <a:xfrm>
            <a:off x="4033738" y="171725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22" name="Text: 5"/>
          <p:cNvSpPr txBox="1"/>
          <p:nvPr/>
        </p:nvSpPr>
        <p:spPr>
          <a:xfrm>
            <a:off x="4114205" y="1717254"/>
            <a:ext cx="17303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5</a:t>
            </a:r>
          </a:p>
        </p:txBody>
      </p:sp>
      <p:sp>
        <p:nvSpPr>
          <p:cNvPr id="23" name="Text: 周"/>
          <p:cNvSpPr txBox="1"/>
          <p:nvPr/>
        </p:nvSpPr>
        <p:spPr>
          <a:xfrm>
            <a:off x="4185543" y="171725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24" name="Text: 机构样机"/>
          <p:cNvSpPr txBox="1"/>
          <p:nvPr/>
        </p:nvSpPr>
        <p:spPr>
          <a:xfrm>
            <a:off x="3630513" y="1993797"/>
            <a:ext cx="8382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构样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</a:p>
        </p:txBody>
      </p:sp>
      <p:sp>
        <p:nvSpPr>
          <p:cNvPr id="25" name="Text: 闭合、保持、释放、安全"/>
          <p:cNvSpPr txBox="1"/>
          <p:nvPr/>
        </p:nvSpPr>
        <p:spPr>
          <a:xfrm>
            <a:off x="3630513" y="2321076"/>
            <a:ext cx="17081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合、保持、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放、安全</a:t>
            </a:r>
          </a:p>
        </p:txBody>
      </p:sp>
      <p:sp>
        <p:nvSpPr>
          <p:cNvPr id="26" name="Editable rounded card"/>
          <p:cNvSpPr/>
          <p:nvPr/>
        </p:nvSpPr>
        <p:spPr>
          <a:xfrm>
            <a:off x="571500" y="282952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: G2"/>
          <p:cNvSpPr txBox="1"/>
          <p:nvPr/>
        </p:nvSpPr>
        <p:spPr>
          <a:xfrm>
            <a:off x="730250" y="2942804"/>
            <a:ext cx="27205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G2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943273" y="29428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6"/>
          <p:cNvSpPr txBox="1"/>
          <p:nvPr/>
        </p:nvSpPr>
        <p:spPr>
          <a:xfrm>
            <a:off x="1069181" y="2942804"/>
            <a:ext cx="17680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6</a:t>
            </a:r>
          </a:p>
        </p:txBody>
      </p:sp>
      <p:sp>
        <p:nvSpPr>
          <p:cNvPr id="30" name="Text: –"/>
          <p:cNvSpPr txBox="1"/>
          <p:nvPr/>
        </p:nvSpPr>
        <p:spPr>
          <a:xfrm>
            <a:off x="1144290" y="294280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31" name="Text: 8"/>
          <p:cNvSpPr txBox="1"/>
          <p:nvPr/>
        </p:nvSpPr>
        <p:spPr>
          <a:xfrm>
            <a:off x="1224756" y="2942804"/>
            <a:ext cx="179288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8</a:t>
            </a:r>
          </a:p>
        </p:txBody>
      </p:sp>
      <p:sp>
        <p:nvSpPr>
          <p:cNvPr id="32" name="Text: 周"/>
          <p:cNvSpPr txBox="1"/>
          <p:nvPr/>
        </p:nvSpPr>
        <p:spPr>
          <a:xfrm>
            <a:off x="1302345" y="294280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33" name="Text: 单色小批试产"/>
          <p:cNvSpPr txBox="1"/>
          <p:nvPr/>
        </p:nvSpPr>
        <p:spPr>
          <a:xfrm>
            <a:off x="730250" y="3219347"/>
            <a:ext cx="12065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单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色小批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试产</a:t>
            </a:r>
          </a:p>
        </p:txBody>
      </p:sp>
      <p:sp>
        <p:nvSpPr>
          <p:cNvPr id="34" name="Text: 成本、耐久、真实体验"/>
          <p:cNvSpPr txBox="1"/>
          <p:nvPr/>
        </p:nvSpPr>
        <p:spPr>
          <a:xfrm>
            <a:off x="730250" y="3546626"/>
            <a:ext cx="156210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成本、耐久、真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体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</a:t>
            </a:r>
          </a:p>
        </p:txBody>
      </p:sp>
      <p:sp>
        <p:nvSpPr>
          <p:cNvPr id="35" name="Editable rounded card"/>
          <p:cNvSpPr/>
          <p:nvPr/>
        </p:nvSpPr>
        <p:spPr>
          <a:xfrm>
            <a:off x="3471763" y="2829520"/>
            <a:ext cx="2785963" cy="1111250"/>
          </a:xfrm>
          <a:custGeom>
            <a:avLst/>
            <a:gdLst/>
            <a:ahLst/>
            <a:cxnLst/>
            <a:rect l="0" t="0" r="r" b="b"/>
            <a:pathLst>
              <a:path w="2785963" h="1111250" fill="norm" stroke="0">
                <a:moveTo>
                  <a:pt x="127000" y="0"/>
                </a:moveTo>
                <a:lnTo>
                  <a:pt x="2658963" y="0"/>
                </a:lnTo>
                <a:cubicBezTo>
                  <a:pt x="2729103" y="0"/>
                  <a:pt x="2785963" y="56860"/>
                  <a:pt x="2785963" y="127000"/>
                </a:cubicBezTo>
                <a:lnTo>
                  <a:pt x="2785963" y="984250"/>
                </a:lnTo>
                <a:cubicBezTo>
                  <a:pt x="2785963" y="1054390"/>
                  <a:pt x="2729103" y="1111250"/>
                  <a:pt x="2658963" y="1111250"/>
                </a:cubicBezTo>
                <a:lnTo>
                  <a:pt x="127000" y="1111250"/>
                </a:lnTo>
                <a:cubicBezTo>
                  <a:pt x="56860" y="1111250"/>
                  <a:pt x="0" y="1054390"/>
                  <a:pt x="0" y="98425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EEE7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: G3"/>
          <p:cNvSpPr txBox="1"/>
          <p:nvPr/>
        </p:nvSpPr>
        <p:spPr>
          <a:xfrm>
            <a:off x="3630513" y="2942804"/>
            <a:ext cx="278011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G3</a:t>
            </a:r>
          </a:p>
        </p:txBody>
      </p:sp>
      <p:sp>
        <p:nvSpPr>
          <p:cNvPr id="37" name="Text: /"/>
          <p:cNvSpPr txBox="1"/>
          <p:nvPr/>
        </p:nvSpPr>
        <p:spPr>
          <a:xfrm>
            <a:off x="3849489" y="294280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8" name="Text: 9"/>
          <p:cNvSpPr txBox="1"/>
          <p:nvPr/>
        </p:nvSpPr>
        <p:spPr>
          <a:xfrm>
            <a:off x="3975298" y="2942804"/>
            <a:ext cx="17412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9</a:t>
            </a:r>
          </a:p>
        </p:txBody>
      </p:sp>
      <p:sp>
        <p:nvSpPr>
          <p:cNvPr id="39" name="Text: –"/>
          <p:cNvSpPr txBox="1"/>
          <p:nvPr/>
        </p:nvSpPr>
        <p:spPr>
          <a:xfrm>
            <a:off x="4047728" y="2942804"/>
            <a:ext cx="182166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–</a:t>
            </a:r>
          </a:p>
        </p:txBody>
      </p:sp>
      <p:sp>
        <p:nvSpPr>
          <p:cNvPr id="40" name="Text: 12"/>
          <p:cNvSpPr txBox="1"/>
          <p:nvPr/>
        </p:nvSpPr>
        <p:spPr>
          <a:xfrm>
            <a:off x="4128195" y="2942804"/>
            <a:ext cx="22790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12</a:t>
            </a:r>
          </a:p>
        </p:txBody>
      </p:sp>
      <p:sp>
        <p:nvSpPr>
          <p:cNvPr id="41" name="Text: 周"/>
          <p:cNvSpPr txBox="1"/>
          <p:nvPr/>
        </p:nvSpPr>
        <p:spPr>
          <a:xfrm>
            <a:off x="4254401" y="2942804"/>
            <a:ext cx="254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周</a:t>
            </a:r>
          </a:p>
        </p:txBody>
      </p:sp>
      <p:sp>
        <p:nvSpPr>
          <p:cNvPr id="42" name="Text: 校园试售"/>
          <p:cNvSpPr txBox="1"/>
          <p:nvPr/>
        </p:nvSpPr>
        <p:spPr>
          <a:xfrm>
            <a:off x="3630513" y="3219347"/>
            <a:ext cx="8382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02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45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园试</a:t>
            </a:r>
            <a:r>
              <a:rPr sz="145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</a:t>
            </a:r>
          </a:p>
        </p:txBody>
      </p:sp>
      <p:sp>
        <p:nvSpPr>
          <p:cNvPr id="43" name="Text: 先主色，再决定五色扩展"/>
          <p:cNvSpPr txBox="1"/>
          <p:nvPr/>
        </p:nvSpPr>
        <p:spPr>
          <a:xfrm>
            <a:off x="3630513" y="3546626"/>
            <a:ext cx="1708150" cy="25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先主色，再决定五色</a:t>
            </a:r>
            <a:r>
              <a:rPr sz="11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扩</a:t>
            </a:r>
            <a:r>
              <a:rPr sz="11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展</a:t>
            </a:r>
          </a:p>
        </p:txBody>
      </p:sp>
      <p:sp>
        <p:nvSpPr>
          <p:cNvPr id="44" name="Text: 成本核算路径"/>
          <p:cNvSpPr txBox="1"/>
          <p:nvPr/>
        </p:nvSpPr>
        <p:spPr>
          <a:xfrm>
            <a:off x="666750" y="4084090"/>
            <a:ext cx="1130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成本核算路径</a:t>
            </a:r>
          </a:p>
        </p:txBody>
      </p:sp>
      <p:sp>
        <p:nvSpPr>
          <p:cNvPr id="45" name="Text: 绒布缝制"/>
          <p:cNvSpPr txBox="1"/>
          <p:nvPr/>
        </p:nvSpPr>
        <p:spPr>
          <a:xfrm>
            <a:off x="666750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绒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布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缝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制</a:t>
            </a:r>
          </a:p>
        </p:txBody>
      </p:sp>
      <p:sp>
        <p:nvSpPr>
          <p:cNvPr id="46" name="Text: +"/>
          <p:cNvSpPr txBox="1"/>
          <p:nvPr/>
        </p:nvSpPr>
        <p:spPr>
          <a:xfrm>
            <a:off x="1346200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47" name="Text: 机构装配"/>
          <p:cNvSpPr txBox="1"/>
          <p:nvPr/>
        </p:nvSpPr>
        <p:spPr>
          <a:xfrm>
            <a:off x="1536998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机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装配</a:t>
            </a:r>
          </a:p>
        </p:txBody>
      </p:sp>
      <p:sp>
        <p:nvSpPr>
          <p:cNvPr id="48" name="Text: +"/>
          <p:cNvSpPr txBox="1"/>
          <p:nvPr/>
        </p:nvSpPr>
        <p:spPr>
          <a:xfrm>
            <a:off x="2216448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49" name="Text: 填充"/>
          <p:cNvSpPr txBox="1"/>
          <p:nvPr/>
        </p:nvSpPr>
        <p:spPr>
          <a:xfrm>
            <a:off x="2407245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填充</a:t>
            </a:r>
          </a:p>
        </p:txBody>
      </p:sp>
      <p:sp>
        <p:nvSpPr>
          <p:cNvPr id="50" name="Text: +"/>
          <p:cNvSpPr txBox="1"/>
          <p:nvPr/>
        </p:nvSpPr>
        <p:spPr>
          <a:xfrm>
            <a:off x="2769195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1" name="Text: 磁体封装"/>
          <p:cNvSpPr txBox="1"/>
          <p:nvPr/>
        </p:nvSpPr>
        <p:spPr>
          <a:xfrm>
            <a:off x="2959993" y="44217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磁体封装</a:t>
            </a:r>
          </a:p>
        </p:txBody>
      </p:sp>
      <p:sp>
        <p:nvSpPr>
          <p:cNvPr id="52" name="Text: +"/>
          <p:cNvSpPr txBox="1"/>
          <p:nvPr/>
        </p:nvSpPr>
        <p:spPr>
          <a:xfrm>
            <a:off x="3639443" y="4421783"/>
            <a:ext cx="24804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3" name="Text: 包装"/>
          <p:cNvSpPr txBox="1"/>
          <p:nvPr/>
        </p:nvSpPr>
        <p:spPr>
          <a:xfrm>
            <a:off x="3830241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包装</a:t>
            </a:r>
          </a:p>
        </p:txBody>
      </p:sp>
      <p:sp>
        <p:nvSpPr>
          <p:cNvPr id="54" name="Text: +"/>
          <p:cNvSpPr txBox="1"/>
          <p:nvPr/>
        </p:nvSpPr>
        <p:spPr>
          <a:xfrm>
            <a:off x="4192191" y="4421783"/>
            <a:ext cx="24814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+</a:t>
            </a:r>
          </a:p>
        </p:txBody>
      </p:sp>
      <p:sp>
        <p:nvSpPr>
          <p:cNvPr id="55" name="Text: 测试"/>
          <p:cNvSpPr txBox="1"/>
          <p:nvPr/>
        </p:nvSpPr>
        <p:spPr>
          <a:xfrm>
            <a:off x="4383088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测试</a:t>
            </a:r>
          </a:p>
        </p:txBody>
      </p:sp>
      <p:sp>
        <p:nvSpPr>
          <p:cNvPr id="56" name="Text: /"/>
          <p:cNvSpPr txBox="1"/>
          <p:nvPr/>
        </p:nvSpPr>
        <p:spPr>
          <a:xfrm>
            <a:off x="4745038" y="44217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7" name="Text: 授权"/>
          <p:cNvSpPr txBox="1"/>
          <p:nvPr/>
        </p:nvSpPr>
        <p:spPr>
          <a:xfrm>
            <a:off x="4876105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58" name="Text: /"/>
          <p:cNvSpPr txBox="1"/>
          <p:nvPr/>
        </p:nvSpPr>
        <p:spPr>
          <a:xfrm>
            <a:off x="5238055" y="442178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9" name="Text: 损耗"/>
          <p:cNvSpPr txBox="1"/>
          <p:nvPr/>
        </p:nvSpPr>
        <p:spPr>
          <a:xfrm>
            <a:off x="5369223" y="442178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损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耗</a:t>
            </a:r>
          </a:p>
        </p:txBody>
      </p:sp>
      <p:sp>
        <p:nvSpPr>
          <p:cNvPr id="60" name="Text: /"/>
          <p:cNvSpPr txBox="1"/>
          <p:nvPr/>
        </p:nvSpPr>
        <p:spPr>
          <a:xfrm>
            <a:off x="5731173" y="44217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1" name="Text: 渠"/>
          <p:cNvSpPr txBox="1"/>
          <p:nvPr/>
        </p:nvSpPr>
        <p:spPr>
          <a:xfrm>
            <a:off x="5862340" y="4421783"/>
            <a:ext cx="26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渠</a:t>
            </a:r>
          </a:p>
        </p:txBody>
      </p:sp>
      <p:sp>
        <p:nvSpPr>
          <p:cNvPr id="62" name="Text: 道"/>
          <p:cNvSpPr txBox="1"/>
          <p:nvPr/>
        </p:nvSpPr>
        <p:spPr>
          <a:xfrm>
            <a:off x="666750" y="4707533"/>
            <a:ext cx="260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道</a:t>
            </a:r>
          </a:p>
        </p:txBody>
      </p:sp>
      <p:sp>
        <p:nvSpPr>
          <p:cNvPr id="63" name="Text: 获取工厂报价后倒推可售价格；用两档真实报价做价格接受度测试。"/>
          <p:cNvSpPr txBox="1"/>
          <p:nvPr/>
        </p:nvSpPr>
        <p:spPr>
          <a:xfrm>
            <a:off x="666750" y="5045797"/>
            <a:ext cx="4292699" cy="241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获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取工厂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报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价后倒推可售价格；用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两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档真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实报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价做价格接受度</a:t>
            </a:r>
            <a:r>
              <a:rPr sz="110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测试</a:t>
            </a:r>
            <a:r>
              <a:rPr sz="110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64" name="Editable rounded card"/>
          <p:cNvSpPr/>
          <p:nvPr/>
        </p:nvSpPr>
        <p:spPr>
          <a:xfrm>
            <a:off x="6543477" y="1603970"/>
            <a:ext cx="5077023" cy="3816350"/>
          </a:xfrm>
          <a:custGeom>
            <a:avLst/>
            <a:gdLst/>
            <a:ahLst/>
            <a:cxnLst/>
            <a:rect l="0" t="0" r="r" b="b"/>
            <a:pathLst>
              <a:path w="5077023" h="3816350" fill="norm" stroke="0">
                <a:moveTo>
                  <a:pt x="171450" y="0"/>
                </a:moveTo>
                <a:lnTo>
                  <a:pt x="4905573" y="0"/>
                </a:lnTo>
                <a:cubicBezTo>
                  <a:pt x="5000263" y="0"/>
                  <a:pt x="5077023" y="76761"/>
                  <a:pt x="5077023" y="171450"/>
                </a:cubicBezTo>
                <a:lnTo>
                  <a:pt x="5077023" y="3644900"/>
                </a:lnTo>
                <a:cubicBezTo>
                  <a:pt x="5077023" y="3739589"/>
                  <a:pt x="5000263" y="3816350"/>
                  <a:pt x="4905573" y="3816350"/>
                </a:cubicBezTo>
                <a:lnTo>
                  <a:pt x="171450" y="3816350"/>
                </a:lnTo>
                <a:cubicBezTo>
                  <a:pt x="76761" y="3816350"/>
                  <a:pt x="0" y="3739589"/>
                  <a:pt x="0" y="36449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: 待验证假设"/>
          <p:cNvSpPr txBox="1"/>
          <p:nvPr/>
        </p:nvSpPr>
        <p:spPr>
          <a:xfrm>
            <a:off x="6765727" y="1793454"/>
            <a:ext cx="863600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66" name="Text: /"/>
          <p:cNvSpPr txBox="1"/>
          <p:nvPr/>
        </p:nvSpPr>
        <p:spPr>
          <a:xfrm>
            <a:off x="7570391" y="1793454"/>
            <a:ext cx="184845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67" name="Text: 建议验收门槛"/>
          <p:cNvSpPr txBox="1"/>
          <p:nvPr/>
        </p:nvSpPr>
        <p:spPr>
          <a:xfrm>
            <a:off x="7696200" y="1793454"/>
            <a:ext cx="1016099" cy="2603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建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议验</a:t>
            </a:r>
            <a:r>
              <a:rPr sz="1200" b="0" i="0" spc="0" lang="zh-CN" dirty="0">
                <a:solidFill>
                  <a:srgbClr val="877763"/>
                </a:solidFill>
                <a:latin typeface="Zen Maru Gothic"/>
                <a:ea typeface="Zen Maru Gothic"/>
                <a:cs typeface="Zen Maru Gothic"/>
              </a:rPr>
              <a:t>收</a:t>
            </a:r>
            <a:r>
              <a:rPr sz="1200" b="0" i="0" spc="0" lang="zh-CN" dirty="0">
                <a:solidFill>
                  <a:srgbClr val="877763"/>
                </a:solidFill>
                <a:latin typeface="Noto Sans CJK SC"/>
                <a:ea typeface="Noto Sans CJK SC"/>
                <a:cs typeface="Noto Sans CJK SC"/>
              </a:rPr>
              <a:t>门槛</a:t>
            </a:r>
          </a:p>
        </p:txBody>
      </p:sp>
      <p:sp>
        <p:nvSpPr>
          <p:cNvPr id="68" name="Text: 先过门槛，再开下一阶段。"/>
          <p:cNvSpPr txBox="1"/>
          <p:nvPr/>
        </p:nvSpPr>
        <p:spPr>
          <a:xfrm>
            <a:off x="6765727" y="2136842"/>
            <a:ext cx="2540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过门槛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开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下一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阶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段。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5727" y="25488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765727" y="30060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71" name="Text: 动作理解：≥"/>
          <p:cNvSpPr txBox="1"/>
          <p:nvPr/>
        </p:nvSpPr>
        <p:spPr>
          <a:xfrm>
            <a:off x="6765727" y="264249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动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作理解：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≥</a:t>
            </a:r>
          </a:p>
        </p:txBody>
      </p:sp>
      <p:sp>
        <p:nvSpPr>
          <p:cNvPr id="72" name="Text: 80%"/>
          <p:cNvSpPr txBox="1"/>
          <p:nvPr/>
        </p:nvSpPr>
        <p:spPr>
          <a:xfrm>
            <a:off x="7762677" y="2642493"/>
            <a:ext cx="38407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80%</a:t>
            </a:r>
          </a:p>
        </p:txBody>
      </p:sp>
      <p:sp>
        <p:nvSpPr>
          <p:cNvPr id="73" name="Text: 无提示完成捏压与释放"/>
          <p:cNvSpPr txBox="1"/>
          <p:nvPr/>
        </p:nvSpPr>
        <p:spPr>
          <a:xfrm>
            <a:off x="8089503" y="2642493"/>
            <a:ext cx="168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无提示完成捏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5727" y="30060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765727" y="34632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76" name="Text: 可靠性：目标"/>
          <p:cNvSpPr txBox="1"/>
          <p:nvPr/>
        </p:nvSpPr>
        <p:spPr>
          <a:xfrm>
            <a:off x="6765727" y="309969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可靠性：目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77" name="Text: 1,000"/>
          <p:cNvSpPr txBox="1"/>
          <p:nvPr/>
        </p:nvSpPr>
        <p:spPr>
          <a:xfrm>
            <a:off x="7762677" y="3099693"/>
            <a:ext cx="44648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1,000</a:t>
            </a:r>
          </a:p>
        </p:txBody>
      </p:sp>
      <p:sp>
        <p:nvSpPr>
          <p:cNvPr id="78" name="Text: 次循环后仍闭合、保持与释放"/>
          <p:cNvSpPr txBox="1"/>
          <p:nvPr/>
        </p:nvSpPr>
        <p:spPr>
          <a:xfrm>
            <a:off x="8151912" y="3099693"/>
            <a:ext cx="216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次循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环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后仍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闭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合、保持与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5727" y="34632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765727" y="39204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81" name="Text: 安全：夹点、磁体与填充封装不通过即暂停"/>
          <p:cNvSpPr txBox="1"/>
          <p:nvPr/>
        </p:nvSpPr>
        <p:spPr>
          <a:xfrm>
            <a:off x="6765727" y="3556893"/>
            <a:ext cx="31179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安全：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夹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点、磁体与填充封装不通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即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暂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5727" y="3920430"/>
            <a:ext cx="4632523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765727" y="4377630"/>
            <a:ext cx="4632523" cy="0"/>
          </a:xfrm>
          <a:prstGeom prst="line">
            <a:avLst/>
          </a:prstGeom>
          <a:ln w="6350">
            <a:solidFill>
              <a:srgbClr val="C6D7DA"/>
            </a:solidFill>
          </a:ln>
          <a:effectLst/>
        </p:spPr>
      </p:cxnSp>
      <p:sp>
        <p:nvSpPr>
          <p:cNvPr id="84" name="Text: 商业：扣除全成本及渠道后，试售贡献毛利为正"/>
          <p:cNvSpPr txBox="1"/>
          <p:nvPr/>
        </p:nvSpPr>
        <p:spPr>
          <a:xfrm>
            <a:off x="6765727" y="4014093"/>
            <a:ext cx="343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商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业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：扣除全成本及渠道后，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贡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献毛利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正</a:t>
            </a:r>
          </a:p>
        </p:txBody>
      </p:sp>
      <p:sp>
        <p:nvSpPr>
          <p:cNvPr id="85" name="Editable rounded card"/>
          <p:cNvSpPr/>
          <p:nvPr/>
        </p:nvSpPr>
        <p:spPr>
          <a:xfrm>
            <a:off x="6765727" y="4536380"/>
            <a:ext cx="3085505" cy="342900"/>
          </a:xfrm>
          <a:custGeom>
            <a:avLst/>
            <a:gdLst/>
            <a:ahLst/>
            <a:cxnLst/>
            <a:rect l="0" t="0" r="r" b="b"/>
            <a:pathLst>
              <a:path w="3085505" h="342900" fill="norm" stroke="0">
                <a:moveTo>
                  <a:pt x="171450" y="0"/>
                </a:moveTo>
                <a:lnTo>
                  <a:pt x="2914055" y="0"/>
                </a:lnTo>
                <a:cubicBezTo>
                  <a:pt x="3008744" y="0"/>
                  <a:pt x="3085505" y="76761"/>
                  <a:pt x="3085505" y="171450"/>
                </a:cubicBezTo>
                <a:lnTo>
                  <a:pt x="3085505" y="171450"/>
                </a:lnTo>
                <a:cubicBezTo>
                  <a:pt x="3085505" y="266139"/>
                  <a:pt x="3008744" y="342900"/>
                  <a:pt x="291405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0E6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: 核心风险：锁死"/>
          <p:cNvSpPr txBox="1"/>
          <p:nvPr/>
        </p:nvSpPr>
        <p:spPr>
          <a:xfrm>
            <a:off x="6880027" y="4600579"/>
            <a:ext cx="10350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核心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风险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锁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死</a:t>
            </a:r>
          </a:p>
        </p:txBody>
      </p:sp>
      <p:sp>
        <p:nvSpPr>
          <p:cNvPr id="87" name="Text: /"/>
          <p:cNvSpPr txBox="1"/>
          <p:nvPr/>
        </p:nvSpPr>
        <p:spPr>
          <a:xfrm>
            <a:off x="7850783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88" name="Text: 脱落"/>
          <p:cNvSpPr txBox="1"/>
          <p:nvPr/>
        </p:nvSpPr>
        <p:spPr>
          <a:xfrm>
            <a:off x="7960916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脱落</a:t>
            </a:r>
          </a:p>
        </p:txBody>
      </p:sp>
      <p:sp>
        <p:nvSpPr>
          <p:cNvPr id="89" name="Text: /"/>
          <p:cNvSpPr txBox="1"/>
          <p:nvPr/>
        </p:nvSpPr>
        <p:spPr>
          <a:xfrm>
            <a:off x="8264922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0" name="Text: 误吞"/>
          <p:cNvSpPr txBox="1"/>
          <p:nvPr/>
        </p:nvSpPr>
        <p:spPr>
          <a:xfrm>
            <a:off x="8375055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误吞</a:t>
            </a:r>
          </a:p>
        </p:txBody>
      </p:sp>
      <p:sp>
        <p:nvSpPr>
          <p:cNvPr id="91" name="Text: /"/>
          <p:cNvSpPr txBox="1"/>
          <p:nvPr/>
        </p:nvSpPr>
        <p:spPr>
          <a:xfrm>
            <a:off x="8679160" y="4600579"/>
            <a:ext cx="174427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2" name="Text: 授权"/>
          <p:cNvSpPr txBox="1"/>
          <p:nvPr/>
        </p:nvSpPr>
        <p:spPr>
          <a:xfrm>
            <a:off x="8789293" y="4600579"/>
            <a:ext cx="3683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</a:p>
        </p:txBody>
      </p:sp>
      <p:sp>
        <p:nvSpPr>
          <p:cNvPr id="93" name="Text: /"/>
          <p:cNvSpPr txBox="1"/>
          <p:nvPr/>
        </p:nvSpPr>
        <p:spPr>
          <a:xfrm>
            <a:off x="9093299" y="4600579"/>
            <a:ext cx="1745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94" name="Text: 成本超标"/>
          <p:cNvSpPr txBox="1"/>
          <p:nvPr/>
        </p:nvSpPr>
        <p:spPr>
          <a:xfrm>
            <a:off x="9203432" y="4600579"/>
            <a:ext cx="6350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成本超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</p:txBody>
      </p:sp>
      <p:sp>
        <p:nvSpPr>
          <p:cNvPr id="95" name="Text: 全部为待验证假设"/>
          <p:cNvSpPr txBox="1"/>
          <p:nvPr/>
        </p:nvSpPr>
        <p:spPr>
          <a:xfrm>
            <a:off x="571500" y="6095262"/>
            <a:ext cx="106689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全部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待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假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设</a:t>
            </a:r>
          </a:p>
        </p:txBody>
      </p:sp>
      <p:sp>
        <p:nvSpPr>
          <p:cNvPr id="96" name="Text: ·"/>
          <p:cNvSpPr txBox="1"/>
          <p:nvPr/>
        </p:nvSpPr>
        <p:spPr>
          <a:xfrm>
            <a:off x="1570434" y="6095262"/>
            <a:ext cx="131068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97" name="Text: 无销量、成本或市场规模实测数据"/>
          <p:cNvSpPr txBox="1"/>
          <p:nvPr/>
        </p:nvSpPr>
        <p:spPr>
          <a:xfrm>
            <a:off x="1633538" y="6095262"/>
            <a:ext cx="1911449" cy="2095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无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销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量、成本或市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场规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模</a:t>
            </a:r>
            <a:r>
              <a:rPr sz="950" b="0" i="0" spc="0" lang="zh-CN" dirty="0">
                <a:solidFill>
                  <a:srgbClr val="9A8C7B"/>
                </a:solidFill>
                <a:latin typeface="Noto Sans CJK SC"/>
                <a:ea typeface="Noto Sans CJK SC"/>
                <a:cs typeface="Noto Sans CJK SC"/>
              </a:rPr>
              <a:t>实测</a:t>
            </a:r>
            <a:r>
              <a:rPr sz="950" b="0" i="0" spc="0" lang="zh-CN" dirty="0">
                <a:solidFill>
                  <a:srgbClr val="9A8C7B"/>
                </a:solidFill>
                <a:latin typeface="Zen Maru Gothic"/>
                <a:ea typeface="Zen Maru Gothic"/>
                <a:cs typeface="Zen Maru Gothic"/>
              </a:rPr>
              <a:t>数据</a:t>
            </a:r>
          </a:p>
        </p:txBody>
      </p:sp>
      <p:sp>
        <p:nvSpPr>
          <p:cNvPr id="98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99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0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101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102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103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4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105" name="Text: 28"/>
          <p:cNvSpPr txBox="1"/>
          <p:nvPr/>
        </p:nvSpPr>
        <p:spPr>
          <a:xfrm>
            <a:off x="11272044" y="6466713"/>
            <a:ext cx="21074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28</a:t>
            </a:r>
          </a:p>
        </p:txBody>
      </p:sp>
      <p:sp>
        <p:nvSpPr>
          <p:cNvPr id="106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07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6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E"/>
          <p:cNvSpPr txBox="1"/>
          <p:nvPr/>
        </p:nvSpPr>
        <p:spPr>
          <a:xfrm>
            <a:off x="978892" y="400748"/>
            <a:ext cx="42594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THE</a:t>
            </a:r>
          </a:p>
        </p:txBody>
      </p:sp>
      <p:sp>
        <p:nvSpPr>
          <p:cNvPr id="5" name="Text: DECISION"/>
          <p:cNvSpPr txBox="1"/>
          <p:nvPr/>
        </p:nvSpPr>
        <p:spPr>
          <a:xfrm>
            <a:off x="1365845" y="400748"/>
            <a:ext cx="89287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DECISION</a:t>
            </a:r>
          </a:p>
        </p:txBody>
      </p:sp>
      <p:sp>
        <p:nvSpPr>
          <p:cNvPr id="6" name="Text: 先做一只会抱住你的鼠。"/>
          <p:cNvSpPr txBox="1"/>
          <p:nvPr/>
        </p:nvSpPr>
        <p:spPr>
          <a:xfrm>
            <a:off x="571500" y="706374"/>
            <a:ext cx="464185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先做一只会抱住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的鼠。</a:t>
            </a:r>
          </a:p>
        </p:txBody>
      </p:sp>
      <p:sp>
        <p:nvSpPr>
          <p:cNvPr id="7" name="Text: ONE"/>
          <p:cNvSpPr txBox="1"/>
          <p:nvPr/>
        </p:nvSpPr>
        <p:spPr>
          <a:xfrm>
            <a:off x="571500" y="2153245"/>
            <a:ext cx="1477665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ONE</a:t>
            </a:r>
          </a:p>
        </p:txBody>
      </p:sp>
      <p:sp>
        <p:nvSpPr>
          <p:cNvPr id="8" name="Text: HUG."/>
          <p:cNvSpPr txBox="1"/>
          <p:nvPr/>
        </p:nvSpPr>
        <p:spPr>
          <a:xfrm>
            <a:off x="2144316" y="2153245"/>
            <a:ext cx="167014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HUG.</a:t>
            </a:r>
          </a:p>
        </p:txBody>
      </p:sp>
      <p:sp>
        <p:nvSpPr>
          <p:cNvPr id="9" name="Text: THAT"/>
          <p:cNvSpPr txBox="1"/>
          <p:nvPr/>
        </p:nvSpPr>
        <p:spPr>
          <a:xfrm>
            <a:off x="571500" y="2889845"/>
            <a:ext cx="1785640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THAT</a:t>
            </a:r>
          </a:p>
        </p:txBody>
      </p:sp>
      <p:sp>
        <p:nvSpPr>
          <p:cNvPr id="10" name="Text: ’"/>
          <p:cNvSpPr txBox="1"/>
          <p:nvPr/>
        </p:nvSpPr>
        <p:spPr>
          <a:xfrm>
            <a:off x="2242741" y="2889845"/>
            <a:ext cx="29854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’</a:t>
            </a:r>
          </a:p>
        </p:txBody>
      </p:sp>
      <p:sp>
        <p:nvSpPr>
          <p:cNvPr id="11" name="Text: S"/>
          <p:cNvSpPr txBox="1"/>
          <p:nvPr/>
        </p:nvSpPr>
        <p:spPr>
          <a:xfrm>
            <a:off x="2426891" y="2889845"/>
            <a:ext cx="532209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S</a:t>
            </a:r>
          </a:p>
        </p:txBody>
      </p:sp>
      <p:sp>
        <p:nvSpPr>
          <p:cNvPr id="12" name="Text: IT."/>
          <p:cNvSpPr txBox="1"/>
          <p:nvPr/>
        </p:nvSpPr>
        <p:spPr>
          <a:xfrm>
            <a:off x="3054251" y="2889845"/>
            <a:ext cx="889794" cy="958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725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IT.</a:t>
            </a:r>
          </a:p>
        </p:txBody>
      </p:sp>
      <p:sp>
        <p:nvSpPr>
          <p:cNvPr id="13" name="Editable rounded card"/>
          <p:cNvSpPr/>
          <p:nvPr/>
        </p:nvSpPr>
        <p:spPr>
          <a:xfrm>
            <a:off x="5964337" y="160397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E9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: 01"/>
          <p:cNvSpPr txBox="1"/>
          <p:nvPr/>
        </p:nvSpPr>
        <p:spPr>
          <a:xfrm>
            <a:off x="6154837" y="1759990"/>
            <a:ext cx="279102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15" name="Text: 只保留最强动作"/>
          <p:cNvSpPr txBox="1"/>
          <p:nvPr/>
        </p:nvSpPr>
        <p:spPr>
          <a:xfrm>
            <a:off x="6567587" y="1738082"/>
            <a:ext cx="15240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只保留最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强动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作</a:t>
            </a:r>
          </a:p>
        </p:txBody>
      </p:sp>
      <p:sp>
        <p:nvSpPr>
          <p:cNvPr id="16" name="Text: 先把捏压、保持、释放做可靠。"/>
          <p:cNvSpPr txBox="1"/>
          <p:nvPr/>
        </p:nvSpPr>
        <p:spPr>
          <a:xfrm>
            <a:off x="6567587" y="206593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先把捏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压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、保持、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释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放做可靠。</a:t>
            </a:r>
          </a:p>
        </p:txBody>
      </p:sp>
      <p:sp>
        <p:nvSpPr>
          <p:cNvPr id="17" name="Editable rounded card"/>
          <p:cNvSpPr/>
          <p:nvPr/>
        </p:nvSpPr>
        <p:spPr>
          <a:xfrm>
            <a:off x="5964337" y="260092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DBE9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: 02"/>
          <p:cNvSpPr txBox="1"/>
          <p:nvPr/>
        </p:nvSpPr>
        <p:spPr>
          <a:xfrm>
            <a:off x="6154837" y="2756940"/>
            <a:ext cx="289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9" name="Text: 先做一色、一套机构"/>
          <p:cNvSpPr txBox="1"/>
          <p:nvPr/>
        </p:nvSpPr>
        <p:spPr>
          <a:xfrm>
            <a:off x="6567587" y="2735032"/>
            <a:ext cx="19304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先做一色、一套机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构</a:t>
            </a:r>
          </a:p>
        </p:txBody>
      </p:sp>
      <p:sp>
        <p:nvSpPr>
          <p:cNvPr id="20" name="Text: 把授权、触感与安全一起验证。"/>
          <p:cNvSpPr txBox="1"/>
          <p:nvPr/>
        </p:nvSpPr>
        <p:spPr>
          <a:xfrm>
            <a:off x="6567587" y="3062883"/>
            <a:ext cx="232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把授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、触感与安全一起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21" name="Editable rounded card"/>
          <p:cNvSpPr/>
          <p:nvPr/>
        </p:nvSpPr>
        <p:spPr>
          <a:xfrm>
            <a:off x="5964337" y="3597870"/>
            <a:ext cx="5656163" cy="882650"/>
          </a:xfrm>
          <a:custGeom>
            <a:avLst/>
            <a:gdLst/>
            <a:ahLst/>
            <a:cxnLst/>
            <a:rect l="0" t="0" r="r" b="b"/>
            <a:pathLst>
              <a:path w="5656163" h="882650" fill="norm" stroke="0">
                <a:moveTo>
                  <a:pt x="190500" y="0"/>
                </a:moveTo>
                <a:lnTo>
                  <a:pt x="5465663" y="0"/>
                </a:lnTo>
                <a:cubicBezTo>
                  <a:pt x="5570874" y="0"/>
                  <a:pt x="5656163" y="85290"/>
                  <a:pt x="5656163" y="190500"/>
                </a:cubicBezTo>
                <a:lnTo>
                  <a:pt x="5656163" y="692150"/>
                </a:lnTo>
                <a:cubicBezTo>
                  <a:pt x="5656163" y="797360"/>
                  <a:pt x="5570874" y="882650"/>
                  <a:pt x="5465663" y="882650"/>
                </a:cubicBezTo>
                <a:lnTo>
                  <a:pt x="190500" y="882650"/>
                </a:lnTo>
                <a:cubicBezTo>
                  <a:pt x="85290" y="882650"/>
                  <a:pt x="0" y="797360"/>
                  <a:pt x="0" y="6921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0D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: 03"/>
          <p:cNvSpPr txBox="1"/>
          <p:nvPr/>
        </p:nvSpPr>
        <p:spPr>
          <a:xfrm>
            <a:off x="6154837" y="3753890"/>
            <a:ext cx="29646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0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3" name="Text: 用证据决定下一步"/>
          <p:cNvSpPr txBox="1"/>
          <p:nvPr/>
        </p:nvSpPr>
        <p:spPr>
          <a:xfrm>
            <a:off x="6567587" y="3731982"/>
            <a:ext cx="1727299" cy="330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证</a:t>
            </a:r>
            <a:r>
              <a:rPr sz="16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据决定下一</a:t>
            </a:r>
            <a:r>
              <a:rPr sz="1600" b="1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步</a:t>
            </a:r>
          </a:p>
        </p:txBody>
      </p:sp>
      <p:sp>
        <p:nvSpPr>
          <p:cNvPr id="24" name="Text: 用户愿带、工厂能做、试售算得过账，再扩展。"/>
          <p:cNvSpPr txBox="1"/>
          <p:nvPr/>
        </p:nvSpPr>
        <p:spPr>
          <a:xfrm>
            <a:off x="6567587" y="4059833"/>
            <a:ext cx="343544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用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愿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、工厂能做、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试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售算得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过账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，再</a:t>
            </a:r>
            <a:r>
              <a:rPr sz="12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扩</a:t>
            </a:r>
            <a:r>
              <a:rPr sz="12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展。</a:t>
            </a:r>
          </a:p>
        </p:txBody>
      </p:sp>
      <p:sp>
        <p:nvSpPr>
          <p:cNvPr id="25" name="Text: 而不是一只功能很多的电子玩具。"/>
          <p:cNvSpPr txBox="1"/>
          <p:nvPr/>
        </p:nvSpPr>
        <p:spPr>
          <a:xfrm>
            <a:off x="4191000" y="4756110"/>
            <a:ext cx="39116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而不是一只功能很多的</a:t>
            </a:r>
            <a:r>
              <a:rPr sz="2000" b="0" i="0" spc="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电</a:t>
            </a:r>
            <a:r>
              <a:rPr sz="2000" b="0" i="0" spc="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子玩具。</a:t>
            </a:r>
          </a:p>
        </p:txBody>
      </p:sp>
      <p:sp>
        <p:nvSpPr>
          <p:cNvPr id="26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27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8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29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30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33" name="Text: 29"/>
          <p:cNvSpPr txBox="1"/>
          <p:nvPr/>
        </p:nvSpPr>
        <p:spPr>
          <a:xfrm>
            <a:off x="11275913" y="6466713"/>
            <a:ext cx="20677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29</a:t>
            </a:r>
          </a:p>
        </p:txBody>
      </p:sp>
      <p:sp>
        <p:nvSpPr>
          <p:cNvPr id="34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5" name="Text: 30"/>
          <p:cNvSpPr txBox="1"/>
          <p:nvPr/>
        </p:nvSpPr>
        <p:spPr>
          <a:xfrm>
            <a:off x="11507391" y="6466713"/>
            <a:ext cx="2147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6"/>
          <p:cNvSpPr txBox="1"/>
          <p:nvPr/>
        </p:nvSpPr>
        <p:spPr>
          <a:xfrm>
            <a:off x="571500" y="400748"/>
            <a:ext cx="28535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06</a:t>
            </a:r>
          </a:p>
        </p:txBody>
      </p:sp>
      <p:sp>
        <p:nvSpPr>
          <p:cNvPr id="3" name="Text: /"/>
          <p:cNvSpPr txBox="1"/>
          <p:nvPr/>
        </p:nvSpPr>
        <p:spPr>
          <a:xfrm>
            <a:off x="817959" y="400748"/>
            <a:ext cx="19992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4" name="Text: THANK"/>
          <p:cNvSpPr txBox="1"/>
          <p:nvPr/>
        </p:nvSpPr>
        <p:spPr>
          <a:xfrm>
            <a:off x="978892" y="400748"/>
            <a:ext cx="658713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THANK</a:t>
            </a:r>
          </a:p>
        </p:txBody>
      </p:sp>
      <p:sp>
        <p:nvSpPr>
          <p:cNvPr id="5" name="Text: YOU"/>
          <p:cNvSpPr txBox="1"/>
          <p:nvPr/>
        </p:nvSpPr>
        <p:spPr>
          <a:xfrm>
            <a:off x="1598712" y="400748"/>
            <a:ext cx="43358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00" lang="zh-CN" dirty="0">
                <a:solidFill>
                  <a:srgbClr val="998D7C"/>
                </a:solidFill>
                <a:latin typeface="Zen Maru Gothic"/>
                <a:ea typeface="Zen Maru Gothic"/>
                <a:cs typeface="Zen Maru Gothic"/>
              </a:rPr>
              <a:t>YOU</a:t>
            </a:r>
          </a:p>
        </p:txBody>
      </p:sp>
      <p:sp>
        <p:nvSpPr>
          <p:cNvPr id="6" name="Text: 它只是会抱住你。"/>
          <p:cNvSpPr txBox="1"/>
          <p:nvPr/>
        </p:nvSpPr>
        <p:spPr>
          <a:xfrm>
            <a:off x="571500" y="706374"/>
            <a:ext cx="3403600" cy="6223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它只是会抱住</a:t>
            </a:r>
            <a:r>
              <a:rPr sz="3200" b="1" i="0" spc="50" lang="zh-CN" dirty="0">
                <a:solidFill>
                  <a:srgbClr val="E66E43"/>
                </a:solidFill>
                <a:latin typeface="Noto Sans CJK SC"/>
                <a:ea typeface="Noto Sans CJK SC"/>
                <a:cs typeface="Noto Sans CJK SC"/>
              </a:rPr>
              <a:t>你</a:t>
            </a:r>
            <a:r>
              <a:rPr sz="3200" b="1" i="0" spc="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7" name="Text: THANK"/>
          <p:cNvSpPr txBox="1"/>
          <p:nvPr/>
        </p:nvSpPr>
        <p:spPr>
          <a:xfrm>
            <a:off x="571500" y="1641181"/>
            <a:ext cx="3315585" cy="1377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85"/>
              </a:lnSpc>
              <a:spcBef>
                <a:spcPts val="0"/>
              </a:spcBef>
              <a:spcAft>
                <a:spcPts val="0"/>
              </a:spcAft>
            </a:pPr>
            <a:r>
              <a:rPr sz="73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THANK</a:t>
            </a:r>
          </a:p>
        </p:txBody>
      </p:sp>
      <p:sp>
        <p:nvSpPr>
          <p:cNvPr id="8" name="Text: YOU."/>
          <p:cNvSpPr txBox="1"/>
          <p:nvPr/>
        </p:nvSpPr>
        <p:spPr>
          <a:xfrm>
            <a:off x="571500" y="2716613"/>
            <a:ext cx="2297402" cy="13779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585"/>
              </a:lnSpc>
              <a:spcBef>
                <a:spcPts val="0"/>
              </a:spcBef>
              <a:spcAft>
                <a:spcPts val="0"/>
              </a:spcAft>
            </a:pPr>
            <a:r>
              <a:rPr sz="7300" b="0" i="0" spc="250" lang="zh-CN" dirty="0">
                <a:solidFill>
                  <a:srgbClr val="E66E43"/>
                </a:solidFill>
                <a:latin typeface="Zen Maru Gothic"/>
                <a:ea typeface="Zen Maru Gothic"/>
                <a:cs typeface="Zen Maru Gothic"/>
              </a:rPr>
              <a:t>YOU.</a:t>
            </a:r>
          </a:p>
        </p:txBody>
      </p:sp>
      <p:sp>
        <p:nvSpPr>
          <p:cNvPr id="9" name="Text: Sources"/>
          <p:cNvSpPr txBox="1"/>
          <p:nvPr/>
        </p:nvSpPr>
        <p:spPr>
          <a:xfrm>
            <a:off x="6165453" y="1840825"/>
            <a:ext cx="766266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Sources</a:t>
            </a:r>
          </a:p>
        </p:txBody>
      </p:sp>
      <p:sp>
        <p:nvSpPr>
          <p:cNvPr id="10" name="Text: /"/>
          <p:cNvSpPr txBox="1"/>
          <p:nvPr/>
        </p:nvSpPr>
        <p:spPr>
          <a:xfrm>
            <a:off x="6883400" y="1840825"/>
            <a:ext cx="205680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1" name="Text: 研究入口"/>
          <p:cNvSpPr txBox="1"/>
          <p:nvPr/>
        </p:nvSpPr>
        <p:spPr>
          <a:xfrm>
            <a:off x="7040761" y="1840825"/>
            <a:ext cx="863699" cy="3175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研究入口</a:t>
            </a:r>
          </a:p>
        </p:txBody>
      </p:sp>
      <p:sp>
        <p:nvSpPr>
          <p:cNvPr id="12" name="Text: Yukai"/>
          <p:cNvSpPr txBox="1"/>
          <p:nvPr/>
        </p:nvSpPr>
        <p:spPr>
          <a:xfrm>
            <a:off x="6165453" y="2300883"/>
            <a:ext cx="46315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13" name="Text: Engineering"/>
          <p:cNvSpPr txBox="1"/>
          <p:nvPr/>
        </p:nvSpPr>
        <p:spPr>
          <a:xfrm>
            <a:off x="6571357" y="2300883"/>
            <a:ext cx="92194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14" name="Text: /"/>
          <p:cNvSpPr txBox="1"/>
          <p:nvPr/>
        </p:nvSpPr>
        <p:spPr>
          <a:xfrm>
            <a:off x="7436048" y="230088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5" name="Text: 官方产品总览"/>
          <p:cNvSpPr txBox="1"/>
          <p:nvPr/>
        </p:nvSpPr>
        <p:spPr>
          <a:xfrm>
            <a:off x="7567216" y="2300883"/>
            <a:ext cx="1054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总览</a:t>
            </a:r>
          </a:p>
        </p:txBody>
      </p:sp>
      <p:sp>
        <p:nvSpPr>
          <p:cNvPr id="16" name="Text: Qoobo"/>
          <p:cNvSpPr txBox="1"/>
          <p:nvPr/>
        </p:nvSpPr>
        <p:spPr>
          <a:xfrm>
            <a:off x="6165453" y="2602508"/>
            <a:ext cx="564753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Qoobo</a:t>
            </a:r>
          </a:p>
        </p:txBody>
      </p:sp>
      <p:sp>
        <p:nvSpPr>
          <p:cNvPr id="17" name="Text: /"/>
          <p:cNvSpPr txBox="1"/>
          <p:nvPr/>
        </p:nvSpPr>
        <p:spPr>
          <a:xfrm>
            <a:off x="6672957" y="2602508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18" name="Text: 摇尾陪伴"/>
          <p:cNvSpPr txBox="1"/>
          <p:nvPr/>
        </p:nvSpPr>
        <p:spPr>
          <a:xfrm>
            <a:off x="6804025" y="2602508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摇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尾陪伴</a:t>
            </a:r>
          </a:p>
        </p:txBody>
      </p:sp>
      <p:sp>
        <p:nvSpPr>
          <p:cNvPr id="19" name="Text: AMAGAMI"/>
          <p:cNvSpPr txBox="1"/>
          <p:nvPr/>
        </p:nvSpPr>
        <p:spPr>
          <a:xfrm>
            <a:off x="6165453" y="2904133"/>
            <a:ext cx="79603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AMAGAMI</a:t>
            </a:r>
          </a:p>
        </p:txBody>
      </p:sp>
      <p:sp>
        <p:nvSpPr>
          <p:cNvPr id="20" name="Text: HAM"/>
          <p:cNvSpPr txBox="1"/>
          <p:nvPr/>
        </p:nvSpPr>
        <p:spPr>
          <a:xfrm>
            <a:off x="6904236" y="2904133"/>
            <a:ext cx="43616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21" name="Text: HAM"/>
          <p:cNvSpPr txBox="1"/>
          <p:nvPr/>
        </p:nvSpPr>
        <p:spPr>
          <a:xfrm>
            <a:off x="7283152" y="2904133"/>
            <a:ext cx="43616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HAM</a:t>
            </a:r>
          </a:p>
        </p:txBody>
      </p:sp>
      <p:sp>
        <p:nvSpPr>
          <p:cNvPr id="22" name="Text: /"/>
          <p:cNvSpPr txBox="1"/>
          <p:nvPr/>
        </p:nvSpPr>
        <p:spPr>
          <a:xfrm>
            <a:off x="7662069" y="2904133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3" name="Text: 轻咬"/>
          <p:cNvSpPr txBox="1"/>
          <p:nvPr/>
        </p:nvSpPr>
        <p:spPr>
          <a:xfrm>
            <a:off x="7793236" y="2904133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轻</a:t>
            </a: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咬</a:t>
            </a:r>
          </a:p>
        </p:txBody>
      </p:sp>
      <p:sp>
        <p:nvSpPr>
          <p:cNvPr id="24" name="Text: N"/>
          <p:cNvSpPr txBox="1"/>
          <p:nvPr/>
        </p:nvSpPr>
        <p:spPr>
          <a:xfrm>
            <a:off x="6165453" y="3205758"/>
            <a:ext cx="21054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N</a:t>
            </a:r>
          </a:p>
        </p:txBody>
      </p:sp>
      <p:sp>
        <p:nvSpPr>
          <p:cNvPr id="25" name="Text: é"/>
          <p:cNvSpPr txBox="1"/>
          <p:nvPr/>
        </p:nvSpPr>
        <p:spPr>
          <a:xfrm>
            <a:off x="6274296" y="3205758"/>
            <a:ext cx="18494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é</a:t>
            </a:r>
          </a:p>
        </p:txBody>
      </p:sp>
      <p:sp>
        <p:nvSpPr>
          <p:cNvPr id="26" name="Text: kojita"/>
          <p:cNvSpPr txBox="1"/>
          <p:nvPr/>
        </p:nvSpPr>
        <p:spPr>
          <a:xfrm>
            <a:off x="6357541" y="3205758"/>
            <a:ext cx="476945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kojita</a:t>
            </a:r>
          </a:p>
        </p:txBody>
      </p:sp>
      <p:sp>
        <p:nvSpPr>
          <p:cNvPr id="27" name="Text: FuFu"/>
          <p:cNvSpPr txBox="1"/>
          <p:nvPr/>
        </p:nvSpPr>
        <p:spPr>
          <a:xfrm>
            <a:off x="6777236" y="3205758"/>
            <a:ext cx="441424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FuFu</a:t>
            </a:r>
          </a:p>
        </p:txBody>
      </p:sp>
      <p:sp>
        <p:nvSpPr>
          <p:cNvPr id="28" name="Text: /"/>
          <p:cNvSpPr txBox="1"/>
          <p:nvPr/>
        </p:nvSpPr>
        <p:spPr>
          <a:xfrm>
            <a:off x="7161411" y="3205758"/>
            <a:ext cx="1884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29" name="Text: 吹气"/>
          <p:cNvSpPr txBox="1"/>
          <p:nvPr/>
        </p:nvSpPr>
        <p:spPr>
          <a:xfrm>
            <a:off x="7292578" y="3205758"/>
            <a:ext cx="4191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吹气</a:t>
            </a:r>
          </a:p>
        </p:txBody>
      </p:sp>
      <p:sp>
        <p:nvSpPr>
          <p:cNvPr id="30" name="Text: Mirumi"/>
          <p:cNvSpPr txBox="1"/>
          <p:nvPr/>
        </p:nvSpPr>
        <p:spPr>
          <a:xfrm>
            <a:off x="6165453" y="3507383"/>
            <a:ext cx="569516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Mirumi</a:t>
            </a:r>
          </a:p>
        </p:txBody>
      </p:sp>
      <p:sp>
        <p:nvSpPr>
          <p:cNvPr id="31" name="Text: /"/>
          <p:cNvSpPr txBox="1"/>
          <p:nvPr/>
        </p:nvSpPr>
        <p:spPr>
          <a:xfrm>
            <a:off x="6677720" y="3507383"/>
            <a:ext cx="18831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32" name="Text: 随身反应"/>
          <p:cNvSpPr txBox="1"/>
          <p:nvPr/>
        </p:nvSpPr>
        <p:spPr>
          <a:xfrm>
            <a:off x="6808788" y="3507383"/>
            <a:ext cx="73669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0" lang="zh-CN" dirty="0">
                <a:solidFill>
                  <a:srgbClr val="9A704B"/>
                </a:solidFill>
                <a:latin typeface="Zen Maru Gothic"/>
                <a:ea typeface="Zen Maru Gothic"/>
                <a:cs typeface="Zen Maru Gothic"/>
              </a:rPr>
              <a:t>随身反</a:t>
            </a:r>
            <a:r>
              <a:rPr sz="1250" b="0" i="0" spc="0" lang="zh-CN" dirty="0">
                <a:solidFill>
                  <a:srgbClr val="9A704B"/>
                </a:solidFill>
                <a:latin typeface="Noto Sans CJK SC"/>
                <a:ea typeface="Noto Sans CJK SC"/>
                <a:cs typeface="Noto Sans CJK SC"/>
              </a:rPr>
              <a:t>应</a:t>
            </a:r>
          </a:p>
        </p:txBody>
      </p:sp>
      <p:sp>
        <p:nvSpPr>
          <p:cNvPr id="33" name="Text: 品牌行为与产品图已核对"/>
          <p:cNvSpPr txBox="1"/>
          <p:nvPr/>
        </p:nvSpPr>
        <p:spPr>
          <a:xfrm>
            <a:off x="6165453" y="3919244"/>
            <a:ext cx="15684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品牌行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为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已核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对</a:t>
            </a:r>
          </a:p>
        </p:txBody>
      </p:sp>
      <p:sp>
        <p:nvSpPr>
          <p:cNvPr id="34" name="Text: Yukai"/>
          <p:cNvSpPr txBox="1"/>
          <p:nvPr/>
        </p:nvSpPr>
        <p:spPr>
          <a:xfrm>
            <a:off x="7669609" y="3919244"/>
            <a:ext cx="40530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35" name="Text: 官方产品总览；查阅日期："/>
          <p:cNvSpPr txBox="1"/>
          <p:nvPr/>
        </p:nvSpPr>
        <p:spPr>
          <a:xfrm>
            <a:off x="8010525" y="3919244"/>
            <a:ext cx="170189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；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查阅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日期：</a:t>
            </a:r>
          </a:p>
        </p:txBody>
      </p:sp>
      <p:sp>
        <p:nvSpPr>
          <p:cNvPr id="36" name="Text: 2026.10.21"/>
          <p:cNvSpPr txBox="1"/>
          <p:nvPr/>
        </p:nvSpPr>
        <p:spPr>
          <a:xfrm>
            <a:off x="9610725" y="3919244"/>
            <a:ext cx="646906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2026.10.21</a:t>
            </a:r>
          </a:p>
        </p:txBody>
      </p:sp>
      <p:sp>
        <p:nvSpPr>
          <p:cNvPr id="37" name="Text: 。"/>
          <p:cNvSpPr txBox="1"/>
          <p:nvPr/>
        </p:nvSpPr>
        <p:spPr>
          <a:xfrm>
            <a:off x="10155932" y="3919244"/>
            <a:ext cx="23504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38" name="Text: 鼠大图像："/>
          <p:cNvSpPr txBox="1"/>
          <p:nvPr/>
        </p:nvSpPr>
        <p:spPr>
          <a:xfrm>
            <a:off x="6165453" y="4272859"/>
            <a:ext cx="7683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鼠大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像：</a:t>
            </a:r>
          </a:p>
        </p:txBody>
      </p:sp>
      <p:sp>
        <p:nvSpPr>
          <p:cNvPr id="39" name="Text: AI"/>
          <p:cNvSpPr txBox="1"/>
          <p:nvPr/>
        </p:nvSpPr>
        <p:spPr>
          <a:xfrm>
            <a:off x="6832104" y="4272859"/>
            <a:ext cx="219472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AI</a:t>
            </a:r>
          </a:p>
        </p:txBody>
      </p:sp>
      <p:sp>
        <p:nvSpPr>
          <p:cNvPr id="40" name="Text: 概念可视化；品牌产品图："/>
          <p:cNvSpPr txBox="1"/>
          <p:nvPr/>
        </p:nvSpPr>
        <p:spPr>
          <a:xfrm>
            <a:off x="6987282" y="4272859"/>
            <a:ext cx="1701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概念可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视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化；品牌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图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</a:p>
        </p:txBody>
      </p:sp>
      <p:sp>
        <p:nvSpPr>
          <p:cNvPr id="41" name="Text: Yukai"/>
          <p:cNvSpPr txBox="1"/>
          <p:nvPr/>
        </p:nvSpPr>
        <p:spPr>
          <a:xfrm>
            <a:off x="8587383" y="4272859"/>
            <a:ext cx="40540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Yukai</a:t>
            </a:r>
          </a:p>
        </p:txBody>
      </p:sp>
      <p:sp>
        <p:nvSpPr>
          <p:cNvPr id="42" name="Text: Engineering"/>
          <p:cNvSpPr txBox="1"/>
          <p:nvPr/>
        </p:nvSpPr>
        <p:spPr>
          <a:xfrm>
            <a:off x="8928398" y="4272859"/>
            <a:ext cx="790674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Engineering</a:t>
            </a:r>
          </a:p>
        </p:txBody>
      </p:sp>
      <p:sp>
        <p:nvSpPr>
          <p:cNvPr id="43" name="Text: 官方产品总览。"/>
          <p:cNvSpPr txBox="1"/>
          <p:nvPr/>
        </p:nvSpPr>
        <p:spPr>
          <a:xfrm>
            <a:off x="9654778" y="4272859"/>
            <a:ext cx="1035149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官方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总览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sp>
        <p:nvSpPr>
          <p:cNvPr id="44" name="Text: 校园授权、用户画像、市场定位、结构与商业指标均按提案假设处理。"/>
          <p:cNvSpPr txBox="1"/>
          <p:nvPr/>
        </p:nvSpPr>
        <p:spPr>
          <a:xfrm>
            <a:off x="6165453" y="4499475"/>
            <a:ext cx="42354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校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园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授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权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、用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户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画像、市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场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定位、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与商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业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标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均按提案假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设处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理。</a:t>
            </a:r>
          </a:p>
        </p:txBody>
      </p:sp>
      <p:sp>
        <p:nvSpPr>
          <p:cNvPr id="45" name="Text: 页面实现："/>
          <p:cNvSpPr txBox="1"/>
          <p:nvPr/>
        </p:nvSpPr>
        <p:spPr>
          <a:xfrm>
            <a:off x="6165453" y="4726091"/>
            <a:ext cx="7683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面</a:t>
            </a:r>
            <a:r>
              <a:rPr sz="1050" b="0" i="0" spc="0" lang="zh-CN" dirty="0">
                <a:solidFill>
                  <a:srgbClr val="655C52"/>
                </a:solidFill>
                <a:latin typeface="Noto Sans CJK SC"/>
                <a:ea typeface="Noto Sans CJK SC"/>
                <a:cs typeface="Noto Sans CJK SC"/>
              </a:rPr>
              <a:t>实现</a:t>
            </a: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：</a:t>
            </a:r>
          </a:p>
        </p:txBody>
      </p:sp>
      <p:sp>
        <p:nvSpPr>
          <p:cNvPr id="46" name="Text: Frontend"/>
          <p:cNvSpPr txBox="1"/>
          <p:nvPr/>
        </p:nvSpPr>
        <p:spPr>
          <a:xfrm>
            <a:off x="6832104" y="4726091"/>
            <a:ext cx="63123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Frontend</a:t>
            </a:r>
          </a:p>
        </p:txBody>
      </p:sp>
      <p:sp>
        <p:nvSpPr>
          <p:cNvPr id="47" name="Text: Slides"/>
          <p:cNvSpPr txBox="1"/>
          <p:nvPr/>
        </p:nvSpPr>
        <p:spPr>
          <a:xfrm>
            <a:off x="7399040" y="4726091"/>
            <a:ext cx="449560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Slides</a:t>
            </a:r>
          </a:p>
        </p:txBody>
      </p:sp>
      <p:sp>
        <p:nvSpPr>
          <p:cNvPr id="48" name="Text: ·"/>
          <p:cNvSpPr txBox="1"/>
          <p:nvPr/>
        </p:nvSpPr>
        <p:spPr>
          <a:xfrm>
            <a:off x="7784306" y="4726091"/>
            <a:ext cx="134045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49" name="Text: github.com/zarazhangrui/frontend-slides"/>
          <p:cNvSpPr txBox="1"/>
          <p:nvPr/>
        </p:nvSpPr>
        <p:spPr>
          <a:xfrm>
            <a:off x="7854057" y="4726091"/>
            <a:ext cx="2528788" cy="2286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0" lang="zh-CN" dirty="0">
                <a:solidFill>
                  <a:srgbClr val="655C52"/>
                </a:solidFill>
                <a:latin typeface="Zen Maru Gothic"/>
                <a:ea typeface="Zen Maru Gothic"/>
                <a:cs typeface="Zen Maru Gothic"/>
              </a:rPr>
              <a:t>github.com/zarazhangrui/frontend-slides</a:t>
            </a:r>
          </a:p>
        </p:txBody>
      </p:sp>
      <p:sp>
        <p:nvSpPr>
          <p:cNvPr id="50" name="Text: 鼠大"/>
          <p:cNvSpPr txBox="1"/>
          <p:nvPr/>
        </p:nvSpPr>
        <p:spPr>
          <a:xfrm>
            <a:off x="571500" y="6466713"/>
            <a:ext cx="330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鼠大</a:t>
            </a:r>
          </a:p>
        </p:txBody>
      </p:sp>
      <p:sp>
        <p:nvSpPr>
          <p:cNvPr id="51" name="Text: /"/>
          <p:cNvSpPr txBox="1"/>
          <p:nvPr/>
        </p:nvSpPr>
        <p:spPr>
          <a:xfrm>
            <a:off x="832048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2" name="Text: SUDA"/>
          <p:cNvSpPr txBox="1"/>
          <p:nvPr/>
        </p:nvSpPr>
        <p:spPr>
          <a:xfrm>
            <a:off x="926505" y="6466713"/>
            <a:ext cx="3937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SUDA</a:t>
            </a:r>
          </a:p>
        </p:txBody>
      </p:sp>
      <p:sp>
        <p:nvSpPr>
          <p:cNvPr id="53" name="Text: ·"/>
          <p:cNvSpPr txBox="1"/>
          <p:nvPr/>
        </p:nvSpPr>
        <p:spPr>
          <a:xfrm>
            <a:off x="1364754" y="6466713"/>
            <a:ext cx="12948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·</a:t>
            </a:r>
          </a:p>
        </p:txBody>
      </p:sp>
      <p:sp>
        <p:nvSpPr>
          <p:cNvPr id="54" name="Text: 设计管理"/>
          <p:cNvSpPr txBox="1"/>
          <p:nvPr/>
        </p:nvSpPr>
        <p:spPr>
          <a:xfrm>
            <a:off x="1506835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设计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管理</a:t>
            </a:r>
          </a:p>
        </p:txBody>
      </p:sp>
      <p:sp>
        <p:nvSpPr>
          <p:cNvPr id="55" name="Text: /"/>
          <p:cNvSpPr txBox="1"/>
          <p:nvPr/>
        </p:nvSpPr>
        <p:spPr>
          <a:xfrm>
            <a:off x="1996083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6" name="Text: 产品策划"/>
          <p:cNvSpPr txBox="1"/>
          <p:nvPr/>
        </p:nvSpPr>
        <p:spPr>
          <a:xfrm>
            <a:off x="2090440" y="6466713"/>
            <a:ext cx="55889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产</a:t>
            </a: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品策</a:t>
            </a:r>
            <a:r>
              <a:rPr sz="900" b="0" i="0" spc="0" lang="zh-CN" dirty="0">
                <a:solidFill>
                  <a:srgbClr val="9F9281"/>
                </a:solidFill>
                <a:latin typeface="Noto Sans CJK SC"/>
                <a:ea typeface="Noto Sans CJK SC"/>
                <a:cs typeface="Noto Sans CJK SC"/>
              </a:rPr>
              <a:t>划</a:t>
            </a:r>
          </a:p>
        </p:txBody>
      </p:sp>
      <p:sp>
        <p:nvSpPr>
          <p:cNvPr id="57" name="Text: 30"/>
          <p:cNvSpPr txBox="1"/>
          <p:nvPr/>
        </p:nvSpPr>
        <p:spPr>
          <a:xfrm>
            <a:off x="11268174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  <p:sp>
        <p:nvSpPr>
          <p:cNvPr id="58" name="Text: /"/>
          <p:cNvSpPr txBox="1"/>
          <p:nvPr/>
        </p:nvSpPr>
        <p:spPr>
          <a:xfrm>
            <a:off x="11413034" y="6466713"/>
            <a:ext cx="16410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/</a:t>
            </a:r>
          </a:p>
        </p:txBody>
      </p:sp>
      <p:sp>
        <p:nvSpPr>
          <p:cNvPr id="59" name="Text: 30"/>
          <p:cNvSpPr txBox="1"/>
          <p:nvPr/>
        </p:nvSpPr>
        <p:spPr>
          <a:xfrm>
            <a:off x="11507490" y="6466713"/>
            <a:ext cx="2146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0" lang="zh-CN" dirty="0">
                <a:solidFill>
                  <a:srgbClr val="9F9281"/>
                </a:solidFill>
                <a:latin typeface="Zen Maru Gothic"/>
                <a:ea typeface="Zen Maru Gothic"/>
                <a:cs typeface="Zen Maru Gothic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苏大鼠大互动花枝鼠玩偶产品策划 · 可编辑版</dc:title>
  <dc:subject>Converted from the existing 30-slide HTML, preserving design and page sequence</dc:subject>
  <dc:creator>SUDA / Design Management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