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70" r:id="rId11"/>
    <p:sldId id="267" r:id="rId12"/>
    <p:sldId id="268" r:id="rId13"/>
    <p:sldId id="272" r:id="rId14"/>
    <p:sldId id="271" r:id="rId15"/>
    <p:sldId id="273" r:id="rId16"/>
    <p:sldId id="284" r:id="rId17"/>
    <p:sldId id="274" r:id="rId18"/>
    <p:sldId id="275" r:id="rId19"/>
    <p:sldId id="276" r:id="rId20"/>
    <p:sldId id="277" r:id="rId21"/>
    <p:sldId id="278" r:id="rId22"/>
    <p:sldId id="285" r:id="rId23"/>
    <p:sldId id="281" r:id="rId24"/>
    <p:sldId id="287" r:id="rId25"/>
    <p:sldId id="279" r:id="rId26"/>
    <p:sldId id="280" r:id="rId27"/>
    <p:sldId id="282" r:id="rId28"/>
    <p:sldId id="283" r:id="rId29"/>
  </p:sldIdLst>
  <p:sldSz cx="18288000" cy="102870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387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销售收入</c:v>
                </c:pt>
              </c:strCache>
            </c:strRef>
          </c:tx>
          <c:spPr>
            <a:ln w="34925">
              <a:solidFill>
                <a:srgbClr val="E66E43"/>
              </a:solidFill>
            </a:ln>
          </c:spPr>
          <c:marker>
            <c:symbol val="diamond"/>
            <c:size val="7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  <c:pt idx="6">
                  <c:v>1200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13800</c:v>
                </c:pt>
                <c:pt idx="2">
                  <c:v>27600</c:v>
                </c:pt>
                <c:pt idx="3">
                  <c:v>41400</c:v>
                </c:pt>
                <c:pt idx="4">
                  <c:v>55200</c:v>
                </c:pt>
                <c:pt idx="5">
                  <c:v>69000</c:v>
                </c:pt>
                <c:pt idx="6">
                  <c:v>82800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FF-4FBF-9135-16916A671F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总成本</c:v>
                </c:pt>
              </c:strCache>
            </c:strRef>
          </c:tx>
          <c:spPr>
            <a:ln w="34925">
              <a:solidFill>
                <a:srgbClr val="9EBAC5"/>
              </a:solidFill>
            </a:ln>
          </c:spPr>
          <c:marker>
            <c:symbol val="square"/>
            <c:size val="7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  <c:pt idx="6">
                  <c:v>1200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20000</c:v>
                </c:pt>
                <c:pt idx="1">
                  <c:v>27200</c:v>
                </c:pt>
                <c:pt idx="2">
                  <c:v>34400</c:v>
                </c:pt>
                <c:pt idx="3">
                  <c:v>41600</c:v>
                </c:pt>
                <c:pt idx="4">
                  <c:v>48800</c:v>
                </c:pt>
                <c:pt idx="5">
                  <c:v>56000</c:v>
                </c:pt>
                <c:pt idx="6">
                  <c:v>63200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FF-4FBF-9135-16916A671F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9A8C7B"/>
                </a:solidFill>
                <a:latin typeface="致一圓體_傳承形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0000.0"/>
          <c:min val="0.0"/>
        </c:scaling>
        <c:delete val="0"/>
        <c:axPos val="l"/>
        <c:majorGridlines>
          <c:spPr>
            <a:ln>
              <a:solidFill>
                <a:srgbClr val="E8E1D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9A8C7B"/>
                </a:solidFill>
                <a:latin typeface="致一圓體_傳承形"/>
              </a:defRPr>
            </a:pPr>
            <a:endParaRPr lang="zh-CN"/>
          </a:p>
        </c:txPr>
        <c:crossAx val="2118791784"/>
        <c:crosses val="autoZero"/>
        <c:crossBetween val="between"/>
        <c:majorUnit val="15000.0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开场先让观众记住动作：捏一下，它就抱住你。本案是设计管理课程中的校园纪念品产品提案；苏大与品牌均未授权，图片是AI概念可视化，并非实物照片。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此页按要求完全留白，供汇报人插入角色介绍图片。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品牌口号与产品名称用于建立研究对象。此处展示代表产品的发展线索，不作为逐年发布年表。已核对官方产品页的五款产品与行为描述；本页按体验演进组织，不以页面上传路径推断上市年份。下页开始的象限与分类是本项目的设计研究解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矩阵把产品按互动入口与身体接触关系分组，不是统计测量。BOCCO承担家庭沟通，其他代表产品把感知集中到某个生活动作；我们重点借鉴后者的清晰程度，而非照搬机构。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代表行为用于解释品牌的产品识别方式。每件产品可能有多种内部逻辑和操作，本页强调用户首先感知到的动作，不主张其真实功能仅有一种。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生态图是按使用关系建立的研究图，不表示设备互联或官方产品架构。鼠大的位置是随身与触觉的交叉：校园纪念品通过单一动作进入日常。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象限是提案的目标定位而非客观评分。Yukai各产品有差异，这里只概括其触觉陪伴代表产品的体验气质。鼠大能否提供高情绪价值，必须用用户实验验证。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这是校园纪念品研究的初步观察，并非对所有学校商品的普查结论。后续应抽样校内文创商店与线上售卖页面，核实互动型商品覆盖情况。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核心对象为18至25岁在校学生和年轻校友，不代表已完成真实访谈。至少覆盖日常自用、毕业纪念、朋友互赠三类动机；验证时分别观察动作理解、携带负担和付费意愿。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真正的问题不是是否存在世界上完全相同的商品，而是校园渠道的目标用户是否愿意为明确、可触摸的动作多付一点成本。必须同时验证校园授权、用户需求及机构可制造性。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旅程是拟定体验路径。样机测试时分别记录第一次触摸前后、演示前后的反应，不以社交分享意愿代替真实购买，也不把点赞当成市场规模。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气泡大小只表示讨论时的相对关注度，没有定量研究基础。互动动作、IP识别和尺寸是首版必须验证的三项；尾部磁吸为次级体验，成本或安全不成立时可延后。电子功能不进入当前版本。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第一记忆点只有捏压拥抱。交互目标是腹部受压后前爪内合，撤去按压仍保持，再由用户主动掰开释放。图中为造型与动作示意，不代表机构已经验证。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花枝鼠是宠物大鼠的俗称，本案为其拟人化毛绒设计。避免直接等同实验动物或普通卡通老鼠。苏大谐音只是命名提案，校名、校徽与文创销售须事先获得学校相应授权。五色与学士服领色仅作为纪念关联线索，需核对校方规范，不承诺学科一一对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四格与用户给定NORMAL-SQUEEZE-HUG-HOLD一致，底部补全RELEASE，避免把保持与释放混淆。闭合、保持和手动释放都需在独立机构样机上演示。抱持不是强夹持，要验证舒适性、快速逃脱、夹点与过载行为。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场景图延续封面造型。图像只用于说明交互目标，不能证明机构已实现。实际测试要观察用户是否自然找到腹部、能否独立完成按压和释放，过程中是否感觉被夹或难以脱开。</a:t>
            </a:r>
          </a:p>
          <a:p>
            <a:r>
              <a:t>本页以原图为主，原有长标题与说明移入备注；图片为AI概念可视化，不代表实物或性能验证。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肩带场景复用前爪行为，不另加一套交互。该场景对闭合行程和抱持力提出额外约束：需要分别测不同肩带厚度、走动振动、意外拉扯和脱落。正式商品可评估隐藏式保险挂环，但不能用它掩盖拥抱机构失败。</a:t>
            </a:r>
          </a:p>
          <a:p>
            <a:r>
              <a:t>本页以原图为主，原有长标题与说明移入备注；图片为AI概念可视化，不代表实物或性能验证。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尾巴磁吸为次级社交体验，服务合影和互赠，不替代核心拥抱。心形需要预成型软支撑与磁极方向配合，不能假定软尾巴靠磁铁就会自动成心。磁体应不可拆取并可靠封装，验证拉脱、吞咽、洗护及磁极配对风险。</a:t>
            </a:r>
          </a:p>
          <a:p>
            <a:r>
              <a:t>本页以原图为主，原有长标题与说明移入备注；图片为AI概念可视化，不代表实物或性能验证。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先用黄白主色验证一套版型和机构，再扩展粉灰白柔红，减少多SKU并行带来的库存与一致性风险。领色关联是设计叙事，不应宣称其与所有院系官方领色一一对应。</a:t>
            </a:r>
          </a:p>
          <a:p>
            <a:r>
              <a:t>本页以原图为主，原有长标题与说明移入备注；图片为AI概念可视化，不代表实物或性能验证。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包内合影场景把配色与朋友关系连接。商业上并不建议首批同时大量生产五色，应在样品体验中记录颜色偏好，再决定先上主色和最有需求的一款扩展色。</a:t>
            </a:r>
          </a:p>
          <a:p>
            <a:r>
              <a:t>本页以原图为主，原有长标题与说明移入备注；图片为AI概念可视化，不代表实物或性能验证。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有周数、百分比和循环次数都是建议计划或验收门槛，不是实测数据。建议先招募12至20名目标用户探索需求，G1以多只独立样机测试同一流程，G2试产数量由工厂MOQ和损耗预算决定。1,000次仅是内部初步目标，不能代替适用安全标准的检测。价格测试需在成本报价后确定候选售价，分别记录真实购买与口头意愿。渠道包括校方授权门店和毕业季快闪，未取得合作。各阶段只有对应门槛达标才推进；低于毛利门槛应先改设计与采购而非盲目涨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I员工是分工比喻，不表示使用了真实员工或已完成工程工作。本轮实际执行为资料访问尝试、统一参考图的场景生成、图解与HTML制作；已核验官方产品总览的行为描述与产品图，独立产品站点仍需逐项补查。Research卡描述后续验收要求，Structure卡的产出只是机构候选。设计总监对证据、授权、安全和选型承担责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此时间线依据用户给定的概念演进顺序整理，不代表已有历史原型或用户测试记录。为可追溯管理，每次迭代应保存日期、关键假设、样机证据与淘汰原因。下一步不是继续加功能，而是验证抱持机构。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设计总监的最终决策是冻结首版范围，但不提前宣称成功。当前可以批准机构验证与单色造型打样，不应批准未经验证的量产。校方授权、安全检测、用户接受度和完整成本核算是放量前置条件。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结束时回到动作，而不是功能清单。已读取Yukai官方产品总览，确认家庭沟通、摇尾、轻咬、吹气及偷瞄的代表行为；部分独立产品站点为脚本页面或失效链接，优先以官方总览为准。本轮未提供独立用户调查或已量产证据。汇报前应补充校方授权依据、官方产品信息、真实机构样机视频和用户验证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课程策划假设 / 待验证。建议零售价69元；制造成本约28–32元，含包装、损耗与渠道后的总变动成本约36元，因此单只贡献约33元。固定投入20,000元，理论盈亏平衡20,000/33≈606.06只，概述为约606只；若按整只计算，至少607只才能覆盖固定投入。首轮试销1,000只：销售额69,000元，变动成本36,000元，加固定投入20,000元，总成本56,000元，预计利润13,000元，ROI=13,000/20,000≈65%。该ROI为课程简化口径，非净利润率或实际业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p/>
          </p:txBody>
        </p:sp>
      </p:grpSp>
      <p:sp>
        <p:nvSpPr>
          <p:cNvPr id="4" name="TextBox 4"/>
          <p:cNvSpPr txBox="1"/>
          <p:nvPr/>
        </p:nvSpPr>
        <p:spPr>
          <a:xfrm>
            <a:off x="645328" y="922134"/>
            <a:ext cx="5402542" cy="17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8"/>
              </a:lnSpc>
            </a:pPr>
            <a:r>
              <a:rPr lang="zh-CN" sz="1032" spc="0" b="0">
                <a:solidFill>
                  <a:srgbClr val="785B4C"/>
                </a:solidFill>
                <a:latin typeface="SimSun"/>
                <a:ea typeface="SimSun"/>
                <a:cs typeface="SimSun"/>
              </a:rPr>
              <a:t>DESIGN MANAGEMENT / PRODUCT CONCEPT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8365" y="1014791"/>
            <a:ext cx="5388178" cy="375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0"/>
              </a:lnSpc>
            </a:pPr>
            <a:r>
              <a:rPr lang="zh-CN" sz="18000" b="0" spc="0">
                <a:solidFill>
                  <a:srgbClr val="E66B35"/>
                </a:solidFill>
                <a:latin typeface="ChillRoundM"/>
                <a:ea typeface="寒蝉半圆体"/>
                <a:cs typeface="ChillRoundM"/>
              </a:rPr>
              <a:t>鼠大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5328" y="4521927"/>
            <a:ext cx="4418143" cy="77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8"/>
              </a:lnSpc>
            </a:pPr>
            <a:r>
              <a:rPr lang="zh-CN" sz="3701" spc="0" b="0">
                <a:solidFill>
                  <a:srgbClr val="E66B35"/>
                </a:solidFill>
                <a:latin typeface="ChillRoundM"/>
                <a:ea typeface="寒蝉半圆体"/>
                <a:cs typeface="ChillRoundM"/>
              </a:rPr>
              <a:t>S U D 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5328" y="5437337"/>
            <a:ext cx="6605702" cy="4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9"/>
              </a:lnSpc>
            </a:pPr>
            <a:r>
              <a:rPr lang="zh-CN" sz="2668" spc="0" b="0">
                <a:solidFill>
                  <a:srgbClr val="796558"/>
                </a:solidFill>
                <a:latin typeface="致一圓體_傳承形"/>
                <a:ea typeface="致一圓體_傳承形"/>
                <a:cs typeface="致一圓體_傳承形"/>
              </a:rPr>
              <a:t>会主动抱住你的苏大互动花枝鼠玩偶</a:t>
            </a:r>
          </a:p>
        </p:txBody>
      </p:sp>
      <p:sp>
        <p:nvSpPr>
          <p:cNvPr id="8" name="AutoShape 8"/>
          <p:cNvSpPr/>
          <p:nvPr/>
        </p:nvSpPr>
        <p:spPr>
          <a:xfrm rot="329520">
            <a:off x="660425" y="7368730"/>
            <a:ext cx="571386" cy="0"/>
          </a:xfrm>
          <a:prstGeom prst="line">
            <a:avLst/>
          </a:prstGeom>
          <a:ln w="28575" cap="rnd">
            <a:solidFill>
              <a:srgbClr val="A5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667207" y="7476258"/>
            <a:ext cx="4418143" cy="497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1"/>
              </a:lnSpc>
            </a:pPr>
            <a:r>
              <a:rPr lang="zh-CN" sz="2152" spc="0" b="0">
                <a:solidFill>
                  <a:srgbClr val="DF6F43"/>
                </a:solidFill>
                <a:latin typeface="致一圓體_傳承形"/>
                <a:ea typeface="致一圓體_傳承形"/>
                <a:cs typeface="致一圓體_傳承形"/>
              </a:rPr>
              <a:t>SQUEEZE TO HUG.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7207" y="9192577"/>
            <a:ext cx="5074406" cy="44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zh-CN" sz="1722" spc="0" b="0">
                <a:solidFill>
                  <a:srgbClr val="F2DFD1"/>
                </a:solidFill>
                <a:latin typeface="SimSun"/>
                <a:ea typeface="SimSun"/>
                <a:cs typeface="SimSun"/>
              </a:rPr>
              <a:t>苏大「鼠大」互动花枝鼠玩偶产品策划</a:t>
            </a:r>
          </a:p>
        </p:txBody>
      </p:sp>
      <p:sp>
        <p:nvSpPr>
          <p:cNvPr id="11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12" name="SUDA small 01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DA small RESUME"/>
          <p:cNvSpPr txBox="1"/>
          <p:nvPr/>
        </p:nvSpPr>
        <p:spPr>
          <a:xfrm>
            <a:off x="590550" y="390525"/>
            <a:ext cx="571500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spc="0">
                <a:solidFill>
                  <a:srgbClr val="9E958A"/>
                </a:solidFill>
                <a:latin typeface="SimSun"/>
                <a:ea typeface="SimSun"/>
                <a:cs typeface="SimSun"/>
              </a:rPr>
              <a:t>RESUME</a:t>
            </a:r>
          </a:p>
        </p:txBody>
      </p:sp>
      <p:sp>
        <p:nvSpPr>
          <p:cNvPr id="3" name="SUDA small 苏大 / SUDA  ·  产品设计  ·  沈佳微"/>
          <p:cNvSpPr txBox="1"/>
          <p:nvPr/>
        </p:nvSpPr>
        <p:spPr>
          <a:xfrm>
            <a:off x="12382500" y="419100"/>
            <a:ext cx="523875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SimSun"/>
                <a:ea typeface="SimSun"/>
                <a:cs typeface="SimSun"/>
              </a:rPr>
              <a:t>苏大 / SUDA  ·  产品设计  ·  沈佳微</a:t>
            </a:r>
          </a:p>
        </p:txBody>
      </p:sp>
      <p:sp>
        <p:nvSpPr>
          <p:cNvPr id="4" name="SUDA title 沈佳微 /"/>
          <p:cNvSpPr txBox="1"/>
          <p:nvPr/>
        </p:nvSpPr>
        <p:spPr>
          <a:xfrm>
            <a:off x="552450" y="1171575"/>
            <a:ext cx="6667500" cy="1285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19"/>
              </a:lnSpc>
              <a:spcBef>
                <a:spcPts val="0"/>
              </a:spcBef>
              <a:spcAft>
                <a:spcPts val="0"/>
              </a:spcAft>
            </a:pPr>
            <a:r>
              <a:rPr sz="73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沈佳微 /</a:t>
            </a:r>
          </a:p>
        </p:txBody>
      </p:sp>
      <p:sp>
        <p:nvSpPr>
          <p:cNvPr id="5" name="SUDA title SHEN JIAWEI"/>
          <p:cNvSpPr txBox="1"/>
          <p:nvPr/>
        </p:nvSpPr>
        <p:spPr>
          <a:xfrm>
            <a:off x="571500" y="2409825"/>
            <a:ext cx="6858000" cy="904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859"/>
              </a:lnSpc>
              <a:spcBef>
                <a:spcPts val="0"/>
              </a:spcBef>
              <a:spcAft>
                <a:spcPts val="0"/>
              </a:spcAft>
            </a:pPr>
            <a:r>
              <a:rPr sz="49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SHEN JIAWEI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562350"/>
            <a:ext cx="6896100" cy="2781300"/>
          </a:xfrm>
          <a:prstGeom prst="roundRect">
            <a:avLst>
              <a:gd name="adj" fmla="val 11000"/>
            </a:avLst>
          </a:prstGeom>
          <a:solidFill>
            <a:srgbClr val="F6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Independent original product photograph" descr="image.png"/>
          <p:cNvPicPr>
            <a:picLocks noChangeAspect="1"/>
          </p:cNvPicPr>
          <p:nvPr/>
        </p:nvPicPr>
        <p:blipFill>
          <a:blip r:embed="rId3"/>
          <a:srcRect l="4545" t="37620" r="86483" b="40808"/>
          <a:stretch>
            <a:fillRect/>
          </a:stretch>
        </p:blipFill>
        <p:spPr>
          <a:xfrm>
            <a:off x="838200" y="3874675"/>
            <a:ext cx="1628775" cy="2204276"/>
          </a:xfrm>
          <a:prstGeom prst="rect">
            <a:avLst/>
          </a:prstGeom>
        </p:spPr>
      </p:pic>
      <p:sp>
        <p:nvSpPr>
          <p:cNvPr id="8" name="SUDA title 关于我"/>
          <p:cNvSpPr txBox="1"/>
          <p:nvPr/>
        </p:nvSpPr>
        <p:spPr>
          <a:xfrm>
            <a:off x="2886075" y="3943350"/>
            <a:ext cx="428625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关于我</a:t>
            </a:r>
          </a:p>
        </p:txBody>
      </p:sp>
      <p:sp>
        <p:nvSpPr>
          <p:cNvPr id="9" name="SUDA body 热爱设计、阅读与旅行，&#10;致力于不断提升专业技能与艺术素养。&#10;有良好的沟"/>
          <p:cNvSpPr txBox="1"/>
          <p:nvPr/>
        </p:nvSpPr>
        <p:spPr>
          <a:xfrm>
            <a:off x="2886075" y="4524375"/>
            <a:ext cx="4267200" cy="1628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热爱设计、阅读与旅行，</a:t>
            </a:r>
          </a:p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致力于不断提升专业技能与艺术素养。</a:t>
            </a:r>
          </a:p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有良好的沟通与执行能力，</a:t>
            </a:r>
          </a:p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理解需求迅速，注重细节与效率。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6534150"/>
            <a:ext cx="6896100" cy="3143250"/>
          </a:xfrm>
          <a:prstGeom prst="roundRect">
            <a:avLst>
              <a:gd name="adj" fmla="val 11000"/>
            </a:avLst>
          </a:prstGeom>
          <a:solidFill>
            <a:srgbClr val="E2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UDA title 联系方式"/>
          <p:cNvSpPr txBox="1"/>
          <p:nvPr/>
        </p:nvSpPr>
        <p:spPr>
          <a:xfrm>
            <a:off x="866775" y="6819900"/>
            <a:ext cx="5715000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sz="28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联系方式</a:t>
            </a:r>
          </a:p>
        </p:txBody>
      </p:sp>
      <p:pic>
        <p:nvPicPr>
          <p:cNvPr id="12" name="Independent original product photograph" descr="image.png"/>
          <p:cNvPicPr>
            <a:picLocks noChangeAspect="1"/>
          </p:cNvPicPr>
          <p:nvPr/>
        </p:nvPicPr>
        <p:blipFill>
          <a:blip r:embed="rId3"/>
          <a:srcRect l="4725" t="73007" r="85048" b="8502"/>
          <a:stretch>
            <a:fillRect/>
          </a:stretch>
        </p:blipFill>
        <p:spPr>
          <a:xfrm>
            <a:off x="901755" y="7543800"/>
            <a:ext cx="1815991" cy="1847850"/>
          </a:xfrm>
          <a:prstGeom prst="rect">
            <a:avLst/>
          </a:prstGeom>
        </p:spPr>
      </p:pic>
      <p:sp>
        <p:nvSpPr>
          <p:cNvPr id="13" name="SUDA small 电话"/>
          <p:cNvSpPr txBox="1"/>
          <p:nvPr/>
        </p:nvSpPr>
        <p:spPr>
          <a:xfrm>
            <a:off x="3238500" y="7505700"/>
            <a:ext cx="3524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 spc="0">
                <a:solidFill>
                  <a:srgbClr val="6C6257"/>
                </a:solidFill>
                <a:latin typeface="SimSun"/>
                <a:ea typeface="SimSun"/>
                <a:cs typeface="SimSun"/>
              </a:rPr>
              <a:t>电话</a:t>
            </a:r>
          </a:p>
        </p:txBody>
      </p:sp>
      <p:sp>
        <p:nvSpPr>
          <p:cNvPr id="14" name="SUDA body 18296223969"/>
          <p:cNvSpPr txBox="1"/>
          <p:nvPr/>
        </p:nvSpPr>
        <p:spPr>
          <a:xfrm>
            <a:off x="3238500" y="7772400"/>
            <a:ext cx="40005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18296223969</a:t>
            </a:r>
          </a:p>
        </p:txBody>
      </p:sp>
      <p:sp>
        <p:nvSpPr>
          <p:cNvPr id="15" name="SUDA small 邮箱"/>
          <p:cNvSpPr txBox="1"/>
          <p:nvPr/>
        </p:nvSpPr>
        <p:spPr>
          <a:xfrm>
            <a:off x="3238500" y="8248650"/>
            <a:ext cx="3524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 spc="0">
                <a:solidFill>
                  <a:srgbClr val="6C6257"/>
                </a:solidFill>
                <a:latin typeface="SimSun"/>
                <a:ea typeface="SimSun"/>
                <a:cs typeface="SimSun"/>
              </a:rPr>
              <a:t>邮箱</a:t>
            </a:r>
          </a:p>
        </p:txBody>
      </p:sp>
      <p:sp>
        <p:nvSpPr>
          <p:cNvPr id="16" name="SUDA body m1917alyosa@outlook.com"/>
          <p:cNvSpPr txBox="1"/>
          <p:nvPr/>
        </p:nvSpPr>
        <p:spPr>
          <a:xfrm>
            <a:off x="3238500" y="8515350"/>
            <a:ext cx="40005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m1917alyosa@outlook.com</a:t>
            </a:r>
          </a:p>
        </p:txBody>
      </p:sp>
      <p:sp>
        <p:nvSpPr>
          <p:cNvPr id="17" name="SUDA small 微信"/>
          <p:cNvSpPr txBox="1"/>
          <p:nvPr/>
        </p:nvSpPr>
        <p:spPr>
          <a:xfrm>
            <a:off x="3238500" y="8991600"/>
            <a:ext cx="3524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 spc="0">
                <a:solidFill>
                  <a:srgbClr val="6C6257"/>
                </a:solidFill>
                <a:latin typeface="SimSun"/>
                <a:ea typeface="SimSun"/>
                <a:cs typeface="SimSun"/>
              </a:rPr>
              <a:t>微信</a:t>
            </a:r>
          </a:p>
        </p:txBody>
      </p:sp>
      <p:sp>
        <p:nvSpPr>
          <p:cNvPr id="18" name="SUDA body Alyosa_Lukashenko"/>
          <p:cNvSpPr txBox="1"/>
          <p:nvPr/>
        </p:nvSpPr>
        <p:spPr>
          <a:xfrm>
            <a:off x="3238500" y="9258300"/>
            <a:ext cx="40005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Alyosa_Lukashenko</a:t>
            </a:r>
          </a:p>
        </p:txBody>
      </p:sp>
      <p:sp>
        <p:nvSpPr>
          <p:cNvPr id="19" name="SUDA title 教育背景 / EDUCATION"/>
          <p:cNvSpPr txBox="1"/>
          <p:nvPr/>
        </p:nvSpPr>
        <p:spPr>
          <a:xfrm>
            <a:off x="7972425" y="800100"/>
            <a:ext cx="981075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sz="28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教育背景 / EDUCATION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2425" y="1285875"/>
            <a:ext cx="9810750" cy="1028700"/>
          </a:xfrm>
          <a:prstGeom prst="roundRect">
            <a:avLst>
              <a:gd name="adj" fmla="val 11000"/>
            </a:avLst>
          </a:prstGeom>
          <a:solidFill>
            <a:srgbClr val="F1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UDA title 苏州大学"/>
          <p:cNvSpPr txBox="1"/>
          <p:nvPr/>
        </p:nvSpPr>
        <p:spPr>
          <a:xfrm>
            <a:off x="8972550" y="1438275"/>
            <a:ext cx="24288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lang="zh-CN" spc="0">
                <a:solidFill>
                  <a:srgbClr val="6C6257"/>
                </a:solidFill>
                <a:latin typeface="ChillRoundM"/>
                <a:ea typeface="寒蝉半圆体"/>
                <a:cs typeface="ChillRoundM"/>
              </a:rPr>
              <a:t>苏州大学</a:t>
            </a:r>
          </a:p>
        </p:txBody>
      </p:sp>
      <p:sp>
        <p:nvSpPr>
          <p:cNvPr id="22" name="SUDA body 产品设计"/>
          <p:cNvSpPr txBox="1"/>
          <p:nvPr/>
        </p:nvSpPr>
        <p:spPr>
          <a:xfrm>
            <a:off x="8972550" y="1952625"/>
            <a:ext cx="24288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产品设计</a:t>
            </a:r>
          </a:p>
        </p:txBody>
      </p:sp>
      <p:sp>
        <p:nvSpPr>
          <p:cNvPr id="23" name="SUDA body 在校期间参与志愿活动，获2023年度一等奖学金。&#10;专注从用户洞察到产品"/>
          <p:cNvSpPr txBox="1"/>
          <p:nvPr/>
        </p:nvSpPr>
        <p:spPr>
          <a:xfrm>
            <a:off x="11811000" y="1533525"/>
            <a:ext cx="552450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在校期间参与志愿活动，获2023年度一等奖学金。</a:t>
            </a:r>
          </a:p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专注从用户洞察到产品落地的全流程实践。</a:t>
            </a:r>
          </a:p>
        </p:txBody>
      </p:sp>
      <p:sp>
        <p:nvSpPr>
          <p:cNvPr id="24" name="SUDA title 项目经历 / PROJECT EXPERIENCE"/>
          <p:cNvSpPr txBox="1"/>
          <p:nvPr/>
        </p:nvSpPr>
        <p:spPr>
          <a:xfrm>
            <a:off x="7972425" y="2600325"/>
            <a:ext cx="981075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sz="28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项目经历 / PROJECT EXPERIENCE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2425" y="3057525"/>
            <a:ext cx="9810750" cy="1104900"/>
          </a:xfrm>
          <a:prstGeom prst="roundRect">
            <a:avLst>
              <a:gd name="adj" fmla="val 11000"/>
            </a:avLst>
          </a:prstGeom>
          <a:solidFill>
            <a:srgbClr val="DD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UDA title IP产品开发"/>
          <p:cNvSpPr txBox="1"/>
          <p:nvPr/>
        </p:nvSpPr>
        <p:spPr>
          <a:xfrm>
            <a:off x="8972550" y="3228975"/>
            <a:ext cx="28575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 spc="0">
                <a:solidFill>
                  <a:srgbClr val="6C6257"/>
                </a:solidFill>
                <a:latin typeface="ChillRoundM"/>
                <a:ea typeface="寒蝉半圆体"/>
                <a:cs typeface="ChillRoundM"/>
              </a:rPr>
              <a:t>IP产品开发</a:t>
            </a:r>
          </a:p>
        </p:txBody>
      </p:sp>
      <p:sp>
        <p:nvSpPr>
          <p:cNvPr id="27" name="SUDA body 文创设计"/>
          <p:cNvSpPr txBox="1"/>
          <p:nvPr/>
        </p:nvSpPr>
        <p:spPr>
          <a:xfrm>
            <a:off x="8972550" y="3714750"/>
            <a:ext cx="25241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文创设计</a:t>
            </a:r>
          </a:p>
        </p:txBody>
      </p:sp>
      <p:sp>
        <p:nvSpPr>
          <p:cNvPr id="28" name="SUDA body 负责IP展会周边产品的全生命周期开发，&#10;从视觉设计、材质选型、工艺打样"/>
          <p:cNvSpPr txBox="1"/>
          <p:nvPr/>
        </p:nvSpPr>
        <p:spPr>
          <a:xfrm>
            <a:off x="11811000" y="3228975"/>
            <a:ext cx="5553075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负责IP展会周边产品的全生命周期开发，</a:t>
            </a:r>
          </a:p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从视觉设计、材质选型、工艺打样到成品交付。</a:t>
            </a:r>
          </a:p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展会多次在上海、杭州举办。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2425" y="4295775"/>
            <a:ext cx="9810750" cy="1181100"/>
          </a:xfrm>
          <a:prstGeom prst="roundRect">
            <a:avLst>
              <a:gd name="adj" fmla="val 11000"/>
            </a:avLst>
          </a:prstGeom>
          <a:solidFill>
            <a:srgbClr val="F3DE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UDA title 摊位展陈"/>
          <p:cNvSpPr txBox="1"/>
          <p:nvPr/>
        </p:nvSpPr>
        <p:spPr>
          <a:xfrm>
            <a:off x="8972550" y="4467225"/>
            <a:ext cx="28575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 spc="0">
                <a:solidFill>
                  <a:srgbClr val="6C6257"/>
                </a:solidFill>
                <a:latin typeface="ChillRoundM"/>
                <a:ea typeface="寒蝉半圆体"/>
                <a:cs typeface="ChillRoundM"/>
              </a:rPr>
              <a:t>摊位展陈</a:t>
            </a:r>
          </a:p>
        </p:txBody>
      </p:sp>
      <p:sp>
        <p:nvSpPr>
          <p:cNvPr id="31" name="SUDA body 志愿者"/>
          <p:cNvSpPr txBox="1"/>
          <p:nvPr/>
        </p:nvSpPr>
        <p:spPr>
          <a:xfrm>
            <a:off x="8972550" y="4953000"/>
            <a:ext cx="25241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志愿者</a:t>
            </a:r>
          </a:p>
        </p:txBody>
      </p:sp>
      <p:sp>
        <p:nvSpPr>
          <p:cNvPr id="32" name="SUDA body 负责展会空间利用与陈列，在有限摊位中&#10;规划布局和物料摆放；优化视觉高度"/>
          <p:cNvSpPr txBox="1"/>
          <p:nvPr/>
        </p:nvSpPr>
        <p:spPr>
          <a:xfrm>
            <a:off x="11811000" y="4467225"/>
            <a:ext cx="5553075" cy="99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负责展会空间利用与陈列，在有限摊位中</a:t>
            </a:r>
          </a:p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规划布局和物料摆放；优化视觉高度与动线，</a:t>
            </a:r>
          </a:p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提升产品展示效果。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2425" y="5610225"/>
            <a:ext cx="9810750" cy="1076325"/>
          </a:xfrm>
          <a:prstGeom prst="roundRect">
            <a:avLst>
              <a:gd name="adj" fmla="val 11000"/>
            </a:avLst>
          </a:prstGeom>
          <a:solidFill>
            <a:srgbClr val="F1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UDA title 定制设计服务"/>
          <p:cNvSpPr txBox="1"/>
          <p:nvPr/>
        </p:nvSpPr>
        <p:spPr>
          <a:xfrm>
            <a:off x="8972550" y="5781675"/>
            <a:ext cx="28575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 spc="0">
                <a:solidFill>
                  <a:srgbClr val="6C6257"/>
                </a:solidFill>
                <a:latin typeface="ChillRoundM"/>
                <a:ea typeface="寒蝉半圆体"/>
                <a:cs typeface="ChillRoundM"/>
              </a:rPr>
              <a:t>定制设计服务</a:t>
            </a:r>
          </a:p>
        </p:txBody>
      </p:sp>
      <p:sp>
        <p:nvSpPr>
          <p:cNvPr id="35" name="SUDA body 独立设计师"/>
          <p:cNvSpPr txBox="1"/>
          <p:nvPr/>
        </p:nvSpPr>
        <p:spPr>
          <a:xfrm>
            <a:off x="8972550" y="6267450"/>
            <a:ext cx="25241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独立设计师</a:t>
            </a:r>
          </a:p>
        </p:txBody>
      </p:sp>
      <p:sp>
        <p:nvSpPr>
          <p:cNvPr id="36" name="SUDA body 在专业平台承接定制需求，遵循交付标准，&#10;完成需求分析、进度管理与高品质"/>
          <p:cNvSpPr txBox="1"/>
          <p:nvPr/>
        </p:nvSpPr>
        <p:spPr>
          <a:xfrm>
            <a:off x="11811000" y="5781675"/>
            <a:ext cx="5553075" cy="885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在专业平台承接定制需求，遵循交付标准，</a:t>
            </a:r>
          </a:p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完成需求分析、进度管理与高品质成品输出。</a:t>
            </a:r>
          </a:p>
        </p:txBody>
      </p:sp>
      <p:sp>
        <p:nvSpPr>
          <p:cNvPr id="37" name="SUDA title 校园经历 / CAMPUS EXPERIENCE"/>
          <p:cNvSpPr txBox="1"/>
          <p:nvPr/>
        </p:nvSpPr>
        <p:spPr>
          <a:xfrm>
            <a:off x="7972425" y="7048500"/>
            <a:ext cx="981075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19"/>
              </a:lnSpc>
              <a:spcBef>
                <a:spcPts val="0"/>
              </a:spcBef>
              <a:spcAft>
                <a:spcPts val="0"/>
              </a:spcAft>
            </a:pPr>
            <a:r>
              <a:rPr sz="28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校园经历 / CAMPUS EXPERIENCE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2425" y="7477125"/>
            <a:ext cx="9810750" cy="1209675"/>
          </a:xfrm>
          <a:prstGeom prst="roundRect">
            <a:avLst>
              <a:gd name="adj" fmla="val 11000"/>
            </a:avLst>
          </a:prstGeom>
          <a:solidFill>
            <a:srgbClr val="D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UDA title 公益教育活动"/>
          <p:cNvSpPr txBox="1"/>
          <p:nvPr/>
        </p:nvSpPr>
        <p:spPr>
          <a:xfrm>
            <a:off x="8972550" y="7686675"/>
            <a:ext cx="280987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 spc="0">
                <a:solidFill>
                  <a:srgbClr val="6C6257"/>
                </a:solidFill>
                <a:latin typeface="ChillRoundM"/>
                <a:ea typeface="寒蝉半圆体"/>
                <a:cs typeface="ChillRoundM"/>
              </a:rPr>
              <a:t>公益教育活动</a:t>
            </a:r>
          </a:p>
        </p:txBody>
      </p:sp>
      <p:sp>
        <p:nvSpPr>
          <p:cNvPr id="40" name="SUDA body 志愿者"/>
          <p:cNvSpPr txBox="1"/>
          <p:nvPr/>
        </p:nvSpPr>
        <p:spPr>
          <a:xfrm>
            <a:off x="8972550" y="8201025"/>
            <a:ext cx="25241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志愿者</a:t>
            </a:r>
          </a:p>
        </p:txBody>
      </p:sp>
      <p:sp>
        <p:nvSpPr>
          <p:cNvPr id="41" name="SUDA body 针对自闭症儿童设计扎染教学流程，一对一指导，&#10;通过细致的动作拆解与耐心"/>
          <p:cNvSpPr txBox="1"/>
          <p:nvPr/>
        </p:nvSpPr>
        <p:spPr>
          <a:xfrm>
            <a:off x="11811000" y="7677150"/>
            <a:ext cx="5524500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针对自闭症儿童设计扎染教学流程，一对一指导，</a:t>
            </a:r>
          </a:p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通过细致的动作拆解与耐心辅助，</a:t>
            </a:r>
          </a:p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提升受助者参与度与作品完成率。</a:t>
            </a:r>
          </a:p>
        </p:txBody>
      </p:sp>
      <p:sp>
        <p:nvSpPr>
          <p:cNvPr id="42" name="SUDA title 获得奖项"/>
          <p:cNvSpPr txBox="1"/>
          <p:nvPr/>
        </p:nvSpPr>
        <p:spPr>
          <a:xfrm>
            <a:off x="7972425" y="8886825"/>
            <a:ext cx="3667125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获得奖项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72425" y="9315450"/>
            <a:ext cx="3667125" cy="600075"/>
          </a:xfrm>
          <a:prstGeom prst="roundRect">
            <a:avLst>
              <a:gd name="adj" fmla="val 11000"/>
            </a:avLst>
          </a:prstGeom>
          <a:solidFill>
            <a:srgbClr val="F3DE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SUDA body 苏州大学2023年度一等奖学金"/>
          <p:cNvSpPr txBox="1"/>
          <p:nvPr/>
        </p:nvSpPr>
        <p:spPr>
          <a:xfrm>
            <a:off x="8143875" y="9439275"/>
            <a:ext cx="336232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苏州大学2023年度一等奖学金</a:t>
            </a:r>
          </a:p>
        </p:txBody>
      </p:sp>
      <p:sp>
        <p:nvSpPr>
          <p:cNvPr id="45" name="SUDA title 外语"/>
          <p:cNvSpPr txBox="1"/>
          <p:nvPr/>
        </p:nvSpPr>
        <p:spPr>
          <a:xfrm>
            <a:off x="11763375" y="8886825"/>
            <a:ext cx="2619375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外语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763375" y="9315450"/>
            <a:ext cx="2619375" cy="600075"/>
          </a:xfrm>
          <a:prstGeom prst="roundRect">
            <a:avLst>
              <a:gd name="adj" fmla="val 11000"/>
            </a:avLst>
          </a:prstGeom>
          <a:solidFill>
            <a:srgbClr val="F1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UDA body CET-4"/>
          <p:cNvSpPr txBox="1"/>
          <p:nvPr/>
        </p:nvSpPr>
        <p:spPr>
          <a:xfrm>
            <a:off x="11934825" y="9439275"/>
            <a:ext cx="231457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CET-4</a:t>
            </a:r>
          </a:p>
        </p:txBody>
      </p:sp>
      <p:sp>
        <p:nvSpPr>
          <p:cNvPr id="48" name="SUDA title 专业技能"/>
          <p:cNvSpPr txBox="1"/>
          <p:nvPr/>
        </p:nvSpPr>
        <p:spPr>
          <a:xfrm>
            <a:off x="14516100" y="8886825"/>
            <a:ext cx="3267075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专业技能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516100" y="9315450"/>
            <a:ext cx="3267075" cy="600075"/>
          </a:xfrm>
          <a:prstGeom prst="roundRect">
            <a:avLst>
              <a:gd name="adj" fmla="val 11000"/>
            </a:avLst>
          </a:prstGeom>
          <a:solidFill>
            <a:srgbClr val="D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SUDA body RHINO / Keyshot&#10;Illustrator / Photo"/>
          <p:cNvSpPr txBox="1"/>
          <p:nvPr/>
        </p:nvSpPr>
        <p:spPr>
          <a:xfrm>
            <a:off x="14687550" y="9439275"/>
            <a:ext cx="296227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RHINO / Keyshot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Illustrator / Photoshop</a:t>
            </a:r>
          </a:p>
        </p:txBody>
      </p:sp>
      <p:sp>
        <p:nvSpPr>
          <p:cNvPr id="51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52" name="SUDA small 02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>
            <a:extLst>
              <a:ext uri="{FF2B5EF4-FFF2-40B4-BE49-F238E27FC236}">
                <a16:creationId xmlns:a16="http://schemas.microsoft.com/office/drawing/2014/main" id="{A7C3FDA8-52E6-AA41-F10E-9F599AB60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09" b="12036"/>
          <a:stretch>
            <a:fillRect/>
          </a:stretch>
        </p:blipFill>
        <p:spPr>
          <a:xfrm>
            <a:off x="1" y="2546239"/>
            <a:ext cx="18287999" cy="61722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Box 2"/>
          <p:cNvSpPr txBox="1"/>
          <p:nvPr/>
        </p:nvSpPr>
        <p:spPr>
          <a:xfrm>
            <a:off x="857250" y="572548"/>
            <a:ext cx="4185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7266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58668" y="572548"/>
            <a:ext cx="167922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BENCHMARK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7250" y="945261"/>
            <a:ext cx="158814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Yukai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73081" y="945261"/>
            <a:ext cx="820117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把机器人，放进轻松的日常。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2886" y="1749647"/>
            <a:ext cx="576262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0"/>
              </a:lnSpc>
            </a:pPr>
            <a:r>
              <a:rPr lang="zh-CN" sz="2325" dirty="0" err="1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以有趣的身体行为，降低人与机器的距离</a:t>
            </a:r>
            <a:r>
              <a:rPr lang="zh-CN" sz="2325" dirty="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。</a:t>
            </a:r>
          </a:p>
        </p:txBody>
      </p:sp>
      <p:sp>
        <p:nvSpPr>
          <p:cNvPr id="31" name="AutoShape 31"/>
          <p:cNvSpPr/>
          <p:nvPr/>
        </p:nvSpPr>
        <p:spPr>
          <a:xfrm rot="1980">
            <a:off x="852488" y="8697220"/>
            <a:ext cx="16583025" cy="0"/>
          </a:xfrm>
          <a:prstGeom prst="line">
            <a:avLst/>
          </a:prstGeom>
          <a:ln w="9525" cap="rnd">
            <a:solidFill>
              <a:srgbClr val="DDD3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57250" y="8814759"/>
            <a:ext cx="17526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代表产品线索：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57298" y="8814759"/>
            <a:ext cx="9334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BOCCO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302346" y="8814759"/>
            <a:ext cx="381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→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94945" y="8814759"/>
            <a:ext cx="81930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Qoobo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25693" y="8814759"/>
            <a:ext cx="38115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→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18282" y="8814759"/>
            <a:ext cx="115252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AMAGAMI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82263" y="8814759"/>
            <a:ext cx="63415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HAM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27864" y="8814759"/>
            <a:ext cx="63430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HAM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73618" y="8814759"/>
            <a:ext cx="38115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→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66207" y="8814759"/>
            <a:ext cx="309267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22922" y="8814759"/>
            <a:ext cx="27235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342737" y="8814759"/>
            <a:ext cx="69294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kojita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7127" y="8814759"/>
            <a:ext cx="641747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FuFu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500462" y="8814759"/>
            <a:ext cx="27726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689181" y="8814759"/>
            <a:ext cx="82629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Mirumi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7250" y="9114320"/>
            <a:ext cx="69547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资料：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00175" y="9114320"/>
            <a:ext cx="56450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Yukai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862880" y="9114320"/>
            <a:ext cx="108764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Engineering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848575" y="9114320"/>
            <a:ext cx="105742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官方产品页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804199" y="9114320"/>
            <a:ext cx="19645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·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898849" y="9114320"/>
            <a:ext cx="178132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图片版权归原权利人</a:t>
            </a:r>
          </a:p>
        </p:txBody>
      </p:sp>
      <p:sp>
        <p:nvSpPr>
          <p:cNvPr id="67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68" name="SUDA small 03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DA small SUDA / PRODUCT MATRIX &amp; PRICE"/>
          <p:cNvSpPr txBox="1"/>
          <p:nvPr/>
        </p:nvSpPr>
        <p:spPr>
          <a:xfrm>
            <a:off x="838200" y="381000"/>
            <a:ext cx="1524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 spc="0">
                <a:solidFill>
                  <a:srgbClr val="9E958A"/>
                </a:solidFill>
                <a:latin typeface="SimSun"/>
                <a:ea typeface="SimSun"/>
                <a:cs typeface="SimSun"/>
              </a:rPr>
              <a:t>SUDA / PRODUCT MATRIX &amp; PRICE</a:t>
            </a:r>
          </a:p>
        </p:txBody>
      </p:sp>
      <p:sp>
        <p:nvSpPr>
          <p:cNvPr id="3" name="SUDA title 行为入口清楚，价格覆盖4,180—31,900日元。"/>
          <p:cNvSpPr txBox="1"/>
          <p:nvPr/>
        </p:nvSpPr>
        <p:spPr>
          <a:xfrm>
            <a:off x="800100" y="971550"/>
            <a:ext cx="16764000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825"/>
              </a:lnSpc>
              <a:spcBef>
                <a:spcPts val="0"/>
              </a:spcBef>
              <a:spcAft>
                <a:spcPts val="0"/>
              </a:spcAft>
            </a:pPr>
            <a:r>
              <a:rPr sz="4875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行为入口清楚，价格覆盖4,180—31,900日元。</a:t>
            </a:r>
          </a:p>
        </p:txBody>
      </p:sp>
      <p:pic>
        <p:nvPicPr>
          <p:cNvPr id="4" name="Independent original product photograph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4400" y="2540159"/>
            <a:ext cx="2952750" cy="1663383"/>
          </a:xfrm>
          <a:prstGeom prst="rect">
            <a:avLst/>
          </a:prstGeom>
        </p:spPr>
      </p:pic>
      <p:sp>
        <p:nvSpPr>
          <p:cNvPr id="5" name="SUDA title BOCCO / 原版"/>
          <p:cNvSpPr txBox="1"/>
          <p:nvPr/>
        </p:nvSpPr>
        <p:spPr>
          <a:xfrm>
            <a:off x="914400" y="4476750"/>
            <a:ext cx="295275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BOCCO / 原版</a:t>
            </a:r>
          </a:p>
        </p:txBody>
      </p:sp>
      <p:sp>
        <p:nvSpPr>
          <p:cNvPr id="6" name="SUDA body 家庭沟通"/>
          <p:cNvSpPr txBox="1"/>
          <p:nvPr/>
        </p:nvSpPr>
        <p:spPr>
          <a:xfrm>
            <a:off x="914400" y="5105400"/>
            <a:ext cx="295275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sz="217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家庭沟通</a:t>
            </a:r>
          </a:p>
        </p:txBody>
      </p:sp>
      <p:sp>
        <p:nvSpPr>
          <p:cNvPr id="7" name="SUDA title ¥31,900"/>
          <p:cNvSpPr txBox="1"/>
          <p:nvPr/>
        </p:nvSpPr>
        <p:spPr>
          <a:xfrm>
            <a:off x="914400" y="5781675"/>
            <a:ext cx="2952750" cy="619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lang="zh-CN" spc="0">
                <a:solidFill>
                  <a:srgbClr val="6C6257"/>
                </a:solidFill>
                <a:latin typeface="ChillRoundM"/>
                <a:ea typeface="寒蝉半圆体"/>
                <a:cs typeface="ChillRoundM"/>
              </a:rPr>
              <a:t>¥31,900</a:t>
            </a:r>
          </a:p>
        </p:txBody>
      </p:sp>
      <p:pic>
        <p:nvPicPr>
          <p:cNvPr id="8" name="Independent original product photograph" descr="ima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38625" y="2538753"/>
            <a:ext cx="2952750" cy="1666195"/>
          </a:xfrm>
          <a:prstGeom prst="rect">
            <a:avLst/>
          </a:prstGeom>
        </p:spPr>
      </p:pic>
      <p:sp>
        <p:nvSpPr>
          <p:cNvPr id="9" name="SUDA title Qoobo"/>
          <p:cNvSpPr txBox="1"/>
          <p:nvPr/>
        </p:nvSpPr>
        <p:spPr>
          <a:xfrm>
            <a:off x="4238625" y="4476750"/>
            <a:ext cx="295275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Qoobo</a:t>
            </a:r>
          </a:p>
        </p:txBody>
      </p:sp>
      <p:sp>
        <p:nvSpPr>
          <p:cNvPr id="10" name="SUDA body 摇尾"/>
          <p:cNvSpPr txBox="1"/>
          <p:nvPr/>
        </p:nvSpPr>
        <p:spPr>
          <a:xfrm>
            <a:off x="4238625" y="5105400"/>
            <a:ext cx="295275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sz="217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摇尾</a:t>
            </a:r>
          </a:p>
        </p:txBody>
      </p:sp>
      <p:sp>
        <p:nvSpPr>
          <p:cNvPr id="11" name="SUDA title ¥17,600"/>
          <p:cNvSpPr txBox="1"/>
          <p:nvPr/>
        </p:nvSpPr>
        <p:spPr>
          <a:xfrm>
            <a:off x="4238625" y="5781675"/>
            <a:ext cx="2952750" cy="619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lang="zh-CN" spc="0">
                <a:solidFill>
                  <a:srgbClr val="6C6257"/>
                </a:solidFill>
                <a:latin typeface="ChillRoundM"/>
                <a:ea typeface="寒蝉半圆体"/>
                <a:cs typeface="ChillRoundM"/>
              </a:rPr>
              <a:t>¥17,600</a:t>
            </a:r>
          </a:p>
        </p:txBody>
      </p:sp>
      <p:pic>
        <p:nvPicPr>
          <p:cNvPr id="12" name="Independent original product photograph" descr="imag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562850" y="2538753"/>
            <a:ext cx="2952750" cy="1666195"/>
          </a:xfrm>
          <a:prstGeom prst="rect">
            <a:avLst/>
          </a:prstGeom>
        </p:spPr>
      </p:pic>
      <p:sp>
        <p:nvSpPr>
          <p:cNvPr id="13" name="SUDA title AMAGAMI HAM HAM"/>
          <p:cNvSpPr txBox="1"/>
          <p:nvPr/>
        </p:nvSpPr>
        <p:spPr>
          <a:xfrm>
            <a:off x="7562850" y="4476750"/>
            <a:ext cx="295275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sz="2175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AMAGAMI HAM HAM</a:t>
            </a:r>
          </a:p>
        </p:txBody>
      </p:sp>
      <p:sp>
        <p:nvSpPr>
          <p:cNvPr id="14" name="SUDA body 轻咬"/>
          <p:cNvSpPr txBox="1"/>
          <p:nvPr/>
        </p:nvSpPr>
        <p:spPr>
          <a:xfrm>
            <a:off x="7562850" y="5105400"/>
            <a:ext cx="295275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sz="217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轻咬</a:t>
            </a:r>
          </a:p>
        </p:txBody>
      </p:sp>
      <p:sp>
        <p:nvSpPr>
          <p:cNvPr id="15" name="SUDA title ¥5,830"/>
          <p:cNvSpPr txBox="1"/>
          <p:nvPr/>
        </p:nvSpPr>
        <p:spPr>
          <a:xfrm>
            <a:off x="7562850" y="5781675"/>
            <a:ext cx="2952750" cy="619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lang="zh-CN" spc="0">
                <a:solidFill>
                  <a:srgbClr val="6C6257"/>
                </a:solidFill>
                <a:latin typeface="ChillRoundM"/>
                <a:ea typeface="寒蝉半圆体"/>
                <a:cs typeface="ChillRoundM"/>
              </a:rPr>
              <a:t>¥5,830</a:t>
            </a:r>
          </a:p>
        </p:txBody>
      </p:sp>
      <p:pic>
        <p:nvPicPr>
          <p:cNvPr id="16" name="Independent original product photograph" descr="image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887075" y="2538753"/>
            <a:ext cx="2952750" cy="1666195"/>
          </a:xfrm>
          <a:prstGeom prst="rect">
            <a:avLst/>
          </a:prstGeom>
        </p:spPr>
      </p:pic>
      <p:sp>
        <p:nvSpPr>
          <p:cNvPr id="17" name="SUDA title Nékojita FuFu"/>
          <p:cNvSpPr txBox="1"/>
          <p:nvPr/>
        </p:nvSpPr>
        <p:spPr>
          <a:xfrm>
            <a:off x="10887075" y="4476750"/>
            <a:ext cx="295275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Nékojita FuFu</a:t>
            </a:r>
          </a:p>
        </p:txBody>
      </p:sp>
      <p:sp>
        <p:nvSpPr>
          <p:cNvPr id="18" name="SUDA body 吹气"/>
          <p:cNvSpPr txBox="1"/>
          <p:nvPr/>
        </p:nvSpPr>
        <p:spPr>
          <a:xfrm>
            <a:off x="10887075" y="5105400"/>
            <a:ext cx="295275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sz="217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吹气</a:t>
            </a:r>
          </a:p>
        </p:txBody>
      </p:sp>
      <p:sp>
        <p:nvSpPr>
          <p:cNvPr id="19" name="SUDA title ¥4,180"/>
          <p:cNvSpPr txBox="1"/>
          <p:nvPr/>
        </p:nvSpPr>
        <p:spPr>
          <a:xfrm>
            <a:off x="10887075" y="5781675"/>
            <a:ext cx="2952750" cy="619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lang="zh-CN" spc="0">
                <a:solidFill>
                  <a:srgbClr val="6C6257"/>
                </a:solidFill>
                <a:latin typeface="ChillRoundM"/>
                <a:ea typeface="寒蝉半圆体"/>
                <a:cs typeface="ChillRoundM"/>
              </a:rPr>
              <a:t>¥4,180</a:t>
            </a:r>
          </a:p>
        </p:txBody>
      </p:sp>
      <p:pic>
        <p:nvPicPr>
          <p:cNvPr id="20" name="Independent original product photograph" descr="image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4211300" y="2538753"/>
            <a:ext cx="2952750" cy="1666195"/>
          </a:xfrm>
          <a:prstGeom prst="rect">
            <a:avLst/>
          </a:prstGeom>
        </p:spPr>
      </p:pic>
      <p:sp>
        <p:nvSpPr>
          <p:cNvPr id="21" name="SUDA title mirumi"/>
          <p:cNvSpPr txBox="1"/>
          <p:nvPr/>
        </p:nvSpPr>
        <p:spPr>
          <a:xfrm>
            <a:off x="14211300" y="4476750"/>
            <a:ext cx="295275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mirumi</a:t>
            </a:r>
          </a:p>
        </p:txBody>
      </p:sp>
      <p:sp>
        <p:nvSpPr>
          <p:cNvPr id="22" name="SUDA body 偷瞄"/>
          <p:cNvSpPr txBox="1"/>
          <p:nvPr/>
        </p:nvSpPr>
        <p:spPr>
          <a:xfrm>
            <a:off x="14211300" y="5105400"/>
            <a:ext cx="295275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sz="217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偷瞄</a:t>
            </a:r>
          </a:p>
        </p:txBody>
      </p:sp>
      <p:sp>
        <p:nvSpPr>
          <p:cNvPr id="23" name="SUDA title ¥22,000"/>
          <p:cNvSpPr txBox="1"/>
          <p:nvPr/>
        </p:nvSpPr>
        <p:spPr>
          <a:xfrm>
            <a:off x="14211300" y="5781675"/>
            <a:ext cx="2952750" cy="619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lang="zh-CN" spc="0">
                <a:solidFill>
                  <a:srgbClr val="6C6257"/>
                </a:solidFill>
                <a:latin typeface="ChillRoundM"/>
                <a:ea typeface="寒蝉半圆体"/>
                <a:cs typeface="ChillRoundM"/>
              </a:rPr>
              <a:t>¥22,000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52550" y="7858125"/>
            <a:ext cx="15430500" cy="0"/>
          </a:xfrm>
          <a:prstGeom prst="line">
            <a:avLst/>
          </a:prstGeom>
          <a:ln w="12700">
            <a:solidFill>
              <a:srgbClr val="D4C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UDA body 0"/>
          <p:cNvSpPr txBox="1"/>
          <p:nvPr/>
        </p:nvSpPr>
        <p:spPr>
          <a:xfrm>
            <a:off x="1352550" y="8248650"/>
            <a:ext cx="9525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172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0</a:t>
            </a:r>
          </a:p>
        </p:txBody>
      </p:sp>
      <p:sp>
        <p:nvSpPr>
          <p:cNvPr id="26" name="SUDA body 35,000 JPY"/>
          <p:cNvSpPr txBox="1"/>
          <p:nvPr/>
        </p:nvSpPr>
        <p:spPr>
          <a:xfrm>
            <a:off x="14668500" y="8248650"/>
            <a:ext cx="2286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172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35,000 JPY</a:t>
            </a:r>
          </a:p>
        </p:txBody>
      </p:sp>
      <p:sp>
        <p:nvSpPr>
          <p:cNvPr id="27" name="Oval 26"/>
          <p:cNvSpPr/>
          <p:nvPr/>
        </p:nvSpPr>
        <p:spPr>
          <a:xfrm>
            <a:off x="15330624" y="7772400"/>
            <a:ext cx="171450" cy="171450"/>
          </a:xfrm>
          <a:prstGeom prst="ellipse">
            <a:avLst/>
          </a:prstGeom>
          <a:solidFill>
            <a:srgbClr val="E66E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15416349" y="7600950"/>
            <a:ext cx="0" cy="257175"/>
          </a:xfrm>
          <a:prstGeom prst="line">
            <a:avLst/>
          </a:prstGeom>
          <a:ln w="9525">
            <a:solidFill>
              <a:srgbClr val="D4C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UDA body BOCCO / 原版"/>
          <p:cNvSpPr txBox="1"/>
          <p:nvPr/>
        </p:nvSpPr>
        <p:spPr>
          <a:xfrm>
            <a:off x="14082849" y="7172325"/>
            <a:ext cx="2667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BOCCO / 原版</a:t>
            </a:r>
          </a:p>
        </p:txBody>
      </p:sp>
      <p:sp>
        <p:nvSpPr>
          <p:cNvPr id="30" name="Oval 29"/>
          <p:cNvSpPr/>
          <p:nvPr/>
        </p:nvSpPr>
        <p:spPr>
          <a:xfrm>
            <a:off x="9026162" y="7772400"/>
            <a:ext cx="171450" cy="171450"/>
          </a:xfrm>
          <a:prstGeom prst="ellipse">
            <a:avLst/>
          </a:prstGeom>
          <a:solidFill>
            <a:srgbClr val="A4C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111887" y="7858125"/>
            <a:ext cx="0" cy="302895"/>
          </a:xfrm>
          <a:prstGeom prst="line">
            <a:avLst/>
          </a:prstGeom>
          <a:ln w="9525">
            <a:solidFill>
              <a:srgbClr val="D4C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UDA body Qoobo"/>
          <p:cNvSpPr txBox="1"/>
          <p:nvPr/>
        </p:nvSpPr>
        <p:spPr>
          <a:xfrm>
            <a:off x="7778387" y="8105775"/>
            <a:ext cx="2667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Qoobo</a:t>
            </a:r>
          </a:p>
        </p:txBody>
      </p:sp>
      <p:sp>
        <p:nvSpPr>
          <p:cNvPr id="33" name="Oval 32"/>
          <p:cNvSpPr/>
          <p:nvPr/>
        </p:nvSpPr>
        <p:spPr>
          <a:xfrm>
            <a:off x="3837105" y="7772400"/>
            <a:ext cx="171450" cy="171450"/>
          </a:xfrm>
          <a:prstGeom prst="ellipse">
            <a:avLst/>
          </a:prstGeom>
          <a:solidFill>
            <a:srgbClr val="DDBD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3922830" y="7600950"/>
            <a:ext cx="0" cy="257175"/>
          </a:xfrm>
          <a:prstGeom prst="line">
            <a:avLst/>
          </a:prstGeom>
          <a:ln w="9525">
            <a:solidFill>
              <a:srgbClr val="D4C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UDA body AMAGAMI HAM HAM"/>
          <p:cNvSpPr txBox="1"/>
          <p:nvPr/>
        </p:nvSpPr>
        <p:spPr>
          <a:xfrm>
            <a:off x="2589330" y="7172325"/>
            <a:ext cx="2667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AMAGAMI HAM HAM</a:t>
            </a:r>
          </a:p>
        </p:txBody>
      </p:sp>
      <p:sp>
        <p:nvSpPr>
          <p:cNvPr id="36" name="Oval 35"/>
          <p:cNvSpPr/>
          <p:nvPr/>
        </p:nvSpPr>
        <p:spPr>
          <a:xfrm>
            <a:off x="3109668" y="7772400"/>
            <a:ext cx="171450" cy="171450"/>
          </a:xfrm>
          <a:prstGeom prst="ellipse">
            <a:avLst/>
          </a:prstGeom>
          <a:solidFill>
            <a:srgbClr val="C9C1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3195393" y="7858125"/>
            <a:ext cx="0" cy="302895"/>
          </a:xfrm>
          <a:prstGeom prst="line">
            <a:avLst/>
          </a:prstGeom>
          <a:ln w="9525">
            <a:solidFill>
              <a:srgbClr val="D4C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UDA body Nékojita FuFu"/>
          <p:cNvSpPr txBox="1"/>
          <p:nvPr/>
        </p:nvSpPr>
        <p:spPr>
          <a:xfrm>
            <a:off x="1861893" y="8105775"/>
            <a:ext cx="2667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Nékojita FuFu</a:t>
            </a:r>
          </a:p>
        </p:txBody>
      </p:sp>
      <p:sp>
        <p:nvSpPr>
          <p:cNvPr id="39" name="Oval 38"/>
          <p:cNvSpPr/>
          <p:nvPr/>
        </p:nvSpPr>
        <p:spPr>
          <a:xfrm>
            <a:off x="10965996" y="7772400"/>
            <a:ext cx="171450" cy="171450"/>
          </a:xfrm>
          <a:prstGeom prst="ellipse">
            <a:avLst/>
          </a:prstGeom>
          <a:solidFill>
            <a:srgbClr val="B7CD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11051721" y="7600950"/>
            <a:ext cx="0" cy="257175"/>
          </a:xfrm>
          <a:prstGeom prst="line">
            <a:avLst/>
          </a:prstGeom>
          <a:ln w="9525">
            <a:solidFill>
              <a:srgbClr val="D4C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SUDA body mirumi"/>
          <p:cNvSpPr txBox="1"/>
          <p:nvPr/>
        </p:nvSpPr>
        <p:spPr>
          <a:xfrm>
            <a:off x="9718221" y="7172325"/>
            <a:ext cx="2667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mirumi</a:t>
            </a:r>
          </a:p>
        </p:txBody>
      </p:sp>
      <p:sp>
        <p:nvSpPr>
          <p:cNvPr id="42" name="SUDA body 沟通型 / 触觉型 / 随身型；走量与利润角色须由销量、毛利数据判断。"/>
          <p:cNvSpPr txBox="1"/>
          <p:nvPr/>
        </p:nvSpPr>
        <p:spPr>
          <a:xfrm>
            <a:off x="952500" y="8724900"/>
            <a:ext cx="16383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沟通型 / 触觉型 / 随身型；走量与利润角色须由销量、毛利数据判断。</a:t>
            </a:r>
          </a:p>
        </p:txBody>
      </p:sp>
      <p:sp>
        <p:nvSpPr>
          <p:cNvPr id="43" name="SUDA small 04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185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7266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58668" y="572548"/>
            <a:ext cx="66630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ONE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66630" y="572548"/>
            <a:ext cx="96381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CLEAR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72095" y="572548"/>
            <a:ext cx="139437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BEHAVIOR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945261"/>
            <a:ext cx="1191577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最有辨识度的产品，只有一个清楚的行为。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83848" y="3655282"/>
            <a:ext cx="3022359" cy="1702594"/>
            <a:chOff x="0" y="0"/>
            <a:chExt cx="4029812" cy="2270125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4029837" cy="2270125"/>
            </a:xfrm>
            <a:custGeom>
              <a:avLst/>
              <a:gdLst/>
              <a:ahLst/>
              <a:cxnLst/>
              <a:rect l="l" t="t" r="r" b="b"/>
              <a:pathLst>
                <a:path w="4029837" h="2270125">
                  <a:moveTo>
                    <a:pt x="0" y="0"/>
                  </a:moveTo>
                  <a:lnTo>
                    <a:pt x="4029837" y="0"/>
                  </a:lnTo>
                  <a:lnTo>
                    <a:pt x="4029837" y="2270125"/>
                  </a:lnTo>
                  <a:lnTo>
                    <a:pt x="0" y="2270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2775493" y="6137983"/>
            <a:ext cx="79147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Qoobo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71000" y="6606737"/>
            <a:ext cx="1200302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0"/>
              </a:lnSpc>
            </a:pPr>
            <a:r>
              <a:rPr lang="zh-CN" sz="4125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摇尾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98661" y="3655282"/>
            <a:ext cx="3022359" cy="1702594"/>
            <a:chOff x="0" y="0"/>
            <a:chExt cx="4029812" cy="2270125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4029837" cy="2270125"/>
            </a:xfrm>
            <a:custGeom>
              <a:avLst/>
              <a:gdLst/>
              <a:ahLst/>
              <a:cxnLst/>
              <a:rect l="l" t="t" r="r" b="b"/>
              <a:pathLst>
                <a:path w="4029837" h="2270125">
                  <a:moveTo>
                    <a:pt x="0" y="0"/>
                  </a:moveTo>
                  <a:lnTo>
                    <a:pt x="4029837" y="0"/>
                  </a:lnTo>
                  <a:lnTo>
                    <a:pt x="4029837" y="2270125"/>
                  </a:lnTo>
                  <a:lnTo>
                    <a:pt x="0" y="2270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p/>
          </p:txBody>
        </p:sp>
      </p:grpSp>
      <p:sp>
        <p:nvSpPr>
          <p:cNvPr id="14" name="TextBox 14"/>
          <p:cNvSpPr txBox="1"/>
          <p:nvPr/>
        </p:nvSpPr>
        <p:spPr>
          <a:xfrm>
            <a:off x="6307782" y="6137983"/>
            <a:ext cx="1110701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AMAGAMI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27252" y="6137983"/>
            <a:ext cx="61421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HAM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50232" y="6137983"/>
            <a:ext cx="61406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HAM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5813" y="6606737"/>
            <a:ext cx="1200302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0"/>
              </a:lnSpc>
            </a:pPr>
            <a:r>
              <a:rPr lang="zh-CN" sz="4125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轻咬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013473" y="3655282"/>
            <a:ext cx="3022359" cy="1702594"/>
            <a:chOff x="0" y="0"/>
            <a:chExt cx="4029812" cy="2270125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4029837" cy="2270125"/>
            </a:xfrm>
            <a:custGeom>
              <a:avLst/>
              <a:gdLst/>
              <a:ahLst/>
              <a:cxnLst/>
              <a:rect l="l" t="t" r="r" b="b"/>
              <a:pathLst>
                <a:path w="4029837" h="2270125">
                  <a:moveTo>
                    <a:pt x="0" y="0"/>
                  </a:moveTo>
                  <a:lnTo>
                    <a:pt x="4029837" y="0"/>
                  </a:lnTo>
                  <a:lnTo>
                    <a:pt x="4029837" y="2270125"/>
                  </a:lnTo>
                  <a:lnTo>
                    <a:pt x="0" y="2270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p/>
          </p:txBody>
        </p:sp>
      </p:grpSp>
      <p:sp>
        <p:nvSpPr>
          <p:cNvPr id="20" name="TextBox 20"/>
          <p:cNvSpPr txBox="1"/>
          <p:nvPr/>
        </p:nvSpPr>
        <p:spPr>
          <a:xfrm>
            <a:off x="10868018" y="6137983"/>
            <a:ext cx="30271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18189" y="6137983"/>
            <a:ext cx="267443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33090" y="6137983"/>
            <a:ext cx="67032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kojita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12324" y="6137983"/>
            <a:ext cx="6213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FuFu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00625" y="6587687"/>
            <a:ext cx="1200302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0"/>
              </a:lnSpc>
            </a:pPr>
            <a:r>
              <a:rPr lang="zh-CN" sz="4125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吹气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4228286" y="3655282"/>
            <a:ext cx="3022359" cy="1702594"/>
            <a:chOff x="0" y="0"/>
            <a:chExt cx="4029812" cy="2270125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4029837" cy="2270125"/>
            </a:xfrm>
            <a:custGeom>
              <a:avLst/>
              <a:gdLst/>
              <a:ahLst/>
              <a:cxnLst/>
              <a:rect l="l" t="t" r="r" b="b"/>
              <a:pathLst>
                <a:path w="4029837" h="2270125">
                  <a:moveTo>
                    <a:pt x="0" y="0"/>
                  </a:moveTo>
                  <a:lnTo>
                    <a:pt x="4029837" y="0"/>
                  </a:lnTo>
                  <a:lnTo>
                    <a:pt x="4029837" y="2270125"/>
                  </a:lnTo>
                  <a:lnTo>
                    <a:pt x="0" y="2270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p/>
          </p:txBody>
        </p:sp>
      </p:grpSp>
      <p:sp>
        <p:nvSpPr>
          <p:cNvPr id="27" name="TextBox 27"/>
          <p:cNvSpPr txBox="1"/>
          <p:nvPr/>
        </p:nvSpPr>
        <p:spPr>
          <a:xfrm>
            <a:off x="15416653" y="6137983"/>
            <a:ext cx="79801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Mirumi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215438" y="6606737"/>
            <a:ext cx="1200302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0"/>
              </a:lnSpc>
            </a:pPr>
            <a:r>
              <a:rPr lang="zh-CN" sz="4125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偷瞄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7250" y="9114320"/>
            <a:ext cx="87645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行为归纳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31747" y="9114320"/>
            <a:ext cx="19645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·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26406" y="9114320"/>
            <a:ext cx="123840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产品图来源：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12256" y="9114320"/>
            <a:ext cx="56465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Yukai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74962" y="9114320"/>
            <a:ext cx="108764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Engineering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60799" y="9114320"/>
            <a:ext cx="105742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官方产品页</a:t>
            </a:r>
          </a:p>
        </p:txBody>
      </p:sp>
      <p:sp>
        <p:nvSpPr>
          <p:cNvPr id="35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36" name="SUDA small 05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185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7266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58668" y="572548"/>
            <a:ext cx="160199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EMOTIONAL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02309" y="572548"/>
            <a:ext cx="182641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INTERACTION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7250" y="945261"/>
            <a:ext cx="100584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围绕情绪，产品自然进入不同日常。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053840" y="3716598"/>
            <a:ext cx="5100323" cy="1747523"/>
            <a:chOff x="0" y="0"/>
            <a:chExt cx="6800431" cy="23300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00469" cy="2330069"/>
            </a:xfrm>
            <a:custGeom>
              <a:avLst/>
              <a:gdLst/>
              <a:ahLst/>
              <a:cxnLst/>
              <a:rect l="l" t="t" r="r" b="b"/>
              <a:pathLst>
                <a:path w="6800469" h="2330069">
                  <a:moveTo>
                    <a:pt x="6800469" y="2330069"/>
                  </a:moveTo>
                  <a:lnTo>
                    <a:pt x="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6868" b="-6867"/>
              </a:stretch>
            </a:blipFill>
            <a:ln w="20319" cap="sq">
              <a:solidFill>
                <a:srgbClr val="C7BCB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9133837" y="3716598"/>
            <a:ext cx="5100323" cy="1747523"/>
            <a:chOff x="0" y="0"/>
            <a:chExt cx="6800431" cy="23300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00469" cy="2330069"/>
            </a:xfrm>
            <a:custGeom>
              <a:avLst/>
              <a:gdLst/>
              <a:ahLst/>
              <a:cxnLst/>
              <a:rect l="l" t="t" r="r" b="b"/>
              <a:pathLst>
                <a:path w="6800469" h="2330069">
                  <a:moveTo>
                    <a:pt x="0" y="2330069"/>
                  </a:moveTo>
                  <a:lnTo>
                    <a:pt x="6800469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6868" b="-6867"/>
              </a:stretch>
            </a:blipFill>
            <a:ln w="20319" cap="sq">
              <a:solidFill>
                <a:srgbClr val="C7BCB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id="11" name="Group 11"/>
          <p:cNvGrpSpPr/>
          <p:nvPr/>
        </p:nvGrpSpPr>
        <p:grpSpPr>
          <a:xfrm>
            <a:off x="3647437" y="5443795"/>
            <a:ext cx="5506717" cy="1645920"/>
            <a:chOff x="0" y="0"/>
            <a:chExt cx="7342289" cy="21945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42251" cy="2194560"/>
            </a:xfrm>
            <a:custGeom>
              <a:avLst/>
              <a:gdLst/>
              <a:ahLst/>
              <a:cxnLst/>
              <a:rect l="l" t="t" r="r" b="b"/>
              <a:pathLst>
                <a:path w="7342251" h="2194560">
                  <a:moveTo>
                    <a:pt x="7342251" y="0"/>
                  </a:moveTo>
                  <a:lnTo>
                    <a:pt x="0" y="219456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5190" b="-15190"/>
              </a:stretch>
            </a:blipFill>
            <a:ln w="20319" cap="sq">
              <a:solidFill>
                <a:srgbClr val="C7BCB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id="13" name="Group 13"/>
          <p:cNvGrpSpPr/>
          <p:nvPr/>
        </p:nvGrpSpPr>
        <p:grpSpPr>
          <a:xfrm>
            <a:off x="9133837" y="5443795"/>
            <a:ext cx="5506717" cy="1645920"/>
            <a:chOff x="0" y="0"/>
            <a:chExt cx="7342289" cy="21945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42251" cy="2194560"/>
            </a:xfrm>
            <a:custGeom>
              <a:avLst/>
              <a:gdLst/>
              <a:ahLst/>
              <a:cxnLst/>
              <a:rect l="l" t="t" r="r" b="b"/>
              <a:pathLst>
                <a:path w="7342251" h="2194560">
                  <a:moveTo>
                    <a:pt x="0" y="0"/>
                  </a:moveTo>
                  <a:lnTo>
                    <a:pt x="7342251" y="219456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5190" b="-15190"/>
              </a:stretch>
            </a:blipFill>
            <a:ln w="20319" cap="sq">
              <a:solidFill>
                <a:srgbClr val="C7BCB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id="15" name="Group 15"/>
          <p:cNvGrpSpPr/>
          <p:nvPr/>
        </p:nvGrpSpPr>
        <p:grpSpPr>
          <a:xfrm>
            <a:off x="7620000" y="3929958"/>
            <a:ext cx="3048000" cy="3048000"/>
            <a:chOff x="0" y="0"/>
            <a:chExt cx="4064000" cy="406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64000" cy="4064000"/>
            </a:xfrm>
            <a:custGeom>
              <a:avLst/>
              <a:gdLst/>
              <a:ahLst/>
              <a:cxnLst/>
              <a:rect l="l" t="t" r="r" b="b"/>
              <a:pathLst>
                <a:path w="4064000" h="4064000">
                  <a:moveTo>
                    <a:pt x="0" y="2032000"/>
                  </a:moveTo>
                  <a:cubicBezTo>
                    <a:pt x="0" y="909701"/>
                    <a:pt x="909701" y="0"/>
                    <a:pt x="2032000" y="0"/>
                  </a:cubicBezTo>
                  <a:cubicBezTo>
                    <a:pt x="3154299" y="0"/>
                    <a:pt x="4064000" y="909701"/>
                    <a:pt x="4064000" y="2032000"/>
                  </a:cubicBezTo>
                  <a:cubicBezTo>
                    <a:pt x="4064000" y="3154299"/>
                    <a:pt x="3154299" y="4064000"/>
                    <a:pt x="2032000" y="4064000"/>
                  </a:cubicBezTo>
                  <a:cubicBezTo>
                    <a:pt x="909701" y="4064000"/>
                    <a:pt x="0" y="3154299"/>
                    <a:pt x="0" y="2032000"/>
                  </a:cubicBezTo>
                  <a:close/>
                </a:path>
              </a:pathLst>
            </a:custGeom>
            <a:solidFill>
              <a:srgbClr val="F2D6C9"/>
            </a:solidFill>
          </p:spPr>
          <p:txBody>
            <a:bodyPr/>
            <a:p/>
          </p:txBody>
        </p:sp>
      </p:grpSp>
      <p:sp>
        <p:nvSpPr>
          <p:cNvPr id="17" name="TextBox 17"/>
          <p:cNvSpPr txBox="1"/>
          <p:nvPr/>
        </p:nvSpPr>
        <p:spPr>
          <a:xfrm>
            <a:off x="8393459" y="4854540"/>
            <a:ext cx="165348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3"/>
              </a:lnSpc>
            </a:pPr>
            <a:r>
              <a:rPr lang="zh-CN" sz="271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Emotional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32518" y="5342220"/>
            <a:ext cx="177537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3"/>
              </a:lnSpc>
            </a:pPr>
            <a:r>
              <a:rPr lang="zh-CN" sz="271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Interaction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149603" y="2812352"/>
            <a:ext cx="1828800" cy="1828800"/>
            <a:chOff x="0" y="0"/>
            <a:chExt cx="2438400" cy="2438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400" cy="2438400"/>
            </a:xfrm>
            <a:custGeom>
              <a:avLst/>
              <a:gdLst/>
              <a:ahLst/>
              <a:cxnLst/>
              <a:rect l="l" t="t" r="r" b="b"/>
              <a:pathLst>
                <a:path w="2438400" h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E7E1D2"/>
            </a:solidFill>
          </p:spPr>
          <p:txBody>
            <a:bodyPr/>
            <a:p/>
          </p:txBody>
        </p:sp>
      </p:grpSp>
      <p:sp>
        <p:nvSpPr>
          <p:cNvPr id="21" name="TextBox 21"/>
          <p:cNvSpPr txBox="1"/>
          <p:nvPr/>
        </p:nvSpPr>
        <p:spPr>
          <a:xfrm>
            <a:off x="3515344" y="3258836"/>
            <a:ext cx="124970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2"/>
              </a:lnSpc>
            </a:pPr>
            <a:r>
              <a:rPr lang="zh-CN" sz="216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家庭沟通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99672" y="3727237"/>
            <a:ext cx="88106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zh-CN" sz="16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BOCCO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309597" y="2812352"/>
            <a:ext cx="1828800" cy="1828800"/>
            <a:chOff x="0" y="0"/>
            <a:chExt cx="2438400" cy="2438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400" cy="2438400"/>
            </a:xfrm>
            <a:custGeom>
              <a:avLst/>
              <a:gdLst/>
              <a:ahLst/>
              <a:cxnLst/>
              <a:rect l="l" t="t" r="r" b="b"/>
              <a:pathLst>
                <a:path w="2438400" h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DCE8EB"/>
            </a:solidFill>
          </p:spPr>
          <p:txBody>
            <a:bodyPr/>
            <a:p/>
          </p:txBody>
        </p:sp>
      </p:grpSp>
      <p:sp>
        <p:nvSpPr>
          <p:cNvPr id="25" name="TextBox 25"/>
          <p:cNvSpPr txBox="1"/>
          <p:nvPr/>
        </p:nvSpPr>
        <p:spPr>
          <a:xfrm>
            <a:off x="13675347" y="3258836"/>
            <a:ext cx="124970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2"/>
              </a:lnSpc>
            </a:pPr>
            <a:r>
              <a:rPr lang="zh-CN" sz="216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触觉陪伴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315779" y="3727237"/>
            <a:ext cx="196884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zh-CN" sz="16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Qoobo / HAM HAM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743200" y="6165152"/>
            <a:ext cx="1828800" cy="1828800"/>
            <a:chOff x="0" y="0"/>
            <a:chExt cx="2438400" cy="2438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38400" cy="2438400"/>
            </a:xfrm>
            <a:custGeom>
              <a:avLst/>
              <a:gdLst/>
              <a:ahLst/>
              <a:cxnLst/>
              <a:rect l="l" t="t" r="r" b="b"/>
              <a:pathLst>
                <a:path w="2438400" h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F5E1DD"/>
            </a:solidFill>
          </p:spPr>
          <p:txBody>
            <a:bodyPr/>
            <a:p/>
          </p:txBody>
        </p:sp>
      </p:grpSp>
      <p:sp>
        <p:nvSpPr>
          <p:cNvPr id="29" name="TextBox 29"/>
          <p:cNvSpPr txBox="1"/>
          <p:nvPr/>
        </p:nvSpPr>
        <p:spPr>
          <a:xfrm>
            <a:off x="2971800" y="6611636"/>
            <a:ext cx="15240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2"/>
              </a:lnSpc>
            </a:pPr>
            <a:r>
              <a:rPr lang="zh-CN" sz="216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生活微动作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29371" y="7080037"/>
            <a:ext cx="60885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zh-CN" sz="16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FuFu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716000" y="6165152"/>
            <a:ext cx="1828800" cy="1828800"/>
            <a:chOff x="0" y="0"/>
            <a:chExt cx="2438400" cy="2438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438400" cy="2438400"/>
            </a:xfrm>
            <a:custGeom>
              <a:avLst/>
              <a:gdLst/>
              <a:ahLst/>
              <a:cxnLst/>
              <a:rect l="l" t="t" r="r" b="b"/>
              <a:pathLst>
                <a:path w="2438400" h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E6E3DB"/>
            </a:solidFill>
          </p:spPr>
          <p:txBody>
            <a:bodyPr/>
            <a:p/>
          </p:txBody>
        </p:sp>
      </p:grpSp>
      <p:sp>
        <p:nvSpPr>
          <p:cNvPr id="33" name="TextBox 33"/>
          <p:cNvSpPr txBox="1"/>
          <p:nvPr/>
        </p:nvSpPr>
        <p:spPr>
          <a:xfrm>
            <a:off x="14081741" y="6611636"/>
            <a:ext cx="124970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2"/>
              </a:lnSpc>
            </a:pPr>
            <a:r>
              <a:rPr lang="zh-CN" sz="216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随身回应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316075" y="7080037"/>
            <a:ext cx="7810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4"/>
              </a:lnSpc>
            </a:pPr>
            <a:r>
              <a:rPr lang="zh-CN" sz="16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Mirumi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7250" y="9114320"/>
            <a:ext cx="105742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使用关系图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12722" y="9114320"/>
            <a:ext cx="19645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·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07381" y="9114320"/>
            <a:ext cx="141937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不表示设备互联</a:t>
            </a:r>
          </a:p>
        </p:txBody>
      </p:sp>
      <p:sp>
        <p:nvSpPr>
          <p:cNvPr id="38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39" name="SUDA small 06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185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7266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58668" y="572548"/>
            <a:ext cx="177849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POSITIONING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7250" y="945261"/>
            <a:ext cx="1245914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“低技术感、高情绪价值”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55997" y="2274227"/>
            <a:ext cx="147265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5"/>
              </a:lnSpc>
            </a:pPr>
            <a:r>
              <a:rPr lang="zh-CN" sz="20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高情绪价值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11886" y="7913027"/>
            <a:ext cx="120863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5"/>
              </a:lnSpc>
            </a:pPr>
            <a:r>
              <a:rPr lang="zh-CN" sz="20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高技术感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35880" y="7913027"/>
            <a:ext cx="120863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5"/>
              </a:lnSpc>
            </a:pPr>
            <a:r>
              <a:rPr lang="zh-CN" sz="20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低技术感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821680" y="3503238"/>
            <a:ext cx="1361437" cy="1361437"/>
            <a:chOff x="0" y="0"/>
            <a:chExt cx="1815249" cy="18152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15338" cy="1815338"/>
            </a:xfrm>
            <a:custGeom>
              <a:avLst/>
              <a:gdLst/>
              <a:ahLst/>
              <a:cxnLst/>
              <a:rect l="l" t="t" r="r" b="b"/>
              <a:pathLst>
                <a:path w="1815338" h="1815338">
                  <a:moveTo>
                    <a:pt x="0" y="907669"/>
                  </a:moveTo>
                  <a:cubicBezTo>
                    <a:pt x="0" y="406400"/>
                    <a:pt x="406400" y="0"/>
                    <a:pt x="907669" y="0"/>
                  </a:cubicBezTo>
                  <a:cubicBezTo>
                    <a:pt x="1408938" y="0"/>
                    <a:pt x="1815338" y="406400"/>
                    <a:pt x="1815338" y="907669"/>
                  </a:cubicBezTo>
                  <a:cubicBezTo>
                    <a:pt x="1815338" y="1408938"/>
                    <a:pt x="1408938" y="1815338"/>
                    <a:pt x="907669" y="1815338"/>
                  </a:cubicBezTo>
                  <a:cubicBezTo>
                    <a:pt x="406400" y="1815338"/>
                    <a:pt x="0" y="1408938"/>
                    <a:pt x="0" y="907669"/>
                  </a:cubicBezTo>
                  <a:close/>
                </a:path>
              </a:pathLst>
            </a:custGeom>
            <a:solidFill>
              <a:srgbClr val="D8E4E6"/>
            </a:solidFill>
          </p:spPr>
          <p:txBody>
            <a:bodyPr/>
            <a:p/>
          </p:txBody>
        </p:sp>
      </p:grpSp>
      <p:sp>
        <p:nvSpPr>
          <p:cNvPr id="19" name="TextBox 19"/>
          <p:cNvSpPr txBox="1"/>
          <p:nvPr/>
        </p:nvSpPr>
        <p:spPr>
          <a:xfrm>
            <a:off x="6106439" y="3859263"/>
            <a:ext cx="94431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zh-CN" sz="223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Yukai*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029437" y="3970592"/>
            <a:ext cx="731520" cy="731520"/>
            <a:chOff x="0" y="0"/>
            <a:chExt cx="975360" cy="975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DEDBD6"/>
            </a:solidFill>
          </p:spPr>
          <p:txBody>
            <a:bodyPr/>
            <a:p/>
          </p:txBody>
        </p:sp>
      </p:grpSp>
      <p:sp>
        <p:nvSpPr>
          <p:cNvPr id="22" name="TextBox 22"/>
          <p:cNvSpPr txBox="1"/>
          <p:nvPr/>
        </p:nvSpPr>
        <p:spPr>
          <a:xfrm>
            <a:off x="11541890" y="4610319"/>
            <a:ext cx="185901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2"/>
              </a:lnSpc>
            </a:pPr>
            <a:r>
              <a:rPr lang="zh-CN" sz="192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多功能陪伴设备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364480" y="6348032"/>
            <a:ext cx="650243" cy="650243"/>
            <a:chOff x="0" y="0"/>
            <a:chExt cx="866991" cy="8669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67029" cy="867029"/>
            </a:xfrm>
            <a:custGeom>
              <a:avLst/>
              <a:gdLst/>
              <a:ahLst/>
              <a:cxnLst/>
              <a:rect l="l" t="t" r="r" b="b"/>
              <a:pathLst>
                <a:path w="867029" h="867029">
                  <a:moveTo>
                    <a:pt x="0" y="433451"/>
                  </a:moveTo>
                  <a:cubicBezTo>
                    <a:pt x="0" y="194056"/>
                    <a:pt x="194056" y="0"/>
                    <a:pt x="433451" y="0"/>
                  </a:cubicBezTo>
                  <a:cubicBezTo>
                    <a:pt x="672846" y="0"/>
                    <a:pt x="867029" y="194056"/>
                    <a:pt x="867029" y="433451"/>
                  </a:cubicBezTo>
                  <a:cubicBezTo>
                    <a:pt x="867029" y="672846"/>
                    <a:pt x="672846" y="867029"/>
                    <a:pt x="433451" y="867029"/>
                  </a:cubicBezTo>
                  <a:cubicBezTo>
                    <a:pt x="194056" y="867029"/>
                    <a:pt x="0" y="672846"/>
                    <a:pt x="0" y="433451"/>
                  </a:cubicBezTo>
                  <a:close/>
                </a:path>
              </a:pathLst>
            </a:custGeom>
            <a:solidFill>
              <a:srgbClr val="DEDBD6"/>
            </a:solidFill>
          </p:spPr>
          <p:txBody>
            <a:bodyPr/>
            <a:p/>
          </p:txBody>
        </p:sp>
      </p:grpSp>
      <p:sp>
        <p:nvSpPr>
          <p:cNvPr id="25" name="TextBox 25"/>
          <p:cNvSpPr txBox="1"/>
          <p:nvPr/>
        </p:nvSpPr>
        <p:spPr>
          <a:xfrm>
            <a:off x="5080073" y="6936962"/>
            <a:ext cx="137144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2"/>
              </a:lnSpc>
            </a:pPr>
            <a:r>
              <a:rPr lang="zh-CN" sz="192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普通纪念物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7250" y="9114320"/>
            <a:ext cx="24423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*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9525" y="9114320"/>
            <a:ext cx="33352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1259" y="9114320"/>
            <a:ext cx="56465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Yukai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93964" y="9114320"/>
            <a:ext cx="304815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触觉陪伴代表产品；位置为定性假设</a:t>
            </a:r>
          </a:p>
        </p:txBody>
      </p:sp>
      <p:sp>
        <p:nvSpPr>
          <p:cNvPr id="40" name="AutoShape 40"/>
          <p:cNvSpPr/>
          <p:nvPr/>
        </p:nvSpPr>
        <p:spPr>
          <a:xfrm flipH="1" flipV="1">
            <a:off x="4069351" y="2856269"/>
            <a:ext cx="0" cy="5027166"/>
          </a:xfrm>
          <a:prstGeom prst="line">
            <a:avLst/>
          </a:prstGeom>
          <a:ln w="19050" cap="flat">
            <a:solidFill>
              <a:srgbClr val="C7BCB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1" name="AutoShape 41"/>
          <p:cNvSpPr/>
          <p:nvPr/>
        </p:nvSpPr>
        <p:spPr>
          <a:xfrm flipV="1">
            <a:off x="5161283" y="8155200"/>
            <a:ext cx="9305139" cy="34052"/>
          </a:xfrm>
          <a:prstGeom prst="line">
            <a:avLst/>
          </a:prstGeom>
          <a:ln w="19050" cap="flat">
            <a:solidFill>
              <a:srgbClr val="C7BCB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2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43" name="SUDA small 07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262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5153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6555" y="572548"/>
            <a:ext cx="117768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CAMPUS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85742" y="572548"/>
            <a:ext cx="19133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OPPORTUNITY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7250" y="945261"/>
            <a:ext cx="125349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校园纪念品有身份符号，却很少有行为记忆。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54969" y="2548833"/>
            <a:ext cx="2333625" cy="2333625"/>
            <a:chOff x="0" y="0"/>
            <a:chExt cx="3111500" cy="3111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11500" cy="3111500"/>
            </a:xfrm>
            <a:custGeom>
              <a:avLst/>
              <a:gdLst/>
              <a:ahLst/>
              <a:cxnLst/>
              <a:rect l="l" t="t" r="r" b="b"/>
              <a:pathLst>
                <a:path w="3111500" h="3111500">
                  <a:moveTo>
                    <a:pt x="1555750" y="0"/>
                  </a:moveTo>
                  <a:cubicBezTo>
                    <a:pt x="2414905" y="0"/>
                    <a:pt x="3111500" y="696595"/>
                    <a:pt x="3111500" y="1555750"/>
                  </a:cubicBezTo>
                  <a:cubicBezTo>
                    <a:pt x="3111500" y="2414905"/>
                    <a:pt x="2414905" y="3111500"/>
                    <a:pt x="1555750" y="3111500"/>
                  </a:cubicBezTo>
                  <a:cubicBezTo>
                    <a:pt x="696595" y="3111500"/>
                    <a:pt x="0" y="2414905"/>
                    <a:pt x="0" y="1555750"/>
                  </a:cubicBezTo>
                  <a:cubicBezTo>
                    <a:pt x="0" y="696595"/>
                    <a:pt x="696595" y="0"/>
                    <a:pt x="1555750" y="0"/>
                  </a:cubicBezTo>
                  <a:close/>
                </a:path>
              </a:pathLst>
            </a:custGeom>
            <a:solidFill>
              <a:srgbClr val="E8E3D8"/>
            </a:solidFill>
          </p:spPr>
          <p:txBody>
            <a:bodyPr/>
            <a:p/>
          </p:txBody>
        </p:sp>
      </p:grpSp>
      <p:sp>
        <p:nvSpPr>
          <p:cNvPr id="9" name="TextBox 9"/>
          <p:cNvSpPr txBox="1"/>
          <p:nvPr/>
        </p:nvSpPr>
        <p:spPr>
          <a:xfrm>
            <a:off x="2135029" y="2577408"/>
            <a:ext cx="1629727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67"/>
              </a:lnSpc>
            </a:pPr>
            <a:r>
              <a:rPr lang="zh-CN" sz="10875" b="0" spc="0">
                <a:solidFill>
                  <a:srgbClr val="B09B82"/>
                </a:solidFill>
                <a:latin typeface="ChillRoundM"/>
                <a:ea typeface="寒蝉半圆体"/>
                <a:cs typeface="ChillRoundM"/>
              </a:rPr>
              <a:t>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78729" y="5080197"/>
            <a:ext cx="83835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zh-CN" sz="27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校徽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07431" y="5640362"/>
            <a:ext cx="11811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身份明确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869781" y="2548833"/>
            <a:ext cx="2333625" cy="2333625"/>
            <a:chOff x="0" y="0"/>
            <a:chExt cx="3111500" cy="3111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11500" cy="3111500"/>
            </a:xfrm>
            <a:custGeom>
              <a:avLst/>
              <a:gdLst/>
              <a:ahLst/>
              <a:cxnLst/>
              <a:rect l="l" t="t" r="r" b="b"/>
              <a:pathLst>
                <a:path w="3111500" h="3111500">
                  <a:moveTo>
                    <a:pt x="1555750" y="0"/>
                  </a:moveTo>
                  <a:cubicBezTo>
                    <a:pt x="2414905" y="0"/>
                    <a:pt x="3111500" y="696595"/>
                    <a:pt x="3111500" y="1555750"/>
                  </a:cubicBezTo>
                  <a:cubicBezTo>
                    <a:pt x="3111500" y="2414905"/>
                    <a:pt x="2414905" y="3111500"/>
                    <a:pt x="1555750" y="3111500"/>
                  </a:cubicBezTo>
                  <a:cubicBezTo>
                    <a:pt x="696595" y="3111500"/>
                    <a:pt x="0" y="2414905"/>
                    <a:pt x="0" y="1555750"/>
                  </a:cubicBezTo>
                  <a:cubicBezTo>
                    <a:pt x="0" y="696595"/>
                    <a:pt x="696595" y="0"/>
                    <a:pt x="1555750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15" name="TextBox 15"/>
          <p:cNvSpPr txBox="1"/>
          <p:nvPr/>
        </p:nvSpPr>
        <p:spPr>
          <a:xfrm>
            <a:off x="6522091" y="5080197"/>
            <a:ext cx="118125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zh-CN" sz="27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钥匙扣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22244" y="5640362"/>
            <a:ext cx="11811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便于携带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84594" y="2548833"/>
            <a:ext cx="2333625" cy="2333625"/>
            <a:chOff x="0" y="0"/>
            <a:chExt cx="3111500" cy="3111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11500" cy="3111500"/>
            </a:xfrm>
            <a:custGeom>
              <a:avLst/>
              <a:gdLst/>
              <a:ahLst/>
              <a:cxnLst/>
              <a:rect l="l" t="t" r="r" b="b"/>
              <a:pathLst>
                <a:path w="3111500" h="3111500">
                  <a:moveTo>
                    <a:pt x="1555750" y="0"/>
                  </a:moveTo>
                  <a:cubicBezTo>
                    <a:pt x="2414905" y="0"/>
                    <a:pt x="3111500" y="696595"/>
                    <a:pt x="3111500" y="1555750"/>
                  </a:cubicBezTo>
                  <a:cubicBezTo>
                    <a:pt x="3111500" y="2414905"/>
                    <a:pt x="2414905" y="3111500"/>
                    <a:pt x="1555750" y="3111500"/>
                  </a:cubicBezTo>
                  <a:cubicBezTo>
                    <a:pt x="696595" y="3111500"/>
                    <a:pt x="0" y="2414905"/>
                    <a:pt x="0" y="1555750"/>
                  </a:cubicBezTo>
                  <a:cubicBezTo>
                    <a:pt x="0" y="696595"/>
                    <a:pt x="696595" y="0"/>
                    <a:pt x="1555750" y="0"/>
                  </a:cubicBezTo>
                  <a:close/>
                </a:path>
              </a:pathLst>
            </a:custGeom>
            <a:solidFill>
              <a:srgbClr val="F0DEDC"/>
            </a:solidFill>
          </p:spPr>
          <p:txBody>
            <a:bodyPr/>
            <a:p/>
          </p:txBody>
        </p:sp>
      </p:grpSp>
      <p:sp>
        <p:nvSpPr>
          <p:cNvPr id="19" name="TextBox 19"/>
          <p:cNvSpPr txBox="1"/>
          <p:nvPr/>
        </p:nvSpPr>
        <p:spPr>
          <a:xfrm>
            <a:off x="10565454" y="2577408"/>
            <a:ext cx="1629727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67"/>
              </a:lnSpc>
            </a:pPr>
            <a:r>
              <a:rPr lang="zh-CN" sz="10875" b="0" spc="0">
                <a:solidFill>
                  <a:srgbClr val="B09B82"/>
                </a:solidFill>
                <a:latin typeface="ChillRoundM"/>
                <a:ea typeface="寒蝉半圆体"/>
                <a:cs typeface="ChillRoundM"/>
              </a:rPr>
              <a:t>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65454" y="5080197"/>
            <a:ext cx="152415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zh-CN" sz="27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普通毛绒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79881" y="5640362"/>
            <a:ext cx="16954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亲近、可触摸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4299406" y="2548833"/>
            <a:ext cx="2333625" cy="2333625"/>
            <a:chOff x="0" y="0"/>
            <a:chExt cx="3111500" cy="3111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11500" cy="3111500"/>
            </a:xfrm>
            <a:custGeom>
              <a:avLst/>
              <a:gdLst/>
              <a:ahLst/>
              <a:cxnLst/>
              <a:rect l="l" t="t" r="r" b="b"/>
              <a:pathLst>
                <a:path w="3111500" h="3111500">
                  <a:moveTo>
                    <a:pt x="1555750" y="0"/>
                  </a:moveTo>
                  <a:cubicBezTo>
                    <a:pt x="2414905" y="0"/>
                    <a:pt x="3111500" y="696595"/>
                    <a:pt x="3111500" y="1555750"/>
                  </a:cubicBezTo>
                  <a:cubicBezTo>
                    <a:pt x="3111500" y="2414905"/>
                    <a:pt x="2414905" y="3111500"/>
                    <a:pt x="1555750" y="3111500"/>
                  </a:cubicBezTo>
                  <a:cubicBezTo>
                    <a:pt x="696595" y="3111500"/>
                    <a:pt x="0" y="2414905"/>
                    <a:pt x="0" y="1555750"/>
                  </a:cubicBezTo>
                  <a:cubicBezTo>
                    <a:pt x="0" y="696595"/>
                    <a:pt x="696595" y="0"/>
                    <a:pt x="1555750" y="0"/>
                  </a:cubicBezTo>
                  <a:close/>
                </a:path>
              </a:pathLst>
            </a:custGeom>
            <a:solidFill>
              <a:srgbClr val="E8E3D8"/>
            </a:solidFill>
          </p:spPr>
          <p:txBody>
            <a:bodyPr/>
            <a:p/>
          </p:txBody>
        </p:sp>
      </p:grpSp>
      <p:sp>
        <p:nvSpPr>
          <p:cNvPr id="25" name="TextBox 25"/>
          <p:cNvSpPr txBox="1"/>
          <p:nvPr/>
        </p:nvSpPr>
        <p:spPr>
          <a:xfrm>
            <a:off x="14780266" y="5080197"/>
            <a:ext cx="152415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zh-CN" sz="27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互动玩具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566106" y="5640362"/>
            <a:ext cx="195262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动作容易被记住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92801" y="6875688"/>
            <a:ext cx="7454656" cy="483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3"/>
              </a:lnSpc>
            </a:pPr>
            <a:r>
              <a:rPr lang="zh-CN" sz="2775" b="0" spc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机会：让“这是我的学校”，变成“它会抱住我”。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5001875" y="3638550"/>
            <a:ext cx="1047750" cy="0"/>
          </a:xfrm>
          <a:prstGeom prst="line">
            <a:avLst/>
          </a:prstGeom>
          <a:ln w="25400">
            <a:solidFill>
              <a:srgbClr val="A2948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 rot="19500000">
            <a:off x="6877050" y="3333750"/>
            <a:ext cx="381000" cy="552450"/>
          </a:xfrm>
          <a:prstGeom prst="ellipse">
            <a:avLst/>
          </a:prstGeom>
          <a:noFill/>
          <a:ln w="25400">
            <a:solidFill>
              <a:srgbClr val="A294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 rot="19500000">
            <a:off x="7115175" y="3562350"/>
            <a:ext cx="381000" cy="552450"/>
          </a:xfrm>
          <a:prstGeom prst="ellipse">
            <a:avLst/>
          </a:prstGeom>
          <a:noFill/>
          <a:ln w="25400">
            <a:solidFill>
              <a:srgbClr val="A294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42" name="SUDA small 08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6313141"/>
            <a:ext cx="4446089" cy="609600"/>
            <a:chOff x="0" y="0"/>
            <a:chExt cx="5928119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8106" cy="812800"/>
            </a:xfrm>
            <a:custGeom>
              <a:avLst/>
              <a:gdLst/>
              <a:ahLst/>
              <a:cxnLst/>
              <a:rect l="l" t="t" r="r" b="b"/>
              <a:pathLst>
                <a:path w="5928106" h="812800">
                  <a:moveTo>
                    <a:pt x="406400" y="0"/>
                  </a:moveTo>
                  <a:lnTo>
                    <a:pt x="5521706" y="0"/>
                  </a:lnTo>
                  <a:cubicBezTo>
                    <a:pt x="5746115" y="0"/>
                    <a:pt x="5928106" y="181991"/>
                    <a:pt x="5928106" y="406400"/>
                  </a:cubicBezTo>
                  <a:cubicBezTo>
                    <a:pt x="5928106" y="630809"/>
                    <a:pt x="5746115" y="812800"/>
                    <a:pt x="5521706" y="812800"/>
                  </a:cubicBezTo>
                  <a:lnTo>
                    <a:pt x="406400" y="812800"/>
                  </a:lnTo>
                  <a:cubicBezTo>
                    <a:pt x="181991" y="812800"/>
                    <a:pt x="0" y="630809"/>
                    <a:pt x="0" y="406400"/>
                  </a:cubicBezTo>
                  <a:cubicBezTo>
                    <a:pt x="0" y="181991"/>
                    <a:pt x="181991" y="0"/>
                    <a:pt x="406400" y="0"/>
                  </a:cubicBezTo>
                  <a:close/>
                </a:path>
              </a:pathLst>
            </a:custGeom>
            <a:solidFill>
              <a:srgbClr val="F0E6D7"/>
            </a:solidFill>
          </p:spPr>
          <p:txBody>
            <a:bodyPr/>
            <a:p/>
          </p:txBody>
        </p:sp>
      </p:grpSp>
      <p:grpSp>
        <p:nvGrpSpPr>
          <p:cNvPr id="4" name="Group 4"/>
          <p:cNvGrpSpPr/>
          <p:nvPr/>
        </p:nvGrpSpPr>
        <p:grpSpPr>
          <a:xfrm>
            <a:off x="8754218" y="2596458"/>
            <a:ext cx="8676532" cy="5810250"/>
            <a:chOff x="0" y="0"/>
            <a:chExt cx="11568709" cy="774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68684" cy="7747000"/>
            </a:xfrm>
            <a:custGeom>
              <a:avLst/>
              <a:gdLst/>
              <a:ahLst/>
              <a:cxnLst/>
              <a:rect l="l" t="t" r="r" b="b"/>
              <a:pathLst>
                <a:path w="11568684" h="7747000">
                  <a:moveTo>
                    <a:pt x="0" y="0"/>
                  </a:moveTo>
                  <a:lnTo>
                    <a:pt x="11568684" y="0"/>
                  </a:lnTo>
                  <a:lnTo>
                    <a:pt x="11568684" y="7747000"/>
                  </a:lnTo>
                  <a:lnTo>
                    <a:pt x="0" y="774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524" r="-9524"/>
              </a:stretch>
            </a:blipFill>
          </p:spPr>
          <p:txBody>
            <a:bodyPr/>
            <a:p/>
          </p:txBody>
        </p:sp>
      </p:grpSp>
      <p:sp>
        <p:nvSpPr>
          <p:cNvPr id="6" name="TextBox 6"/>
          <p:cNvSpPr txBox="1"/>
          <p:nvPr/>
        </p:nvSpPr>
        <p:spPr>
          <a:xfrm>
            <a:off x="857250" y="572548"/>
            <a:ext cx="4262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5153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6555" y="572548"/>
            <a:ext cx="71869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WHO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26752" y="572548"/>
            <a:ext cx="39439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IT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62660" y="572548"/>
            <a:ext cx="39647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00645" y="572548"/>
            <a:ext cx="65142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FOR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7250" y="945261"/>
            <a:ext cx="882015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服务想把校园带在身边的人。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7250" y="3128515"/>
            <a:ext cx="1276350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93"/>
              </a:lnSpc>
            </a:pPr>
            <a:r>
              <a:rPr lang="zh-CN" sz="9375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18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19288" y="3128515"/>
            <a:ext cx="842962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93"/>
              </a:lnSpc>
            </a:pPr>
            <a:r>
              <a:rPr lang="zh-CN" sz="9375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47938" y="3128515"/>
            <a:ext cx="1301353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93"/>
              </a:lnSpc>
            </a:pPr>
            <a:r>
              <a:rPr lang="zh-CN" sz="9375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25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7250" y="5009798"/>
            <a:ext cx="186705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zh-CN" sz="27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在校大学生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67743" y="5009798"/>
            <a:ext cx="339776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zh-CN" sz="27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/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50959" y="5009798"/>
            <a:ext cx="152415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zh-CN" sz="27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年轻校友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250" y="5569963"/>
            <a:ext cx="11811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背包通勤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57835" y="5569963"/>
            <a:ext cx="21505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92376" y="5569963"/>
            <a:ext cx="118125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宿舍陪伴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93104" y="5569963"/>
            <a:ext cx="21505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·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27644" y="5569963"/>
            <a:ext cx="118125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毕业送礼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3950" y="6388675"/>
            <a:ext cx="406508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“我想带走一点校园，也想随手摸到它。”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7250" y="7085714"/>
            <a:ext cx="275272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假设性用户画像，非访谈原话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7250" y="9114320"/>
            <a:ext cx="123840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人物与场景为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93697" y="9114320"/>
            <a:ext cx="31239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AI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04142" y="9114320"/>
            <a:ext cx="69547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概念图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97816" y="9114320"/>
            <a:ext cx="19645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92476" y="9114320"/>
            <a:ext cx="141937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用户画像待验证</a:t>
            </a:r>
          </a:p>
        </p:txBody>
      </p:sp>
      <p:sp>
        <p:nvSpPr>
          <p:cNvPr id="31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32" name="SUDA small 09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262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5153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6555" y="572548"/>
            <a:ext cx="63891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THE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46980" y="572548"/>
            <a:ext cx="65767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GAP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7250" y="945261"/>
            <a:ext cx="1315402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空白在两者之间：有身份，也有一个生命行为。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09650" y="3804267"/>
            <a:ext cx="5748938" cy="3333750"/>
            <a:chOff x="0" y="0"/>
            <a:chExt cx="7665250" cy="4445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65212" cy="4445000"/>
            </a:xfrm>
            <a:custGeom>
              <a:avLst/>
              <a:gdLst/>
              <a:ahLst/>
              <a:cxnLst/>
              <a:rect l="l" t="t" r="r" b="b"/>
              <a:pathLst>
                <a:path w="7665212" h="4445000">
                  <a:moveTo>
                    <a:pt x="3832606" y="0"/>
                  </a:moveTo>
                  <a:cubicBezTo>
                    <a:pt x="5949315" y="0"/>
                    <a:pt x="7665212" y="995045"/>
                    <a:pt x="7665212" y="2222500"/>
                  </a:cubicBezTo>
                  <a:cubicBezTo>
                    <a:pt x="7665212" y="3449955"/>
                    <a:pt x="5949315" y="4445000"/>
                    <a:pt x="3832606" y="4445000"/>
                  </a:cubicBezTo>
                  <a:cubicBezTo>
                    <a:pt x="1715897" y="4445000"/>
                    <a:pt x="0" y="3449955"/>
                    <a:pt x="0" y="2222500"/>
                  </a:cubicBezTo>
                  <a:cubicBezTo>
                    <a:pt x="0" y="995045"/>
                    <a:pt x="1715897" y="0"/>
                    <a:pt x="3832606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9" name="TextBox 9"/>
          <p:cNvSpPr txBox="1"/>
          <p:nvPr/>
        </p:nvSpPr>
        <p:spPr>
          <a:xfrm>
            <a:off x="3243415" y="4565972"/>
            <a:ext cx="112037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CAMPUS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95927" y="4565972"/>
            <a:ext cx="38129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IP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1842" y="5022962"/>
            <a:ext cx="9144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zh-CN" sz="30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校园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20408" y="5022962"/>
            <a:ext cx="47952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zh-CN" sz="30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IP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54091" y="5022962"/>
            <a:ext cx="91455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zh-CN" sz="30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毛绒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44686" y="5843731"/>
            <a:ext cx="2431104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“它属于我的学校。”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24825" y="5484924"/>
            <a:ext cx="11050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低技术感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0" y="5484924"/>
            <a:ext cx="37207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30197" y="5484924"/>
            <a:ext cx="11050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拟生行为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834070" y="3804267"/>
            <a:ext cx="5749080" cy="3333750"/>
            <a:chOff x="0" y="0"/>
            <a:chExt cx="7665441" cy="444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665466" cy="4445000"/>
            </a:xfrm>
            <a:custGeom>
              <a:avLst/>
              <a:gdLst/>
              <a:ahLst/>
              <a:cxnLst/>
              <a:rect l="l" t="t" r="r" b="b"/>
              <a:pathLst>
                <a:path w="7665466" h="4445000">
                  <a:moveTo>
                    <a:pt x="3832733" y="0"/>
                  </a:moveTo>
                  <a:cubicBezTo>
                    <a:pt x="5949442" y="0"/>
                    <a:pt x="7665466" y="995045"/>
                    <a:pt x="7665466" y="2222500"/>
                  </a:cubicBezTo>
                  <a:cubicBezTo>
                    <a:pt x="7665466" y="3449955"/>
                    <a:pt x="5949442" y="4445000"/>
                    <a:pt x="3832733" y="4445000"/>
                  </a:cubicBezTo>
                  <a:cubicBezTo>
                    <a:pt x="1716024" y="4445000"/>
                    <a:pt x="0" y="3449955"/>
                    <a:pt x="0" y="2222500"/>
                  </a:cubicBezTo>
                  <a:cubicBezTo>
                    <a:pt x="0" y="995045"/>
                    <a:pt x="1716024" y="0"/>
                    <a:pt x="3832733" y="0"/>
                  </a:cubicBezTo>
                  <a:close/>
                </a:path>
              </a:pathLst>
            </a:custGeom>
            <a:solidFill>
              <a:srgbClr val="F0DEDC"/>
            </a:solidFill>
          </p:spPr>
          <p:txBody>
            <a:bodyPr/>
            <a:p/>
          </p:txBody>
        </p:sp>
      </p:grpSp>
      <p:sp>
        <p:nvSpPr>
          <p:cNvPr id="22" name="TextBox 22"/>
          <p:cNvSpPr txBox="1"/>
          <p:nvPr/>
        </p:nvSpPr>
        <p:spPr>
          <a:xfrm>
            <a:off x="13756034" y="4565972"/>
            <a:ext cx="151611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EMOTIONAL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04281" y="4565972"/>
            <a:ext cx="60930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TOY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65534" y="5022962"/>
            <a:ext cx="24384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zh-CN" sz="30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情绪互动玩具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69258" y="5843731"/>
            <a:ext cx="2431104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“它好像在回应我。”</a:t>
            </a:r>
          </a:p>
        </p:txBody>
      </p:sp>
      <p:sp>
        <p:nvSpPr>
          <p:cNvPr id="26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27" name="SUDA small 10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262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5153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6555" y="572548"/>
            <a:ext cx="80054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USER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08762" y="572548"/>
            <a:ext cx="129881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JOURNEY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7250" y="945261"/>
            <a:ext cx="1067752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让第一次触摸，自然接到下一次分享。</a:t>
            </a:r>
          </a:p>
        </p:txBody>
      </p:sp>
      <p:sp>
        <p:nvSpPr>
          <p:cNvPr id="7" name="AutoShape 7"/>
          <p:cNvSpPr/>
          <p:nvPr/>
        </p:nvSpPr>
        <p:spPr>
          <a:xfrm rot="3960">
            <a:off x="847715" y="3582295"/>
            <a:ext cx="16592560" cy="0"/>
          </a:xfrm>
          <a:prstGeom prst="line">
            <a:avLst/>
          </a:prstGeom>
          <a:ln w="9525" cap="rnd">
            <a:solidFill>
              <a:srgbClr val="DDD3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857250" y="3167958"/>
            <a:ext cx="838200" cy="838200"/>
            <a:chOff x="0" y="0"/>
            <a:chExt cx="1117600" cy="111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17600" cy="1117600"/>
            </a:xfrm>
            <a:custGeom>
              <a:avLst/>
              <a:gdLst/>
              <a:ahLst/>
              <a:cxnLst/>
              <a:rect l="l" t="t" r="r" b="b"/>
              <a:pathLst>
                <a:path w="1117600" h="1117600">
                  <a:moveTo>
                    <a:pt x="558800" y="0"/>
                  </a:move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ubicBezTo>
                    <a:pt x="0" y="250190"/>
                    <a:pt x="250190" y="0"/>
                    <a:pt x="558800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1149553" y="3304165"/>
            <a:ext cx="40600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4271429"/>
            <a:ext cx="81930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5"/>
              </a:lnSpc>
            </a:pPr>
            <a:r>
              <a:rPr lang="zh-CN" sz="2625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看到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7250" y="5009521"/>
            <a:ext cx="17526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耳朵与黄白配色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257550" y="3167958"/>
            <a:ext cx="838200" cy="838200"/>
            <a:chOff x="0" y="0"/>
            <a:chExt cx="1117600" cy="1117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17600" cy="1117600"/>
            </a:xfrm>
            <a:custGeom>
              <a:avLst/>
              <a:gdLst/>
              <a:ahLst/>
              <a:cxnLst/>
              <a:rect l="l" t="t" r="r" b="b"/>
              <a:pathLst>
                <a:path w="1117600" h="1117600">
                  <a:moveTo>
                    <a:pt x="558800" y="0"/>
                  </a:move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ubicBezTo>
                    <a:pt x="0" y="250190"/>
                    <a:pt x="250190" y="0"/>
                    <a:pt x="558800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15" name="TextBox 15"/>
          <p:cNvSpPr txBox="1"/>
          <p:nvPr/>
        </p:nvSpPr>
        <p:spPr>
          <a:xfrm>
            <a:off x="3540919" y="3304165"/>
            <a:ext cx="4237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57550" y="4271429"/>
            <a:ext cx="81930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5"/>
              </a:lnSpc>
            </a:pPr>
            <a:r>
              <a:rPr lang="zh-CN" sz="2625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摸到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57550" y="5009521"/>
            <a:ext cx="1524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腹部柔软可捏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657850" y="3167958"/>
            <a:ext cx="838200" cy="838200"/>
            <a:chOff x="0" y="0"/>
            <a:chExt cx="1117600" cy="1117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17600" cy="1117600"/>
            </a:xfrm>
            <a:custGeom>
              <a:avLst/>
              <a:gdLst/>
              <a:ahLst/>
              <a:cxnLst/>
              <a:rect l="l" t="t" r="r" b="b"/>
              <a:pathLst>
                <a:path w="1117600" h="1117600">
                  <a:moveTo>
                    <a:pt x="558800" y="0"/>
                  </a:move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ubicBezTo>
                    <a:pt x="0" y="250190"/>
                    <a:pt x="250190" y="0"/>
                    <a:pt x="558800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20" name="TextBox 20"/>
          <p:cNvSpPr txBox="1"/>
          <p:nvPr/>
        </p:nvSpPr>
        <p:spPr>
          <a:xfrm>
            <a:off x="5935713" y="3304165"/>
            <a:ext cx="43473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57850" y="4271429"/>
            <a:ext cx="81930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5"/>
              </a:lnSpc>
            </a:pPr>
            <a:r>
              <a:rPr lang="zh-CN" sz="2625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购买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57850" y="5009521"/>
            <a:ext cx="1524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一次演示看懂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058150" y="3167958"/>
            <a:ext cx="838200" cy="838200"/>
            <a:chOff x="0" y="0"/>
            <a:chExt cx="1117600" cy="1117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17600" cy="1117600"/>
            </a:xfrm>
            <a:custGeom>
              <a:avLst/>
              <a:gdLst/>
              <a:ahLst/>
              <a:cxnLst/>
              <a:rect l="l" t="t" r="r" b="b"/>
              <a:pathLst>
                <a:path w="1117600" h="1117600">
                  <a:moveTo>
                    <a:pt x="558800" y="0"/>
                  </a:move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ubicBezTo>
                    <a:pt x="0" y="250190"/>
                    <a:pt x="250190" y="0"/>
                    <a:pt x="558800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25" name="TextBox 25"/>
          <p:cNvSpPr txBox="1"/>
          <p:nvPr/>
        </p:nvSpPr>
        <p:spPr>
          <a:xfrm>
            <a:off x="8334670" y="3304165"/>
            <a:ext cx="43740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58150" y="4271429"/>
            <a:ext cx="81930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5"/>
              </a:lnSpc>
            </a:pPr>
            <a:r>
              <a:rPr lang="zh-CN" sz="2625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使用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58150" y="5009521"/>
            <a:ext cx="1524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抱住我的手指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458450" y="3167958"/>
            <a:ext cx="838200" cy="838200"/>
            <a:chOff x="0" y="0"/>
            <a:chExt cx="1117600" cy="1117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17600" cy="1117600"/>
            </a:xfrm>
            <a:custGeom>
              <a:avLst/>
              <a:gdLst/>
              <a:ahLst/>
              <a:cxnLst/>
              <a:rect l="l" t="t" r="r" b="b"/>
              <a:pathLst>
                <a:path w="1117600" h="1117600">
                  <a:moveTo>
                    <a:pt x="558800" y="0"/>
                  </a:move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ubicBezTo>
                    <a:pt x="0" y="250190"/>
                    <a:pt x="250190" y="0"/>
                    <a:pt x="558800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30" name="TextBox 30"/>
          <p:cNvSpPr txBox="1"/>
          <p:nvPr/>
        </p:nvSpPr>
        <p:spPr>
          <a:xfrm>
            <a:off x="10738542" y="3304165"/>
            <a:ext cx="43026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05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58450" y="4271429"/>
            <a:ext cx="81930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5"/>
              </a:lnSpc>
            </a:pPr>
            <a:r>
              <a:rPr lang="zh-CN" sz="2625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携带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58450" y="5009521"/>
            <a:ext cx="1524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抱在背包肩带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858750" y="3167958"/>
            <a:ext cx="838200" cy="838200"/>
            <a:chOff x="0" y="0"/>
            <a:chExt cx="1117600" cy="1117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17600" cy="1117600"/>
            </a:xfrm>
            <a:custGeom>
              <a:avLst/>
              <a:gdLst/>
              <a:ahLst/>
              <a:cxnLst/>
              <a:rect l="l" t="t" r="r" b="b"/>
              <a:pathLst>
                <a:path w="1117600" h="1117600">
                  <a:moveTo>
                    <a:pt x="558800" y="0"/>
                  </a:move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ubicBezTo>
                    <a:pt x="0" y="250190"/>
                    <a:pt x="250190" y="0"/>
                    <a:pt x="558800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35" name="TextBox 35"/>
          <p:cNvSpPr txBox="1"/>
          <p:nvPr/>
        </p:nvSpPr>
        <p:spPr>
          <a:xfrm>
            <a:off x="13135270" y="3304165"/>
            <a:ext cx="43740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06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858750" y="4271429"/>
            <a:ext cx="81930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5"/>
              </a:lnSpc>
            </a:pPr>
            <a:r>
              <a:rPr lang="zh-CN" sz="2625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合影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858750" y="5009521"/>
            <a:ext cx="1524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双鼠尾巴成心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5259050" y="3167958"/>
            <a:ext cx="838200" cy="838200"/>
            <a:chOff x="0" y="0"/>
            <a:chExt cx="1117600" cy="1117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17600" cy="1117600"/>
            </a:xfrm>
            <a:custGeom>
              <a:avLst/>
              <a:gdLst/>
              <a:ahLst/>
              <a:cxnLst/>
              <a:rect l="l" t="t" r="r" b="b"/>
              <a:pathLst>
                <a:path w="1117600" h="1117600">
                  <a:moveTo>
                    <a:pt x="558800" y="0"/>
                  </a:move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ubicBezTo>
                    <a:pt x="0" y="250190"/>
                    <a:pt x="250190" y="0"/>
                    <a:pt x="558800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40" name="TextBox 40"/>
          <p:cNvSpPr txBox="1"/>
          <p:nvPr/>
        </p:nvSpPr>
        <p:spPr>
          <a:xfrm>
            <a:off x="15547181" y="3304165"/>
            <a:ext cx="41418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07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259050" y="4271429"/>
            <a:ext cx="81930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5"/>
              </a:lnSpc>
            </a:pPr>
            <a:r>
              <a:rPr lang="zh-CN" sz="2625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分享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259050" y="5009521"/>
            <a:ext cx="17526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一句话说清动作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857250" y="6212977"/>
            <a:ext cx="16573500" cy="1413424"/>
            <a:chOff x="0" y="0"/>
            <a:chExt cx="22098000" cy="188456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2098000" cy="1884553"/>
            </a:xfrm>
            <a:custGeom>
              <a:avLst/>
              <a:gdLst/>
              <a:ahLst/>
              <a:cxnLst/>
              <a:rect l="l" t="t" r="r" b="b"/>
              <a:pathLst>
                <a:path w="22098000" h="1884553">
                  <a:moveTo>
                    <a:pt x="304800" y="0"/>
                  </a:moveTo>
                  <a:lnTo>
                    <a:pt x="21793200" y="0"/>
                  </a:lnTo>
                  <a:cubicBezTo>
                    <a:pt x="21961475" y="0"/>
                    <a:pt x="22098000" y="136525"/>
                    <a:pt x="22098000" y="304800"/>
                  </a:cubicBezTo>
                  <a:lnTo>
                    <a:pt x="22098000" y="1579753"/>
                  </a:lnTo>
                  <a:cubicBezTo>
                    <a:pt x="22098000" y="1748028"/>
                    <a:pt x="21961475" y="1884553"/>
                    <a:pt x="21793200" y="1884553"/>
                  </a:cubicBezTo>
                  <a:lnTo>
                    <a:pt x="304800" y="1884553"/>
                  </a:lnTo>
                  <a:cubicBezTo>
                    <a:pt x="136525" y="1884553"/>
                    <a:pt x="0" y="1748028"/>
                    <a:pt x="0" y="1579753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1E8DA"/>
            </a:solidFill>
          </p:spPr>
          <p:txBody>
            <a:bodyPr/>
            <a:p/>
          </p:txBody>
        </p:sp>
      </p:grpSp>
      <p:sp>
        <p:nvSpPr>
          <p:cNvPr id="45" name="TextBox 45"/>
          <p:cNvSpPr txBox="1"/>
          <p:nvPr/>
        </p:nvSpPr>
        <p:spPr>
          <a:xfrm>
            <a:off x="1181100" y="6417574"/>
            <a:ext cx="228615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zh-CN" sz="21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关键转化点：摸到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89262" y="6417574"/>
            <a:ext cx="41925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zh-CN" sz="21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→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730676" y="6417574"/>
            <a:ext cx="121935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zh-CN" sz="21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看懂拥抱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872190" y="6417574"/>
            <a:ext cx="41925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zh-CN" sz="21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→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213594" y="6417574"/>
            <a:ext cx="121935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zh-CN" sz="21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愿意带走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81100" y="6941010"/>
            <a:ext cx="54102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门店演示、包装动图、可触摸样机共同服务这一刻。</a:t>
            </a:r>
          </a:p>
        </p:txBody>
      </p:sp>
      <p:sp>
        <p:nvSpPr>
          <p:cNvPr id="51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52" name="SUDA small 11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262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5153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6555" y="572548"/>
            <a:ext cx="131400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PRIORITY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7250" y="945261"/>
            <a:ext cx="1129665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先满足互动记忆、校园识别与随身携带。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71281" y="7790116"/>
            <a:ext cx="149304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zh-CN" sz="199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开发投入 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52800" y="2354523"/>
            <a:ext cx="149304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zh-CN" sz="199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用户价值 ↑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531357" y="3025712"/>
            <a:ext cx="1503683" cy="1503683"/>
            <a:chOff x="0" y="0"/>
            <a:chExt cx="2004911" cy="20049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04822" cy="2004822"/>
            </a:xfrm>
            <a:custGeom>
              <a:avLst/>
              <a:gdLst/>
              <a:ahLst/>
              <a:cxnLst/>
              <a:rect l="l" t="t" r="r" b="b"/>
              <a:pathLst>
                <a:path w="2004822" h="2004822">
                  <a:moveTo>
                    <a:pt x="0" y="1002411"/>
                  </a:moveTo>
                  <a:cubicBezTo>
                    <a:pt x="0" y="448818"/>
                    <a:pt x="448818" y="0"/>
                    <a:pt x="1002411" y="0"/>
                  </a:cubicBezTo>
                  <a:cubicBezTo>
                    <a:pt x="1556004" y="0"/>
                    <a:pt x="2004822" y="448818"/>
                    <a:pt x="2004822" y="1002411"/>
                  </a:cubicBezTo>
                  <a:cubicBezTo>
                    <a:pt x="2004822" y="1556004"/>
                    <a:pt x="1556004" y="2004822"/>
                    <a:pt x="1002411" y="2004822"/>
                  </a:cubicBezTo>
                  <a:cubicBezTo>
                    <a:pt x="448818" y="2004822"/>
                    <a:pt x="0" y="1556131"/>
                    <a:pt x="0" y="1002411"/>
                  </a:cubicBezTo>
                  <a:close/>
                </a:path>
              </a:pathLst>
            </a:custGeom>
            <a:solidFill>
              <a:srgbClr val="E9BE9E"/>
            </a:solidFill>
          </p:spPr>
          <p:txBody>
            <a:bodyPr/>
            <a:p/>
          </p:txBody>
        </p:sp>
      </p:grpSp>
      <p:sp>
        <p:nvSpPr>
          <p:cNvPr id="14" name="TextBox 14"/>
          <p:cNvSpPr txBox="1"/>
          <p:nvPr/>
        </p:nvSpPr>
        <p:spPr>
          <a:xfrm>
            <a:off x="4755080" y="3482635"/>
            <a:ext cx="120863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5"/>
              </a:lnSpc>
            </a:pPr>
            <a:r>
              <a:rPr lang="zh-CN" sz="20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互动记忆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020563" y="2974915"/>
            <a:ext cx="1402080" cy="1402080"/>
            <a:chOff x="0" y="0"/>
            <a:chExt cx="1869440" cy="1869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69440" cy="1869440"/>
            </a:xfrm>
            <a:custGeom>
              <a:avLst/>
              <a:gdLst/>
              <a:ahLst/>
              <a:cxnLst/>
              <a:rect l="l" t="t" r="r" b="b"/>
              <a:pathLst>
                <a:path w="1869440" h="1869440">
                  <a:moveTo>
                    <a:pt x="0" y="934720"/>
                  </a:moveTo>
                  <a:cubicBezTo>
                    <a:pt x="0" y="418465"/>
                    <a:pt x="418465" y="0"/>
                    <a:pt x="934720" y="0"/>
                  </a:cubicBezTo>
                  <a:cubicBezTo>
                    <a:pt x="1450975" y="0"/>
                    <a:pt x="1869440" y="418465"/>
                    <a:pt x="1869440" y="934720"/>
                  </a:cubicBezTo>
                  <a:cubicBezTo>
                    <a:pt x="1869440" y="1450975"/>
                    <a:pt x="1450975" y="1869440"/>
                    <a:pt x="934720" y="1869440"/>
                  </a:cubicBezTo>
                  <a:cubicBezTo>
                    <a:pt x="418465" y="1869440"/>
                    <a:pt x="0" y="1450975"/>
                    <a:pt x="0" y="934720"/>
                  </a:cubicBezTo>
                  <a:close/>
                </a:path>
              </a:pathLst>
            </a:custGeom>
            <a:solidFill>
              <a:srgbClr val="F1DBA5"/>
            </a:solidFill>
          </p:spPr>
          <p:txBody>
            <a:bodyPr/>
            <a:p/>
          </p:txBody>
        </p:sp>
      </p:grpSp>
      <p:sp>
        <p:nvSpPr>
          <p:cNvPr id="17" name="TextBox 17"/>
          <p:cNvSpPr txBox="1"/>
          <p:nvPr/>
        </p:nvSpPr>
        <p:spPr>
          <a:xfrm>
            <a:off x="7193480" y="3381032"/>
            <a:ext cx="120863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5"/>
              </a:lnSpc>
            </a:pPr>
            <a:r>
              <a:rPr lang="zh-CN" sz="20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校园识别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841997" y="4590355"/>
            <a:ext cx="1320803" cy="1320803"/>
            <a:chOff x="0" y="0"/>
            <a:chExt cx="1761071" cy="17610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60982" cy="1760982"/>
            </a:xfrm>
            <a:custGeom>
              <a:avLst/>
              <a:gdLst/>
              <a:ahLst/>
              <a:cxnLst/>
              <a:rect l="l" t="t" r="r" b="b"/>
              <a:pathLst>
                <a:path w="1760982" h="1760982">
                  <a:moveTo>
                    <a:pt x="0" y="880491"/>
                  </a:moveTo>
                  <a:cubicBezTo>
                    <a:pt x="0" y="394208"/>
                    <a:pt x="394208" y="0"/>
                    <a:pt x="880491" y="0"/>
                  </a:cubicBezTo>
                  <a:cubicBezTo>
                    <a:pt x="1366774" y="0"/>
                    <a:pt x="1760982" y="394208"/>
                    <a:pt x="1760982" y="880491"/>
                  </a:cubicBezTo>
                  <a:cubicBezTo>
                    <a:pt x="1760982" y="1366774"/>
                    <a:pt x="1366774" y="1760982"/>
                    <a:pt x="880491" y="1760982"/>
                  </a:cubicBezTo>
                  <a:cubicBezTo>
                    <a:pt x="394208" y="1760982"/>
                    <a:pt x="0" y="1366901"/>
                    <a:pt x="0" y="880491"/>
                  </a:cubicBezTo>
                  <a:close/>
                </a:path>
              </a:pathLst>
            </a:custGeom>
            <a:solidFill>
              <a:srgbClr val="D6E3E5"/>
            </a:solidFill>
          </p:spPr>
          <p:txBody>
            <a:bodyPr/>
            <a:p/>
          </p:txBody>
        </p:sp>
      </p:grpSp>
      <p:sp>
        <p:nvSpPr>
          <p:cNvPr id="20" name="TextBox 20"/>
          <p:cNvSpPr txBox="1"/>
          <p:nvPr/>
        </p:nvSpPr>
        <p:spPr>
          <a:xfrm>
            <a:off x="5974280" y="4946313"/>
            <a:ext cx="120863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5"/>
              </a:lnSpc>
            </a:pPr>
            <a:r>
              <a:rPr lang="zh-CN" sz="20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随身携带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993117" y="4255075"/>
            <a:ext cx="1178557" cy="1178557"/>
            <a:chOff x="0" y="0"/>
            <a:chExt cx="1571409" cy="157140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1498" cy="1571498"/>
            </a:xfrm>
            <a:custGeom>
              <a:avLst/>
              <a:gdLst/>
              <a:ahLst/>
              <a:cxnLst/>
              <a:rect l="l" t="t" r="r" b="b"/>
              <a:pathLst>
                <a:path w="1571498" h="1571498">
                  <a:moveTo>
                    <a:pt x="0" y="785749"/>
                  </a:moveTo>
                  <a:cubicBezTo>
                    <a:pt x="0" y="351790"/>
                    <a:pt x="351790" y="0"/>
                    <a:pt x="785749" y="0"/>
                  </a:cubicBezTo>
                  <a:cubicBezTo>
                    <a:pt x="1219708" y="0"/>
                    <a:pt x="1571498" y="351790"/>
                    <a:pt x="1571498" y="785749"/>
                  </a:cubicBezTo>
                  <a:cubicBezTo>
                    <a:pt x="1571498" y="1219708"/>
                    <a:pt x="1219708" y="1571498"/>
                    <a:pt x="785749" y="1571498"/>
                  </a:cubicBezTo>
                  <a:cubicBezTo>
                    <a:pt x="351790" y="1571498"/>
                    <a:pt x="0" y="1219581"/>
                    <a:pt x="0" y="785749"/>
                  </a:cubicBezTo>
                  <a:close/>
                </a:path>
              </a:pathLst>
            </a:custGeom>
            <a:solidFill>
              <a:srgbClr val="E6D6DB"/>
            </a:solidFill>
          </p:spPr>
          <p:txBody>
            <a:bodyPr/>
            <a:p/>
          </p:txBody>
        </p:sp>
      </p:grpSp>
      <p:sp>
        <p:nvSpPr>
          <p:cNvPr id="23" name="TextBox 23"/>
          <p:cNvSpPr txBox="1"/>
          <p:nvPr/>
        </p:nvSpPr>
        <p:spPr>
          <a:xfrm>
            <a:off x="11054286" y="4539910"/>
            <a:ext cx="120863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5"/>
              </a:lnSpc>
            </a:pPr>
            <a:r>
              <a:rPr lang="zh-CN" sz="20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尾巴磁吸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075920" y="5728278"/>
            <a:ext cx="1280160" cy="1280160"/>
            <a:chOff x="0" y="0"/>
            <a:chExt cx="1706880" cy="17068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E3DED5"/>
            </a:solidFill>
          </p:spPr>
          <p:txBody>
            <a:bodyPr/>
            <a:p/>
          </p:txBody>
        </p:sp>
      </p:grpSp>
      <p:sp>
        <p:nvSpPr>
          <p:cNvPr id="26" name="TextBox 26"/>
          <p:cNvSpPr txBox="1"/>
          <p:nvPr/>
        </p:nvSpPr>
        <p:spPr>
          <a:xfrm>
            <a:off x="12923863" y="6063910"/>
            <a:ext cx="173667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5"/>
              </a:lnSpc>
            </a:pPr>
            <a:r>
              <a:rPr lang="zh-CN" sz="2079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多种电子功能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7250" y="9114320"/>
            <a:ext cx="160035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优先级为设计假设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55647" y="9114320"/>
            <a:ext cx="196606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·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50306" y="9114320"/>
            <a:ext cx="141937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非用户调查数据</a:t>
            </a:r>
          </a:p>
        </p:txBody>
      </p:sp>
      <p:sp>
        <p:nvSpPr>
          <p:cNvPr id="40" name="AutoShape 40"/>
          <p:cNvSpPr/>
          <p:nvPr/>
        </p:nvSpPr>
        <p:spPr>
          <a:xfrm flipV="1">
            <a:off x="3240291" y="8188738"/>
            <a:ext cx="10665171" cy="68104"/>
          </a:xfrm>
          <a:prstGeom prst="line">
            <a:avLst/>
          </a:prstGeom>
          <a:ln w="19050" cap="flat">
            <a:solidFill>
              <a:srgbClr val="C7BCB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1" name="AutoShape 41"/>
          <p:cNvSpPr/>
          <p:nvPr/>
        </p:nvSpPr>
        <p:spPr>
          <a:xfrm flipV="1">
            <a:off x="3300989" y="3230021"/>
            <a:ext cx="0" cy="5027166"/>
          </a:xfrm>
          <a:prstGeom prst="line">
            <a:avLst/>
          </a:prstGeom>
          <a:ln w="19050" cap="flat">
            <a:solidFill>
              <a:srgbClr val="C7BCB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2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43" name="SUDA small 12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2802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6934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8336" y="572548"/>
            <a:ext cx="82941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CORE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39270" y="572548"/>
            <a:ext cx="133246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CONCEPT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7250" y="945261"/>
            <a:ext cx="634365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捏一下，它就抱住你。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3218012"/>
            <a:ext cx="6238323" cy="221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15"/>
              </a:lnSpc>
            </a:pPr>
            <a:r>
              <a:rPr lang="zh-CN" sz="10425" spc="0" b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SQUEEZE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4753775"/>
            <a:ext cx="2081251" cy="221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15"/>
              </a:lnSpc>
            </a:pPr>
            <a:r>
              <a:rPr lang="zh-CN" sz="10425" spc="0" b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18399" y="4753775"/>
            <a:ext cx="3407912" cy="221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15"/>
              </a:lnSpc>
            </a:pPr>
            <a:r>
              <a:rPr lang="zh-CN" sz="10425" spc="0" b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HUG.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9114320"/>
            <a:ext cx="250522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交互与结构为待验证设计方案</a:t>
            </a:r>
          </a:p>
        </p:txBody>
      </p:sp>
      <p:sp>
        <p:nvSpPr>
          <p:cNvPr id="22" name="Freeform 22"/>
          <p:cNvSpPr/>
          <p:nvPr/>
        </p:nvSpPr>
        <p:spPr>
          <a:xfrm>
            <a:off x="9841498" y="1251910"/>
            <a:ext cx="6615182" cy="7466201"/>
          </a:xfrm>
          <a:custGeom>
            <a:avLst/>
            <a:gdLst/>
            <a:ahLst/>
            <a:cxnLst/>
            <a:rect l="l" t="t" r="r" b="b"/>
            <a:pathLst>
              <a:path w="6615182" h="7466201">
                <a:moveTo>
                  <a:pt x="0" y="0"/>
                </a:moveTo>
                <a:lnTo>
                  <a:pt x="6615182" y="0"/>
                </a:lnTo>
                <a:lnTo>
                  <a:pt x="6615182" y="7466200"/>
                </a:lnTo>
                <a:lnTo>
                  <a:pt x="0" y="746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871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3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24" name="SUDA small 13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7249420"/>
            <a:ext cx="16573500" cy="948633"/>
            <a:chOff x="0" y="0"/>
            <a:chExt cx="22098000" cy="12648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98000" cy="1264793"/>
            </a:xfrm>
            <a:custGeom>
              <a:avLst/>
              <a:gdLst/>
              <a:ahLst/>
              <a:cxnLst/>
              <a:rect l="l" t="t" r="r" b="b"/>
              <a:pathLst>
                <a:path w="22098000" h="1264793">
                  <a:moveTo>
                    <a:pt x="304800" y="0"/>
                  </a:moveTo>
                  <a:lnTo>
                    <a:pt x="21793200" y="0"/>
                  </a:lnTo>
                  <a:cubicBezTo>
                    <a:pt x="21961475" y="0"/>
                    <a:pt x="22098000" y="136525"/>
                    <a:pt x="22098000" y="304800"/>
                  </a:cubicBezTo>
                  <a:lnTo>
                    <a:pt x="22098000" y="959993"/>
                  </a:lnTo>
                  <a:cubicBezTo>
                    <a:pt x="22098000" y="1128268"/>
                    <a:pt x="21961475" y="1264793"/>
                    <a:pt x="21793200" y="1264793"/>
                  </a:cubicBezTo>
                  <a:lnTo>
                    <a:pt x="304800" y="1264793"/>
                  </a:lnTo>
                  <a:cubicBezTo>
                    <a:pt x="136525" y="1264793"/>
                    <a:pt x="0" y="1128268"/>
                    <a:pt x="0" y="959993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1E8DA"/>
            </a:solidFill>
          </p:spPr>
          <p:txBody>
            <a:bodyPr/>
            <a:p/>
          </p:txBody>
        </p:sp>
      </p:grpSp>
      <p:sp>
        <p:nvSpPr>
          <p:cNvPr id="4" name="Freeform 4"/>
          <p:cNvSpPr/>
          <p:nvPr/>
        </p:nvSpPr>
        <p:spPr>
          <a:xfrm>
            <a:off x="13681777" y="2165600"/>
            <a:ext cx="3240434" cy="3657304"/>
          </a:xfrm>
          <a:custGeom>
            <a:avLst/>
            <a:gdLst/>
            <a:ahLst/>
            <a:cxnLst/>
            <a:rect l="l" t="t" r="r" b="b"/>
            <a:pathLst>
              <a:path w="4115686" h="4645154">
                <a:moveTo>
                  <a:pt x="0" y="0"/>
                </a:moveTo>
                <a:lnTo>
                  <a:pt x="4115686" y="0"/>
                </a:lnTo>
                <a:lnTo>
                  <a:pt x="4115686" y="4645154"/>
                </a:lnTo>
                <a:lnTo>
                  <a:pt x="0" y="4645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871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857250" y="572548"/>
            <a:ext cx="42802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6934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336" y="572548"/>
            <a:ext cx="68921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WHY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99224" y="572548"/>
            <a:ext cx="81602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SUDA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250" y="945261"/>
            <a:ext cx="11955961" cy="812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 dirty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从“苏大”到“</a:t>
            </a:r>
            <a:r>
              <a:rPr lang="zh-CN" sz="4800" b="0" spc="0" dirty="0" err="1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鼠大</a:t>
            </a:r>
            <a:r>
              <a:rPr lang="zh-CN" sz="4800" b="0" spc="0" dirty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”，</a:t>
            </a:r>
            <a:r>
              <a:rPr lang="zh-CN" sz="4800" b="0" spc="0" dirty="0" err="1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名字先带来亲近感</a:t>
            </a:r>
            <a:r>
              <a:rPr lang="zh-CN" sz="4800" b="0" spc="0" dirty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7733" y="3512763"/>
            <a:ext cx="148590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2"/>
              </a:lnSpc>
            </a:pPr>
            <a:r>
              <a:rPr lang="zh-CN" sz="5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苏大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8080" y="4808639"/>
            <a:ext cx="11050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校园身份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22189" y="3994252"/>
            <a:ext cx="62865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zh-CN" sz="3750" i="1" b="0" spc="0">
                <a:solidFill>
                  <a:srgbClr val="C6B9A6"/>
                </a:solidFill>
                <a:latin typeface="ChillRoundM"/>
                <a:ea typeface="寒蝉半圆体"/>
                <a:cs typeface="ChillRoundM"/>
              </a:rPr>
              <a:t>→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19405" y="3503238"/>
            <a:ext cx="148590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2"/>
              </a:lnSpc>
            </a:pPr>
            <a:r>
              <a:rPr lang="zh-CN" sz="5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鼠大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09752" y="4808639"/>
            <a:ext cx="11050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谐音记忆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3861" y="3994252"/>
            <a:ext cx="62865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zh-CN" sz="3750" i="1" b="0" spc="0">
                <a:solidFill>
                  <a:srgbClr val="C6B9A6"/>
                </a:solidFill>
                <a:latin typeface="ChillRoundM"/>
                <a:ea typeface="寒蝉半圆体"/>
                <a:cs typeface="ChillRoundM"/>
              </a:rPr>
              <a:t>→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71219" y="3503238"/>
            <a:ext cx="148590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2"/>
              </a:lnSpc>
            </a:pPr>
            <a:r>
              <a:rPr lang="zh-CN" sz="5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鼠类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91352" y="3503238"/>
            <a:ext cx="724643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2"/>
              </a:lnSpc>
            </a:pPr>
            <a:r>
              <a:rPr lang="zh-CN" sz="5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IP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45536" y="4808639"/>
            <a:ext cx="6288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大耳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88461" y="4808639"/>
            <a:ext cx="21029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12886" y="4808639"/>
            <a:ext cx="6288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小手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84561" y="3994252"/>
            <a:ext cx="62865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zh-CN" sz="3750" i="1" b="0" spc="0">
                <a:solidFill>
                  <a:srgbClr val="C6B9A6"/>
                </a:solidFill>
                <a:latin typeface="ChillRoundM"/>
                <a:ea typeface="寒蝉半圆体"/>
                <a:cs typeface="ChillRoundM"/>
              </a:rPr>
              <a:t>→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1100" y="7454017"/>
            <a:ext cx="788685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zh-CN" sz="21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校园识别由名字、包装和授权视觉承担；柔软体态负责让人靠近。</a:t>
            </a:r>
          </a:p>
        </p:txBody>
      </p:sp>
      <p:sp>
        <p:nvSpPr>
          <p:cNvPr id="23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24" name="SUDA small 14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86309" y="2477184"/>
            <a:ext cx="14945512" cy="4312800"/>
          </a:xfrm>
          <a:custGeom>
            <a:avLst/>
            <a:gdLst/>
            <a:ahLst/>
            <a:cxnLst/>
            <a:rect l="l" t="t" r="r" b="b"/>
            <a:pathLst>
              <a:path w="14945512" h="4312800">
                <a:moveTo>
                  <a:pt x="0" y="0"/>
                </a:moveTo>
                <a:lnTo>
                  <a:pt x="14945512" y="0"/>
                </a:lnTo>
                <a:lnTo>
                  <a:pt x="14945512" y="4312800"/>
                </a:lnTo>
                <a:lnTo>
                  <a:pt x="0" y="4312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857250" y="572548"/>
            <a:ext cx="42802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6934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8336" y="572548"/>
            <a:ext cx="182641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INTERACTION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7250" y="945261"/>
            <a:ext cx="8820150" cy="812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 dirty="0" err="1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松开腹部后，它也不松手</a:t>
            </a:r>
            <a:r>
              <a:rPr lang="zh-CN" sz="4800" b="0" spc="0" dirty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12846" y="7226532"/>
            <a:ext cx="150881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spc="0" b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SQUEEZE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68238" y="7226532"/>
            <a:ext cx="45735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spc="0" b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72002" y="7226532"/>
            <a:ext cx="78327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spc="0" b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HUG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01713" y="7226532"/>
            <a:ext cx="45735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spc="0" b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05630" y="7226532"/>
            <a:ext cx="98568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spc="0" b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HOLD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37889" y="7226532"/>
            <a:ext cx="45735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spc="0" b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→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41806" y="7226532"/>
            <a:ext cx="148574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RELEASE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19785" y="7821368"/>
            <a:ext cx="420067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用户主动掰开前爪，完成释放与复位。</a:t>
            </a:r>
          </a:p>
        </p:txBody>
      </p:sp>
      <p:sp>
        <p:nvSpPr>
          <p:cNvPr id="15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16" name="SUDA small 15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57200"/>
            <a:ext cx="320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75" b="0" i="0" lang="zh-CN" spc="0">
                <a:solidFill>
                  <a:srgbClr val="9A8C7B"/>
                </a:solidFill>
                <a:latin typeface="致一圓體_傳承形"/>
                <a:ea typeface="致一圓體_傳承形"/>
                <a:cs typeface="致一圓體_傳承形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6459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75" b="0" i="0" lang="zh-CN" spc="0">
                <a:solidFill>
                  <a:srgbClr val="9A8C7B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457200"/>
            <a:ext cx="36576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75" b="0" i="0" lang="zh-CN" spc="0">
                <a:solidFill>
                  <a:srgbClr val="9A8C7B"/>
                </a:solidFill>
                <a:latin typeface="致一圓體_傳承形"/>
                <a:ea typeface="致一圓體_傳承形"/>
                <a:cs typeface="致一圓體_傳承形"/>
              </a:rPr>
              <a:t>CMF /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92946"/>
            <a:ext cx="16459200" cy="77559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4800" b="0" i="0" dirty="0" err="1" lang="zh-CN" spc="0">
                <a:solidFill>
                  <a:srgbClr val="E66E43"/>
                </a:solidFill>
                <a:latin typeface="ChillRoundM" pitchFamily="2" charset="-122"/>
                <a:ea typeface="寒蝉半圆体"/>
                <a:cs typeface="ChillRoundM"/>
              </a:rPr>
              <a:t>它看起来软，摸起来也应该软</a:t>
            </a:r>
            <a:r>
              <a:rPr sz="4800" b="0" i="0" dirty="0" lang="zh-CN" spc="0">
                <a:solidFill>
                  <a:srgbClr val="E66E43"/>
                </a:solidFill>
                <a:latin typeface="ChillRoundM" pitchFamily="2" charset="-122"/>
                <a:ea typeface="寒蝉半圆体"/>
                <a:cs typeface="ChillRoundM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883664"/>
            <a:ext cx="7772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200" b="0" i="0" lang="zh-CN" spc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Color / Material / Finish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212848"/>
            <a:ext cx="86868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0" i="0" lang="zh-CN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触感与配色不是装饰，而是“抱住你”这件事的第一层体验。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26080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5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01  COLOR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265566"/>
            <a:ext cx="3474720" cy="3908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00" b="0" i="0" dirty="0" err="1" lang="zh-CN" spc="0">
                <a:solidFill>
                  <a:srgbClr val="655C52"/>
                </a:solidFill>
                <a:latin typeface="ChillRoundM" pitchFamily="2" charset="-122"/>
                <a:ea typeface="寒蝉半圆体"/>
                <a:cs typeface="ChillRoundM"/>
              </a:rPr>
              <a:t>低饱和</a:t>
            </a:r>
            <a:r>
              <a:rPr sz="2300" b="0" i="0" dirty="0" lang="zh-CN" spc="0">
                <a:solidFill>
                  <a:srgbClr val="655C52"/>
                </a:solidFill>
                <a:latin typeface="ChillRoundM" pitchFamily="2" charset="-122"/>
                <a:ea typeface="寒蝉半圆体"/>
                <a:cs typeface="ChillRoundM"/>
              </a:rPr>
              <a:t> · </a:t>
            </a:r>
            <a:r>
              <a:rPr sz="2300" b="0" i="0" dirty="0" err="1" lang="zh-CN" spc="0">
                <a:solidFill>
                  <a:srgbClr val="655C52"/>
                </a:solidFill>
                <a:latin typeface="ChillRoundM" pitchFamily="2" charset="-122"/>
                <a:ea typeface="寒蝉半圆体"/>
                <a:cs typeface="ChillRoundM"/>
              </a:rPr>
              <a:t>暖色</a:t>
            </a:r>
            <a:r>
              <a:rPr sz="2300" b="0" i="0" dirty="0" lang="zh-CN" spc="0">
                <a:solidFill>
                  <a:srgbClr val="655C52"/>
                </a:solidFill>
                <a:latin typeface="ChillRoundM" pitchFamily="2" charset="-122"/>
                <a:ea typeface="寒蝉半圆体"/>
                <a:cs typeface="ChillRoundM"/>
              </a:rPr>
              <a:t> · </a:t>
            </a:r>
            <a:r>
              <a:rPr sz="2300" b="0" i="0" dirty="0" err="1" lang="zh-CN" spc="0">
                <a:solidFill>
                  <a:srgbClr val="655C52"/>
                </a:solidFill>
                <a:latin typeface="ChillRoundM" pitchFamily="2" charset="-122"/>
                <a:ea typeface="寒蝉半圆体"/>
                <a:cs typeface="ChillRoundM"/>
              </a:rPr>
              <a:t>校园纪念</a:t>
            </a:r>
            <a:endParaRPr sz="2300" b="1" i="0" dirty="0">
              <a:solidFill>
                <a:srgbClr val="655C52"/>
              </a:solidFill>
              <a:latin typeface="寒蝉半圆体" pitchFamily="2" charset="-122"/>
              <a:ea typeface="寒蝉半圆体" pitchFamily="2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86384" y="3913632"/>
            <a:ext cx="713232" cy="713232"/>
          </a:xfrm>
          <a:prstGeom prst="ellipse">
            <a:avLst/>
          </a:prstGeom>
          <a:solidFill>
            <a:srgbClr val="F3E3A6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4690872"/>
            <a:ext cx="9144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8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黄白 / ORIGINAL</a:t>
            </a:r>
          </a:p>
        </p:txBody>
      </p:sp>
      <p:sp>
        <p:nvSpPr>
          <p:cNvPr id="12" name="Oval 11"/>
          <p:cNvSpPr/>
          <p:nvPr/>
        </p:nvSpPr>
        <p:spPr>
          <a:xfrm>
            <a:off x="2034620" y="3876575"/>
            <a:ext cx="713232" cy="713232"/>
          </a:xfrm>
          <a:prstGeom prst="ellipse">
            <a:avLst/>
          </a:prstGeom>
          <a:solidFill>
            <a:srgbClr val="F6C8D5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4690872"/>
            <a:ext cx="9144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8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粉 / PINK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0" y="3913632"/>
            <a:ext cx="713232" cy="713232"/>
          </a:xfrm>
          <a:prstGeom prst="ellipse">
            <a:avLst/>
          </a:prstGeom>
          <a:solidFill>
            <a:srgbClr val="D8DCE3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27248" y="4690872"/>
            <a:ext cx="9144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8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灰 / GREY</a:t>
            </a:r>
          </a:p>
        </p:txBody>
      </p:sp>
      <p:sp>
        <p:nvSpPr>
          <p:cNvPr id="16" name="Oval 15"/>
          <p:cNvSpPr/>
          <p:nvPr/>
        </p:nvSpPr>
        <p:spPr>
          <a:xfrm>
            <a:off x="4407408" y="3913632"/>
            <a:ext cx="713232" cy="713232"/>
          </a:xfrm>
          <a:prstGeom prst="ellipse">
            <a:avLst/>
          </a:prstGeom>
          <a:solidFill>
            <a:srgbClr val="F8F3F0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34256" y="4690872"/>
            <a:ext cx="9144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8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白 / WHITE</a:t>
            </a:r>
          </a:p>
        </p:txBody>
      </p:sp>
      <p:sp>
        <p:nvSpPr>
          <p:cNvPr id="18" name="Oval 17"/>
          <p:cNvSpPr/>
          <p:nvPr/>
        </p:nvSpPr>
        <p:spPr>
          <a:xfrm>
            <a:off x="5614416" y="3913632"/>
            <a:ext cx="713232" cy="713232"/>
          </a:xfrm>
          <a:prstGeom prst="ellipse">
            <a:avLst/>
          </a:prstGeom>
          <a:solidFill>
            <a:srgbClr val="D97A7A"/>
          </a:solidFill>
          <a:ln w="12700">
            <a:solidFill>
              <a:srgbClr val="D7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41264" y="4690872"/>
            <a:ext cx="9144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8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柔红 / 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349240"/>
            <a:ext cx="576072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30" b="0" i="0" dirty="0" err="1" lang="zh-CN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主色黄白建立默认识别；扩展色与毕业领色形成纪念联想</a:t>
            </a:r>
            <a:r>
              <a:rPr sz="1530" b="0" i="0" dirty="0" lang="zh-CN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。
</a:t>
            </a:r>
            <a:r>
              <a:rPr sz="1530" b="0" i="0" dirty="0" err="1" lang="zh-CN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具体领色对应仍以校方规范与授权为准</a:t>
            </a:r>
            <a:r>
              <a:rPr sz="1530" b="0" i="0" dirty="0" lang="zh-CN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26080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5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02  MATERIAL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3273552"/>
            <a:ext cx="4846320" cy="1335024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14032" y="3419856"/>
            <a:ext cx="1600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5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FINE FUR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3703320"/>
            <a:ext cx="160020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0" i="0" lang="zh-CN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超柔短毛绒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474720"/>
            <a:ext cx="278892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5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聚酯纤维 / 约 1.5–2 mm 毛长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858768"/>
            <a:ext cx="27889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2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细软、有自然毛流，不做长毛泰迪感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4846320"/>
            <a:ext cx="4846320" cy="133502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14032" y="4992624"/>
            <a:ext cx="1600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5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BEANBAG BODY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5276088"/>
            <a:ext cx="160020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0" i="0" lang="zh-CN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豆袋身体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5047488"/>
            <a:ext cx="278892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5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PP棉 + EPS/PP 颗粒分区填充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5431536"/>
            <a:ext cx="27889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2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腹部饱满，下半身自然松弛下垂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6419088"/>
            <a:ext cx="4846320" cy="1335024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14032" y="6565392"/>
            <a:ext cx="1600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5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INNER 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6848855"/>
            <a:ext cx="160020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0" i="0" lang="zh-CN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内部机构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6620255"/>
            <a:ext cx="278892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5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ABS / POM + 软包覆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7004303"/>
            <a:ext cx="27889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2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刚性结构隐藏于柔软外壳，不进入直接触摸面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71248" y="2926080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5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03  FINISH</a:t>
            </a:r>
          </a:p>
        </p:txBody>
      </p:sp>
      <p:sp>
        <p:nvSpPr>
          <p:cNvPr id="38" name="Oval 37"/>
          <p:cNvSpPr/>
          <p:nvPr/>
        </p:nvSpPr>
        <p:spPr>
          <a:xfrm>
            <a:off x="12307824" y="3383280"/>
            <a:ext cx="438912" cy="438912"/>
          </a:xfrm>
          <a:prstGeom prst="ellipse">
            <a:avLst/>
          </a:prstGeom>
          <a:solidFill>
            <a:srgbClr val="F3E9DA"/>
          </a:solidFill>
          <a:ln w="12700">
            <a:solidFill>
              <a:srgbClr val="F3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307824" y="3410712"/>
            <a:ext cx="438912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38760" y="3337491"/>
            <a:ext cx="3383280" cy="3293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900" b="0" i="0" dirty="0" err="1" lang="zh-CN" spc="0">
                <a:solidFill>
                  <a:srgbClr val="655C52"/>
                </a:solidFill>
                <a:latin typeface="ChillRoundM" pitchFamily="2" charset="-122"/>
                <a:ea typeface="寒蝉半圆体"/>
                <a:cs typeface="ChillRoundM"/>
              </a:rPr>
              <a:t>渐变</a:t>
            </a:r>
            <a:r>
              <a:rPr lang="zh-CN" altLang="en-US" sz="1900" b="0" i="0" dirty="0" spc="0">
                <a:solidFill>
                  <a:srgbClr val="655C52"/>
                </a:solidFill>
                <a:latin typeface="ChillRoundM" pitchFamily="2" charset="-122"/>
                <a:ea typeface="寒蝉半圆体"/>
                <a:cs typeface="ChillRoundM"/>
              </a:rPr>
              <a:t>喷色</a:t>
            </a:r>
            <a:endParaRPr sz="1900" b="1" i="0" dirty="0">
              <a:solidFill>
                <a:srgbClr val="655C52"/>
              </a:solidFill>
              <a:latin typeface="寒蝉半圆体" pitchFamily="2" charset="-122"/>
              <a:ea typeface="寒蝉半圆体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938760" y="3808809"/>
            <a:ext cx="3749039" cy="2462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60" b="0" i="0" dirty="0" err="1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保持柔和过渡</a:t>
            </a:r>
            <a:endParaRPr sz="1360" b="0" i="0" dirty="0">
              <a:solidFill>
                <a:srgbClr val="9A8C7B"/>
              </a:solidFill>
              <a:latin typeface="Zen Maru Gothic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2307824" y="4526280"/>
            <a:ext cx="438912" cy="438912"/>
          </a:xfrm>
          <a:prstGeom prst="ellipse">
            <a:avLst/>
          </a:prstGeom>
          <a:solidFill>
            <a:srgbClr val="F3E9DA"/>
          </a:solidFill>
          <a:ln w="12700">
            <a:solidFill>
              <a:srgbClr val="F3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307824" y="4553712"/>
            <a:ext cx="438912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38760" y="4480491"/>
            <a:ext cx="3383280" cy="3293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900" b="0" i="0" dirty="0" err="1" lang="zh-CN" spc="0">
                <a:solidFill>
                  <a:srgbClr val="655C52"/>
                </a:solidFill>
                <a:latin typeface="ChillRoundM" pitchFamily="2" charset="-122"/>
                <a:ea typeface="寒蝉半圆体"/>
                <a:cs typeface="ChillRoundM"/>
              </a:rPr>
              <a:t>电脑刺绣</a:t>
            </a:r>
            <a:endParaRPr sz="1900" b="1" i="0" dirty="0">
              <a:solidFill>
                <a:srgbClr val="655C52"/>
              </a:solidFill>
              <a:latin typeface="寒蝉半圆体" pitchFamily="2" charset="-122"/>
              <a:ea typeface="寒蝉半圆体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2938760" y="4855464"/>
            <a:ext cx="3749039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6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眼睛、鼻口减少硬质零件</a:t>
            </a:r>
          </a:p>
        </p:txBody>
      </p:sp>
      <p:sp>
        <p:nvSpPr>
          <p:cNvPr id="50" name="Oval 49"/>
          <p:cNvSpPr/>
          <p:nvPr/>
        </p:nvSpPr>
        <p:spPr>
          <a:xfrm>
            <a:off x="12293707" y="5677461"/>
            <a:ext cx="438912" cy="438912"/>
          </a:xfrm>
          <a:prstGeom prst="ellipse">
            <a:avLst/>
          </a:prstGeom>
          <a:solidFill>
            <a:srgbClr val="F3E9DA"/>
          </a:solidFill>
          <a:ln w="12700">
            <a:solidFill>
              <a:srgbClr val="F3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293707" y="5754113"/>
            <a:ext cx="438912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0" i="0" dirty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0</a:t>
            </a:r>
            <a:r>
              <a:rPr lang="zh-CN" sz="1200" b="0" i="0" dirty="0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3</a:t>
            </a:r>
            <a:endParaRPr sz="1200" b="1" i="0" dirty="0">
              <a:solidFill>
                <a:srgbClr val="E66E43"/>
              </a:solidFill>
              <a:latin typeface="Zen Maru Gothic Bol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924643" y="5622597"/>
            <a:ext cx="338328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900" b="0" i="0" lang="zh-CN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分区填充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924643" y="6006645"/>
            <a:ext cx="3749039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6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机构区固定，豆袋区保持柔软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15799" y="7406640"/>
            <a:ext cx="457200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700" b="0" i="0" dirty="0" lang="zh-CN" spc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Fine Fur  /  Beanbag Body  /  Soft Touch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9235440"/>
            <a:ext cx="1261872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5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CMF 为课程阶段设计建议 · 材料规格与工艺需由供应商打样确认</a:t>
            </a:r>
          </a:p>
        </p:txBody>
      </p:sp>
      <p:sp>
        <p:nvSpPr>
          <p:cNvPr id="61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62" name="SUDA small 16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dependent original product photograph" descr="image.png"/>
          <p:cNvPicPr>
            <a:picLocks noChangeAspect="1"/>
          </p:cNvPicPr>
          <p:nvPr/>
        </p:nvPicPr>
        <p:blipFill>
          <a:blip r:embed="rId3"/>
          <a:srcRect t="5142" b="5142"/>
          <a:stretch>
            <a:fillRect/>
          </a:stretch>
        </p:blipFill>
        <p:spPr>
          <a:xfrm>
            <a:off x="762000" y="523875"/>
            <a:ext cx="16764000" cy="8620125"/>
          </a:xfrm>
          <a:prstGeom prst="rect">
            <a:avLst/>
          </a:prstGeom>
        </p:spPr>
      </p:pic>
      <p:sp>
        <p:nvSpPr>
          <p:cNvPr id="3" name="SUDA title HUG / 捏一下，抱住你。"/>
          <p:cNvSpPr txBox="1"/>
          <p:nvPr/>
        </p:nvSpPr>
        <p:spPr>
          <a:xfrm>
            <a:off x="800100" y="9420225"/>
            <a:ext cx="14478000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7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HUG / 捏一下，抱住你。</a:t>
            </a:r>
          </a:p>
        </p:txBody>
      </p:sp>
      <p:sp>
        <p:nvSpPr>
          <p:cNvPr id="4" name="SUDA small 17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dependent original product photograph" descr="image.png"/>
          <p:cNvPicPr>
            <a:picLocks noChangeAspect="1"/>
          </p:cNvPicPr>
          <p:nvPr/>
        </p:nvPicPr>
        <p:blipFill>
          <a:blip r:embed="rId3"/>
          <a:srcRect l="26500"/>
          <a:stretch>
            <a:fillRect/>
          </a:stretch>
        </p:blipFill>
        <p:spPr>
          <a:xfrm>
            <a:off x="1056785" y="523875"/>
            <a:ext cx="16174429" cy="8620125"/>
          </a:xfrm>
          <a:prstGeom prst="rect">
            <a:avLst/>
          </a:prstGeom>
        </p:spPr>
      </p:pic>
      <p:sp>
        <p:nvSpPr>
          <p:cNvPr id="3" name="SUDA title WITH YOU / 跟着背包出门。"/>
          <p:cNvSpPr txBox="1"/>
          <p:nvPr/>
        </p:nvSpPr>
        <p:spPr>
          <a:xfrm>
            <a:off x="800100" y="9420225"/>
            <a:ext cx="14478000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7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WITH YOU / 跟着背包出门。</a:t>
            </a:r>
          </a:p>
        </p:txBody>
      </p:sp>
      <p:sp>
        <p:nvSpPr>
          <p:cNvPr id="4" name="SUDA small 18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dependent original product photograph" descr="image.png"/>
          <p:cNvPicPr>
            <a:picLocks noChangeAspect="1"/>
          </p:cNvPicPr>
          <p:nvPr/>
        </p:nvPicPr>
        <p:blipFill>
          <a:blip r:embed="rId3"/>
          <a:srcRect t="2133" b="2133"/>
          <a:stretch>
            <a:fillRect/>
          </a:stretch>
        </p:blipFill>
        <p:spPr>
          <a:xfrm>
            <a:off x="762000" y="523875"/>
            <a:ext cx="16764000" cy="8620125"/>
          </a:xfrm>
          <a:prstGeom prst="rect">
            <a:avLst/>
          </a:prstGeom>
        </p:spPr>
      </p:pic>
      <p:sp>
        <p:nvSpPr>
          <p:cNvPr id="3" name="SUDA title TOGETHER / 靠近一点。"/>
          <p:cNvSpPr txBox="1"/>
          <p:nvPr/>
        </p:nvSpPr>
        <p:spPr>
          <a:xfrm>
            <a:off x="800100" y="9420225"/>
            <a:ext cx="14478000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7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TOGETHER / 靠近一点。</a:t>
            </a:r>
          </a:p>
        </p:txBody>
      </p:sp>
      <p:sp>
        <p:nvSpPr>
          <p:cNvPr id="4" name="SUDA small 19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dependent original product photograph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9125" y="1189309"/>
            <a:ext cx="17049750" cy="7289257"/>
          </a:xfrm>
          <a:prstGeom prst="rect">
            <a:avLst/>
          </a:prstGeom>
        </p:spPr>
      </p:pic>
      <p:sp>
        <p:nvSpPr>
          <p:cNvPr id="3" name="SUDA title FAMILY / 五色，一家。"/>
          <p:cNvSpPr txBox="1"/>
          <p:nvPr/>
        </p:nvSpPr>
        <p:spPr>
          <a:xfrm>
            <a:off x="800100" y="9420225"/>
            <a:ext cx="14478000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7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FAMILY / 五色，一家。</a:t>
            </a:r>
          </a:p>
        </p:txBody>
      </p:sp>
      <p:sp>
        <p:nvSpPr>
          <p:cNvPr id="4" name="SUDA small 20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dependent original product photograph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9125" y="1189309"/>
            <a:ext cx="17049750" cy="7289257"/>
          </a:xfrm>
          <a:prstGeom prst="rect">
            <a:avLst/>
          </a:prstGeom>
        </p:spPr>
      </p:pic>
      <p:sp>
        <p:nvSpPr>
          <p:cNvPr id="3" name="SUDA title TAKE ME / 一起带走。"/>
          <p:cNvSpPr txBox="1"/>
          <p:nvPr/>
        </p:nvSpPr>
        <p:spPr>
          <a:xfrm>
            <a:off x="800100" y="9420225"/>
            <a:ext cx="14478000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7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TAKE ME / 一起带走。</a:t>
            </a:r>
          </a:p>
        </p:txBody>
      </p:sp>
      <p:sp>
        <p:nvSpPr>
          <p:cNvPr id="4" name="SUDA small 21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57200"/>
            <a:ext cx="320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75" b="0" i="0" lang="zh-CN" spc="0">
                <a:solidFill>
                  <a:srgbClr val="9A8C7B"/>
                </a:solidFill>
                <a:latin typeface="致一圓體_傳承形"/>
                <a:ea typeface="致一圓體_傳承形"/>
                <a:cs typeface="致一圓體_傳承形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6459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75" b="0" i="0" lang="zh-CN" spc="0">
                <a:solidFill>
                  <a:srgbClr val="9A8C7B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457200"/>
            <a:ext cx="36576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75" b="0" i="0" lang="zh-CN" spc="0">
                <a:solidFill>
                  <a:srgbClr val="9A8C7B"/>
                </a:solidFill>
                <a:latin typeface="致一圓體_傳承形"/>
                <a:ea typeface="致一圓體_傳承形"/>
                <a:cs typeface="致一圓體_傳承形"/>
              </a:rPr>
              <a:t>BUSINESS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92946"/>
            <a:ext cx="16459200" cy="77559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4800" b="0" i="0" dirty="0" lang="zh-CN" spc="0">
                <a:solidFill>
                  <a:srgbClr val="E66E43"/>
                </a:solidFill>
                <a:latin typeface="ChillRoundM" pitchFamily="2" charset="-122"/>
                <a:ea typeface="寒蝉半圆体"/>
                <a:cs typeface="ChillRoundM"/>
              </a:rPr>
              <a:t>约606只，是首轮试销的盈亏平衡点。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874519"/>
            <a:ext cx="102412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900" b="0" i="0" lang="zh-CN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不是先证明“市场很大”，而是先证明一只鼠能把账算正。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2743200"/>
          <a:ext cx="1069848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86750" y="2667000"/>
            <a:ext cx="1828800" cy="786384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F3C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77250" y="2762250"/>
            <a:ext cx="14996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BREAK-EVEN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0" y="3048000"/>
            <a:ext cx="14996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700" b="0" i="0" lang="zh-CN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约606只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15800" y="2834640"/>
            <a:ext cx="5166360" cy="100584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90120" y="2971800"/>
            <a:ext cx="1874519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800" b="0" i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¥69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0" y="3035808"/>
            <a:ext cx="26517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50" b="0" i="0" lang="zh-CN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建议零售价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15800" y="4087368"/>
            <a:ext cx="5166360" cy="100584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90120" y="4224528"/>
            <a:ext cx="1874519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800" b="0" i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¥36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0" y="4288536"/>
            <a:ext cx="26517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50" b="0" i="0" lang="zh-CN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单只总变动成本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115800" y="5340096"/>
            <a:ext cx="5166360" cy="100584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90120" y="5477256"/>
            <a:ext cx="1874519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800" b="0" i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¥20,000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0" y="5541264"/>
            <a:ext cx="26517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50" b="0" i="0" lang="zh-CN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固定投入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115800" y="6592824"/>
            <a:ext cx="5166360" cy="100584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90120" y="6729984"/>
            <a:ext cx="1874519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800" b="0" i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约65%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80" y="6793992"/>
            <a:ext cx="26517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50" b="0" i="0" lang="zh-CN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1,000只试销 ROI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15800" y="8001000"/>
            <a:ext cx="5166360" cy="1066800"/>
          </a:xfrm>
          <a:prstGeom prst="roundRect">
            <a:avLst/>
          </a:prstGeom>
          <a:solidFill>
            <a:srgbClr val="F1E9DD"/>
          </a:solidFill>
          <a:ln w="12700">
            <a:solidFill>
              <a:srgbClr val="F1E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2362688" y="8096250"/>
            <a:ext cx="4762500" cy="9048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试销1,000只 · 销售额 ¥69,000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总成本 ¥56,000 · 预计利润 ¥13,000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9235440"/>
            <a:ext cx="1261872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5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课程策划假设 / 待验证：制造成本28–32元/只；总变动成本36元/只；固定投入20,000元。</a:t>
            </a:r>
          </a:p>
        </p:txBody>
      </p:sp>
      <p:sp>
        <p:nvSpPr>
          <p:cNvPr id="30" name="SUDA title 单只贡献毛利：约33元"/>
          <p:cNvSpPr txBox="1"/>
          <p:nvPr/>
        </p:nvSpPr>
        <p:spPr>
          <a:xfrm>
            <a:off x="914400" y="8334375"/>
            <a:ext cx="1047750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  <a:spcBef>
                <a:spcPts val="0"/>
              </a:spcBef>
              <a:spcAft>
                <a:spcPts val="0"/>
              </a:spcAft>
            </a:pPr>
            <a:r>
              <a:rPr sz="2700" b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单只贡献毛利：约33元</a:t>
            </a:r>
          </a:p>
        </p:txBody>
      </p:sp>
      <p:sp>
        <p:nvSpPr>
          <p:cNvPr id="31" name="SUDA body 20,000 ÷ 33 ≈ 606.06；按整只计，至少607只覆盖固"/>
          <p:cNvSpPr txBox="1"/>
          <p:nvPr/>
        </p:nvSpPr>
        <p:spPr>
          <a:xfrm>
            <a:off x="914400" y="8848725"/>
            <a:ext cx="1071562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 spc="0">
                <a:solidFill>
                  <a:srgbClr val="6C6257"/>
                </a:solidFill>
                <a:latin typeface="致一圓體_傳承形"/>
                <a:ea typeface="致一圓體_傳承形"/>
                <a:cs typeface="致一圓體_傳承形"/>
              </a:rPr>
              <a:t>20,000 ÷ 33 ≈ 606.06；按整只计，至少607只覆盖固定投入。</a:t>
            </a:r>
          </a:p>
        </p:txBody>
      </p:sp>
      <p:sp>
        <p:nvSpPr>
          <p:cNvPr id="32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33" name="SUDA small 22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2312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1877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3278" y="572548"/>
            <a:ext cx="89103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PILOT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95820" y="572548"/>
            <a:ext cx="4927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30103" y="572548"/>
            <a:ext cx="116234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LAUNCH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945261"/>
            <a:ext cx="10058400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 dirty="0" err="1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先验证拥抱，再决定值不值得量产</a:t>
            </a:r>
            <a:r>
              <a:rPr lang="zh-CN" sz="4800" b="0" spc="0" dirty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。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57250" y="2405958"/>
            <a:ext cx="4178941" cy="1666875"/>
            <a:chOff x="0" y="0"/>
            <a:chExt cx="5571922" cy="2222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71871" cy="2222500"/>
            </a:xfrm>
            <a:custGeom>
              <a:avLst/>
              <a:gdLst/>
              <a:ahLst/>
              <a:cxnLst/>
              <a:rect l="l" t="t" r="r" b="b"/>
              <a:pathLst>
                <a:path w="5571871" h="2222500">
                  <a:moveTo>
                    <a:pt x="254000" y="0"/>
                  </a:moveTo>
                  <a:lnTo>
                    <a:pt x="5317871" y="0"/>
                  </a:lnTo>
                  <a:cubicBezTo>
                    <a:pt x="5458206" y="0"/>
                    <a:pt x="5571871" y="113665"/>
                    <a:pt x="5571871" y="254000"/>
                  </a:cubicBezTo>
                  <a:lnTo>
                    <a:pt x="5571871" y="1968500"/>
                  </a:lnTo>
                  <a:cubicBezTo>
                    <a:pt x="5571871" y="2108835"/>
                    <a:pt x="5458206" y="2222500"/>
                    <a:pt x="5317871" y="2222500"/>
                  </a:cubicBezTo>
                  <a:lnTo>
                    <a:pt x="254000" y="2222500"/>
                  </a:lnTo>
                  <a:cubicBezTo>
                    <a:pt x="113665" y="2222500"/>
                    <a:pt x="0" y="2108835"/>
                    <a:pt x="0" y="1968500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solidFill>
              <a:srgbClr val="EEE7D9"/>
            </a:solidFill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1095375" y="2528259"/>
            <a:ext cx="421481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G0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8302" y="2528259"/>
            <a:ext cx="27741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/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7164" y="2528259"/>
            <a:ext cx="24005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04680" y="2528259"/>
            <a:ext cx="27325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25381" y="2528259"/>
            <a:ext cx="25434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27174" y="2528259"/>
            <a:ext cx="38115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5375" y="2943073"/>
            <a:ext cx="153367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3"/>
              </a:lnSpc>
            </a:pPr>
            <a:r>
              <a:rPr lang="zh-CN" sz="2175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需求与授权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5375" y="3433991"/>
            <a:ext cx="278130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访谈、校方边界、竞品样品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07641" y="2405958"/>
            <a:ext cx="4178941" cy="1666875"/>
            <a:chOff x="0" y="0"/>
            <a:chExt cx="5571922" cy="2222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71871" cy="2222500"/>
            </a:xfrm>
            <a:custGeom>
              <a:avLst/>
              <a:gdLst/>
              <a:ahLst/>
              <a:cxnLst/>
              <a:rect l="l" t="t" r="r" b="b"/>
              <a:pathLst>
                <a:path w="5571871" h="2222500">
                  <a:moveTo>
                    <a:pt x="254000" y="0"/>
                  </a:moveTo>
                  <a:lnTo>
                    <a:pt x="5317871" y="0"/>
                  </a:lnTo>
                  <a:cubicBezTo>
                    <a:pt x="5458206" y="0"/>
                    <a:pt x="5571871" y="113665"/>
                    <a:pt x="5571871" y="254000"/>
                  </a:cubicBezTo>
                  <a:lnTo>
                    <a:pt x="5571871" y="1968500"/>
                  </a:lnTo>
                  <a:cubicBezTo>
                    <a:pt x="5571871" y="2108835"/>
                    <a:pt x="5458206" y="2222500"/>
                    <a:pt x="5317871" y="2222500"/>
                  </a:cubicBezTo>
                  <a:lnTo>
                    <a:pt x="254000" y="2222500"/>
                  </a:lnTo>
                  <a:cubicBezTo>
                    <a:pt x="113665" y="2222500"/>
                    <a:pt x="0" y="2108835"/>
                    <a:pt x="0" y="1968500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solidFill>
              <a:srgbClr val="EEE7D9"/>
            </a:solidFill>
          </p:spPr>
          <p:txBody>
            <a:bodyPr/>
            <a:p/>
          </p:txBody>
        </p:sp>
      </p:grpSp>
      <p:sp>
        <p:nvSpPr>
          <p:cNvPr id="20" name="TextBox 20"/>
          <p:cNvSpPr txBox="1"/>
          <p:nvPr/>
        </p:nvSpPr>
        <p:spPr>
          <a:xfrm>
            <a:off x="5445766" y="2528259"/>
            <a:ext cx="39394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G1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51166" y="2528259"/>
            <a:ext cx="27726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/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39876" y="2528259"/>
            <a:ext cx="263281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0604" y="2528259"/>
            <a:ext cx="27325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–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71305" y="2528259"/>
            <a:ext cx="25955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78318" y="2528259"/>
            <a:ext cx="38115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45766" y="2943073"/>
            <a:ext cx="125745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3"/>
              </a:lnSpc>
            </a:pPr>
            <a:r>
              <a:rPr lang="zh-CN" sz="2175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机构样机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45766" y="3433991"/>
            <a:ext cx="256222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闭合、保持、释放、安全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57250" y="4244283"/>
            <a:ext cx="4178941" cy="1666875"/>
            <a:chOff x="0" y="0"/>
            <a:chExt cx="5571922" cy="2222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71871" cy="2222500"/>
            </a:xfrm>
            <a:custGeom>
              <a:avLst/>
              <a:gdLst/>
              <a:ahLst/>
              <a:cxnLst/>
              <a:rect l="l" t="t" r="r" b="b"/>
              <a:pathLst>
                <a:path w="5571871" h="2222500">
                  <a:moveTo>
                    <a:pt x="254000" y="0"/>
                  </a:moveTo>
                  <a:lnTo>
                    <a:pt x="5317871" y="0"/>
                  </a:lnTo>
                  <a:cubicBezTo>
                    <a:pt x="5458206" y="0"/>
                    <a:pt x="5571871" y="113665"/>
                    <a:pt x="5571871" y="254000"/>
                  </a:cubicBezTo>
                  <a:lnTo>
                    <a:pt x="5571871" y="1968500"/>
                  </a:lnTo>
                  <a:cubicBezTo>
                    <a:pt x="5571871" y="2108835"/>
                    <a:pt x="5458206" y="2222500"/>
                    <a:pt x="5317871" y="2222500"/>
                  </a:cubicBezTo>
                  <a:lnTo>
                    <a:pt x="254000" y="2222500"/>
                  </a:lnTo>
                  <a:cubicBezTo>
                    <a:pt x="113665" y="2222500"/>
                    <a:pt x="0" y="2108835"/>
                    <a:pt x="0" y="1968500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solidFill>
              <a:srgbClr val="EEE7D9"/>
            </a:solidFill>
          </p:spPr>
          <p:txBody>
            <a:bodyPr/>
            <a:p/>
          </p:txBody>
        </p:sp>
      </p:grpSp>
      <p:sp>
        <p:nvSpPr>
          <p:cNvPr id="30" name="TextBox 30"/>
          <p:cNvSpPr txBox="1"/>
          <p:nvPr/>
        </p:nvSpPr>
        <p:spPr>
          <a:xfrm>
            <a:off x="1095375" y="4366584"/>
            <a:ext cx="40808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G2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14910" y="4366584"/>
            <a:ext cx="27726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/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3772" y="4366584"/>
            <a:ext cx="26521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16434" y="4366584"/>
            <a:ext cx="27325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–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37134" y="4366584"/>
            <a:ext cx="26892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53520" y="4366584"/>
            <a:ext cx="38115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95375" y="4781398"/>
            <a:ext cx="180990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3"/>
              </a:lnSpc>
            </a:pPr>
            <a:r>
              <a:rPr lang="zh-CN" sz="2175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单色小批试产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5375" y="5272316"/>
            <a:ext cx="234315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成本、耐久、真实体验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207641" y="4244283"/>
            <a:ext cx="4178941" cy="1666875"/>
            <a:chOff x="0" y="0"/>
            <a:chExt cx="5571922" cy="22225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571871" cy="2222500"/>
            </a:xfrm>
            <a:custGeom>
              <a:avLst/>
              <a:gdLst/>
              <a:ahLst/>
              <a:cxnLst/>
              <a:rect l="l" t="t" r="r" b="b"/>
              <a:pathLst>
                <a:path w="5571871" h="2222500">
                  <a:moveTo>
                    <a:pt x="254000" y="0"/>
                  </a:moveTo>
                  <a:lnTo>
                    <a:pt x="5317871" y="0"/>
                  </a:lnTo>
                  <a:cubicBezTo>
                    <a:pt x="5458206" y="0"/>
                    <a:pt x="5571871" y="113665"/>
                    <a:pt x="5571871" y="254000"/>
                  </a:cubicBezTo>
                  <a:lnTo>
                    <a:pt x="5571871" y="1968500"/>
                  </a:lnTo>
                  <a:cubicBezTo>
                    <a:pt x="5571871" y="2108835"/>
                    <a:pt x="5458206" y="2222500"/>
                    <a:pt x="5317871" y="2222500"/>
                  </a:cubicBezTo>
                  <a:lnTo>
                    <a:pt x="254000" y="2222500"/>
                  </a:lnTo>
                  <a:cubicBezTo>
                    <a:pt x="113665" y="2222500"/>
                    <a:pt x="0" y="2108835"/>
                    <a:pt x="0" y="1968500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solidFill>
              <a:srgbClr val="EEE7D9"/>
            </a:solidFill>
          </p:spPr>
          <p:txBody>
            <a:bodyPr/>
            <a:p/>
          </p:txBody>
        </p:sp>
      </p:grpSp>
      <p:sp>
        <p:nvSpPr>
          <p:cNvPr id="40" name="TextBox 40"/>
          <p:cNvSpPr txBox="1"/>
          <p:nvPr/>
        </p:nvSpPr>
        <p:spPr>
          <a:xfrm>
            <a:off x="5445766" y="4366584"/>
            <a:ext cx="41701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G3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774236" y="4366584"/>
            <a:ext cx="27726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/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962945" y="4366584"/>
            <a:ext cx="26119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9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071587" y="4366584"/>
            <a:ext cx="27325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–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192288" y="4366584"/>
            <a:ext cx="34186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12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81598" y="4366584"/>
            <a:ext cx="38115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45766" y="4781398"/>
            <a:ext cx="125745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3"/>
              </a:lnSpc>
            </a:pPr>
            <a:r>
              <a:rPr lang="zh-CN" sz="2175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校园试售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445766" y="5272316"/>
            <a:ext cx="256222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zh-CN" sz="172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先主色，再决定五色扩展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00125" y="6068987"/>
            <a:ext cx="16954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成本核算路径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00125" y="6585052"/>
            <a:ext cx="11050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绒布缝制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019300" y="6585052"/>
            <a:ext cx="37207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+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305498" y="6585052"/>
            <a:ext cx="11050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机构装配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324673" y="6585052"/>
            <a:ext cx="37207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+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610870" y="6585052"/>
            <a:ext cx="6288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填充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153795" y="6585052"/>
            <a:ext cx="37207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+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439993" y="6585052"/>
            <a:ext cx="11050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磁体封装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459168" y="6585052"/>
            <a:ext cx="37207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+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745366" y="6585052"/>
            <a:ext cx="6288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包装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288291" y="6585052"/>
            <a:ext cx="37221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+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574631" y="6585052"/>
            <a:ext cx="6288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测试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117556" y="6585052"/>
            <a:ext cx="28247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14162" y="6585052"/>
            <a:ext cx="6288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授权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857087" y="6585052"/>
            <a:ext cx="28262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053835" y="6585052"/>
            <a:ext cx="6288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损耗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596760" y="6585052"/>
            <a:ext cx="28247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793509" y="6585052"/>
            <a:ext cx="39067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渠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00125" y="7013677"/>
            <a:ext cx="39067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道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00125" y="7530598"/>
            <a:ext cx="6439052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zh-CN" sz="165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获取工厂报价后倒推可售价格；用两档真实报价做价格接受度测试。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9815217" y="2405958"/>
            <a:ext cx="7615533" cy="5724525"/>
            <a:chOff x="0" y="0"/>
            <a:chExt cx="10154044" cy="76327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154031" cy="7632700"/>
            </a:xfrm>
            <a:custGeom>
              <a:avLst/>
              <a:gdLst/>
              <a:ahLst/>
              <a:cxnLst/>
              <a:rect l="l" t="t" r="r" b="b"/>
              <a:pathLst>
                <a:path w="10154031" h="7632700">
                  <a:moveTo>
                    <a:pt x="342900" y="0"/>
                  </a:moveTo>
                  <a:lnTo>
                    <a:pt x="9811131" y="0"/>
                  </a:lnTo>
                  <a:cubicBezTo>
                    <a:pt x="10000488" y="0"/>
                    <a:pt x="10154031" y="153543"/>
                    <a:pt x="10154031" y="342900"/>
                  </a:cubicBezTo>
                  <a:lnTo>
                    <a:pt x="10154031" y="7289800"/>
                  </a:lnTo>
                  <a:cubicBezTo>
                    <a:pt x="10154031" y="7479157"/>
                    <a:pt x="10000488" y="7632700"/>
                    <a:pt x="9811131" y="7632700"/>
                  </a:cubicBezTo>
                  <a:lnTo>
                    <a:pt x="342900" y="7632700"/>
                  </a:lnTo>
                  <a:cubicBezTo>
                    <a:pt x="153543" y="7632700"/>
                    <a:pt x="0" y="7479157"/>
                    <a:pt x="0" y="7289800"/>
                  </a:cubicBezTo>
                  <a:lnTo>
                    <a:pt x="0" y="342900"/>
                  </a:lnTo>
                  <a:cubicBezTo>
                    <a:pt x="0" y="153543"/>
                    <a:pt x="153543" y="0"/>
                    <a:pt x="342900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70" name="TextBox 70"/>
          <p:cNvSpPr txBox="1"/>
          <p:nvPr/>
        </p:nvSpPr>
        <p:spPr>
          <a:xfrm>
            <a:off x="10148592" y="2652084"/>
            <a:ext cx="129540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877763"/>
                </a:solidFill>
                <a:latin typeface="致一圓體_傳承形"/>
                <a:ea typeface="致一圓體_傳承形"/>
                <a:cs typeface="致一圓體_傳承形"/>
              </a:rPr>
              <a:t>待验证假设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355591" y="2642559"/>
            <a:ext cx="27726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877763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544300" y="2652084"/>
            <a:ext cx="152415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877763"/>
                </a:solidFill>
                <a:latin typeface="致一圓體_傳承形"/>
                <a:ea typeface="致一圓體_傳承形"/>
                <a:cs typeface="致一圓體_傳承形"/>
              </a:rPr>
              <a:t>建议验收门槛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148592" y="3148117"/>
            <a:ext cx="381015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zh-CN" sz="24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先过门槛，再开下一阶段。</a:t>
            </a:r>
          </a:p>
        </p:txBody>
      </p:sp>
      <p:sp>
        <p:nvSpPr>
          <p:cNvPr id="74" name="AutoShape 74"/>
          <p:cNvSpPr/>
          <p:nvPr/>
        </p:nvSpPr>
        <p:spPr>
          <a:xfrm rot="4680">
            <a:off x="10143820" y="4504287"/>
            <a:ext cx="6958317" cy="0"/>
          </a:xfrm>
          <a:prstGeom prst="line">
            <a:avLst/>
          </a:prstGeom>
          <a:ln w="9525" cap="rnd">
            <a:solidFill>
              <a:srgbClr val="C6D7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5" name="TextBox 75"/>
          <p:cNvSpPr txBox="1"/>
          <p:nvPr/>
        </p:nvSpPr>
        <p:spPr>
          <a:xfrm>
            <a:off x="10148592" y="3916118"/>
            <a:ext cx="15813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动作理解：≥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644017" y="3916118"/>
            <a:ext cx="57611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80%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2134250" y="3916118"/>
            <a:ext cx="25338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无提示完成捏压与释放</a:t>
            </a:r>
          </a:p>
        </p:txBody>
      </p:sp>
      <p:sp>
        <p:nvSpPr>
          <p:cNvPr id="78" name="AutoShape 78"/>
          <p:cNvSpPr/>
          <p:nvPr/>
        </p:nvSpPr>
        <p:spPr>
          <a:xfrm rot="4680">
            <a:off x="10143820" y="5190087"/>
            <a:ext cx="6958317" cy="0"/>
          </a:xfrm>
          <a:prstGeom prst="line">
            <a:avLst/>
          </a:prstGeom>
          <a:ln w="9525" cap="rnd">
            <a:solidFill>
              <a:srgbClr val="C6D7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9" name="TextBox 79"/>
          <p:cNvSpPr txBox="1"/>
          <p:nvPr/>
        </p:nvSpPr>
        <p:spPr>
          <a:xfrm>
            <a:off x="10148592" y="4601918"/>
            <a:ext cx="15813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可靠性：目标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644017" y="4601918"/>
            <a:ext cx="66972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1,000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2227871" y="4601918"/>
            <a:ext cx="324817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次循环后仍闭合、保持与释放</a:t>
            </a:r>
          </a:p>
        </p:txBody>
      </p:sp>
      <p:sp>
        <p:nvSpPr>
          <p:cNvPr id="82" name="AutoShape 82"/>
          <p:cNvSpPr/>
          <p:nvPr/>
        </p:nvSpPr>
        <p:spPr>
          <a:xfrm rot="4680">
            <a:off x="10143820" y="5875887"/>
            <a:ext cx="6958317" cy="0"/>
          </a:xfrm>
          <a:prstGeom prst="line">
            <a:avLst/>
          </a:prstGeom>
          <a:ln w="9525" cap="rnd">
            <a:solidFill>
              <a:srgbClr val="C6D7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3" name="TextBox 83"/>
          <p:cNvSpPr txBox="1"/>
          <p:nvPr/>
        </p:nvSpPr>
        <p:spPr>
          <a:xfrm>
            <a:off x="10148592" y="5287718"/>
            <a:ext cx="467692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安全：夹点、磁体与填充封装不通过即暂停</a:t>
            </a:r>
          </a:p>
        </p:txBody>
      </p:sp>
      <p:sp>
        <p:nvSpPr>
          <p:cNvPr id="84" name="AutoShape 84"/>
          <p:cNvSpPr/>
          <p:nvPr/>
        </p:nvSpPr>
        <p:spPr>
          <a:xfrm rot="4680">
            <a:off x="10143820" y="6561687"/>
            <a:ext cx="6958317" cy="0"/>
          </a:xfrm>
          <a:prstGeom prst="line">
            <a:avLst/>
          </a:prstGeom>
          <a:ln w="9525" cap="rnd">
            <a:solidFill>
              <a:srgbClr val="C6D7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5" name="TextBox 85"/>
          <p:cNvSpPr txBox="1"/>
          <p:nvPr/>
        </p:nvSpPr>
        <p:spPr>
          <a:xfrm>
            <a:off x="10148592" y="5973518"/>
            <a:ext cx="515317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商业：扣除全成本及渠道后，试售贡献毛利为正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10148592" y="6804574"/>
            <a:ext cx="4628255" cy="514350"/>
            <a:chOff x="0" y="0"/>
            <a:chExt cx="6171006" cy="6858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171057" cy="685800"/>
            </a:xfrm>
            <a:custGeom>
              <a:avLst/>
              <a:gdLst/>
              <a:ahLst/>
              <a:cxnLst/>
              <a:rect l="l" t="t" r="r" b="b"/>
              <a:pathLst>
                <a:path w="6171057" h="685800">
                  <a:moveTo>
                    <a:pt x="342900" y="0"/>
                  </a:moveTo>
                  <a:lnTo>
                    <a:pt x="5828157" y="0"/>
                  </a:lnTo>
                  <a:cubicBezTo>
                    <a:pt x="6017514" y="0"/>
                    <a:pt x="6171057" y="153543"/>
                    <a:pt x="6171057" y="342900"/>
                  </a:cubicBezTo>
                  <a:cubicBezTo>
                    <a:pt x="6171057" y="532257"/>
                    <a:pt x="6017514" y="685800"/>
                    <a:pt x="5828157" y="685800"/>
                  </a:cubicBezTo>
                  <a:lnTo>
                    <a:pt x="342900" y="685800"/>
                  </a:lnTo>
                  <a:cubicBezTo>
                    <a:pt x="153543" y="685800"/>
                    <a:pt x="0" y="532257"/>
                    <a:pt x="0" y="342900"/>
                  </a:cubicBezTo>
                  <a:cubicBezTo>
                    <a:pt x="0" y="153543"/>
                    <a:pt x="153543" y="0"/>
                    <a:pt x="342900" y="0"/>
                  </a:cubicBezTo>
                  <a:close/>
                </a:path>
              </a:pathLst>
            </a:custGeom>
            <a:solidFill>
              <a:srgbClr val="F0E6D7"/>
            </a:solidFill>
          </p:spPr>
          <p:txBody>
            <a:bodyPr/>
            <a:p/>
          </p:txBody>
        </p:sp>
      </p:grpSp>
      <p:sp>
        <p:nvSpPr>
          <p:cNvPr id="88" name="TextBox 88"/>
          <p:cNvSpPr txBox="1"/>
          <p:nvPr/>
        </p:nvSpPr>
        <p:spPr>
          <a:xfrm>
            <a:off x="10320042" y="6872297"/>
            <a:ext cx="15525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核心风险：锁死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776177" y="6872297"/>
            <a:ext cx="2617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941378" y="6872297"/>
            <a:ext cx="55260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脱落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2397388" y="6872297"/>
            <a:ext cx="2617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2562580" y="6862772"/>
            <a:ext cx="55260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误吞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3018741" y="6872297"/>
            <a:ext cx="26164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3183943" y="6872297"/>
            <a:ext cx="55260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授权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3639952" y="6872297"/>
            <a:ext cx="2617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3805144" y="6872297"/>
            <a:ext cx="95265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成本超标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57250" y="9114320"/>
            <a:ext cx="160035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全部为待验证假设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355647" y="9114320"/>
            <a:ext cx="196606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·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450306" y="9114320"/>
            <a:ext cx="286717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无销量、成本或市场规模实测数据</a:t>
            </a:r>
          </a:p>
        </p:txBody>
      </p:sp>
      <p:sp>
        <p:nvSpPr>
          <p:cNvPr id="100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101" name="SUDA small 23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57200"/>
            <a:ext cx="320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75" b="0" i="0" lang="zh-CN" spc="0">
                <a:solidFill>
                  <a:srgbClr val="9A8C7B"/>
                </a:solidFill>
                <a:latin typeface="致一圓體_傳承形"/>
                <a:ea typeface="致一圓體_傳承形"/>
                <a:cs typeface="致一圓體_傳承形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6459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75" b="0" i="0" lang="zh-CN" spc="0">
                <a:solidFill>
                  <a:srgbClr val="9A8C7B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168" y="457200"/>
            <a:ext cx="36576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75" b="0" i="0" lang="zh-CN" spc="0">
                <a:solidFill>
                  <a:srgbClr val="9A8C7B"/>
                </a:solidFill>
                <a:latin typeface="致一圓體_傳承形"/>
                <a:ea typeface="致一圓體_傳承形"/>
                <a:cs typeface="致一圓體_傳承形"/>
              </a:rPr>
              <a:t>RISK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1645920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4800" b="0" i="0" lang="zh-CN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最大的风险不是成本，而是动作失效。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874519"/>
            <a:ext cx="114300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900" b="0" i="0" lang="zh-CN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优先处理会破坏“捏一下就抱住你”的风险，再处理配色与扩展体验。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761488"/>
            <a:ext cx="4937760" cy="2857500"/>
          </a:xfrm>
          <a:prstGeom prst="rect">
            <a:avLst/>
          </a:prstGeom>
          <a:solidFill>
            <a:srgbClr val="F6EEE2"/>
          </a:solidFill>
          <a:ln w="10160">
            <a:solidFill>
              <a:srgbClr val="E7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06440" y="2761488"/>
            <a:ext cx="4937760" cy="2857500"/>
          </a:xfrm>
          <a:prstGeom prst="rect">
            <a:avLst/>
          </a:prstGeom>
          <a:solidFill>
            <a:srgbClr val="F5DDD5"/>
          </a:solidFill>
          <a:ln w="10160">
            <a:solidFill>
              <a:srgbClr val="E7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5618988"/>
            <a:ext cx="4937760" cy="2857500"/>
          </a:xfrm>
          <a:prstGeom prst="rect">
            <a:avLst/>
          </a:prstGeom>
          <a:solidFill>
            <a:srgbClr val="E8EFEA"/>
          </a:solidFill>
          <a:ln w="10160">
            <a:solidFill>
              <a:srgbClr val="E7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06440" y="5618988"/>
            <a:ext cx="4937760" cy="2857500"/>
          </a:xfrm>
          <a:prstGeom prst="rect">
            <a:avLst/>
          </a:prstGeom>
          <a:solidFill>
            <a:srgbClr val="E7ECF0"/>
          </a:solidFill>
          <a:ln w="10160">
            <a:solidFill>
              <a:srgbClr val="E7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21945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影响程度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8586215"/>
            <a:ext cx="21031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30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发生概率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39" y="2926080"/>
            <a:ext cx="21031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0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高影响 / 低概率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2860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0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高影响 / 高概率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39" y="5783579"/>
            <a:ext cx="22860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0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中影响 / 低概率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783579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0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中影响 / 高概率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3703320"/>
            <a:ext cx="804672" cy="804672"/>
          </a:xfrm>
          <a:prstGeom prst="ellipse">
            <a:avLst/>
          </a:prstGeom>
          <a:solidFill>
            <a:srgbClr val="E66E43"/>
          </a:solidFill>
          <a:ln w="12700">
            <a:solidFill>
              <a:srgbClr val="E6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739896"/>
            <a:ext cx="804672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0" i="0" lang="zh-CN" spc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3776472"/>
            <a:ext cx="14173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3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机构卡滞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4315968"/>
            <a:ext cx="749808" cy="749808"/>
          </a:xfrm>
          <a:prstGeom prst="ellipse">
            <a:avLst/>
          </a:prstGeom>
          <a:solidFill>
            <a:srgbClr val="D88467"/>
          </a:solidFill>
          <a:ln w="12700">
            <a:solidFill>
              <a:srgbClr val="D88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352544"/>
            <a:ext cx="749808" cy="6766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0" i="0" lang="zh-CN" spc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4389120"/>
            <a:ext cx="14173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3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包覆后动作弱</a:t>
            </a:r>
          </a:p>
        </p:txBody>
      </p:sp>
      <p:sp>
        <p:nvSpPr>
          <p:cNvPr id="23" name="Oval 22"/>
          <p:cNvSpPr/>
          <p:nvPr/>
        </p:nvSpPr>
        <p:spPr>
          <a:xfrm>
            <a:off x="2926080" y="3858768"/>
            <a:ext cx="676656" cy="676656"/>
          </a:xfrm>
          <a:prstGeom prst="ellipse">
            <a:avLst/>
          </a:prstGeom>
          <a:solidFill>
            <a:srgbClr val="D5B98B"/>
          </a:solidFill>
          <a:ln w="12700">
            <a:solidFill>
              <a:srgbClr val="D5B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0" y="3895344"/>
            <a:ext cx="676656" cy="6035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0" i="0" lang="zh-CN" spc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3931920"/>
            <a:ext cx="14173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3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校园授权</a:t>
            </a:r>
          </a:p>
        </p:txBody>
      </p:sp>
      <p:sp>
        <p:nvSpPr>
          <p:cNvPr id="26" name="Oval 25"/>
          <p:cNvSpPr/>
          <p:nvPr/>
        </p:nvSpPr>
        <p:spPr>
          <a:xfrm>
            <a:off x="3703320" y="4709160"/>
            <a:ext cx="621792" cy="621792"/>
          </a:xfrm>
          <a:prstGeom prst="ellipse">
            <a:avLst/>
          </a:prstGeom>
          <a:solidFill>
            <a:srgbClr val="C8B297"/>
          </a:solidFill>
          <a:ln w="12700">
            <a:solidFill>
              <a:srgbClr val="C8B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03320" y="4745736"/>
            <a:ext cx="621792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0" i="0" lang="zh-CN" spc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1" y="4782312"/>
            <a:ext cx="14173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3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供应延期</a:t>
            </a:r>
          </a:p>
        </p:txBody>
      </p:sp>
      <p:sp>
        <p:nvSpPr>
          <p:cNvPr id="29" name="Oval 28"/>
          <p:cNvSpPr/>
          <p:nvPr/>
        </p:nvSpPr>
        <p:spPr>
          <a:xfrm>
            <a:off x="7059168" y="6729984"/>
            <a:ext cx="658368" cy="658368"/>
          </a:xfrm>
          <a:prstGeom prst="ellipse">
            <a:avLst/>
          </a:prstGeom>
          <a:solidFill>
            <a:srgbClr val="9DBCC7"/>
          </a:solidFill>
          <a:ln w="12700">
            <a:solidFill>
              <a:srgbClr val="9D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59168" y="6766560"/>
            <a:ext cx="658368" cy="5852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0" i="0" lang="zh-CN" spc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8975" y="6803136"/>
            <a:ext cx="14173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3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用户不懂玩法</a:t>
            </a:r>
          </a:p>
        </p:txBody>
      </p:sp>
      <p:sp>
        <p:nvSpPr>
          <p:cNvPr id="32" name="Oval 31"/>
          <p:cNvSpPr/>
          <p:nvPr/>
        </p:nvSpPr>
        <p:spPr>
          <a:xfrm>
            <a:off x="8321040" y="7178040"/>
            <a:ext cx="621792" cy="621792"/>
          </a:xfrm>
          <a:prstGeom prst="ellipse">
            <a:avLst/>
          </a:prstGeom>
          <a:solidFill>
            <a:srgbClr val="B7AFC6"/>
          </a:solidFill>
          <a:ln w="12700">
            <a:solidFill>
              <a:srgbClr val="B7A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7214616"/>
            <a:ext cx="621792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0" i="0" lang="zh-CN" spc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7251192"/>
            <a:ext cx="14173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3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色差 / 个体差</a:t>
            </a:r>
          </a:p>
        </p:txBody>
      </p:sp>
      <p:sp>
        <p:nvSpPr>
          <p:cNvPr id="35" name="Oval 34"/>
          <p:cNvSpPr/>
          <p:nvPr/>
        </p:nvSpPr>
        <p:spPr>
          <a:xfrm>
            <a:off x="3639312" y="6949440"/>
            <a:ext cx="594360" cy="594360"/>
          </a:xfrm>
          <a:prstGeom prst="ellipse">
            <a:avLst/>
          </a:prstGeom>
          <a:solidFill>
            <a:srgbClr val="AEBDAA"/>
          </a:solidFill>
          <a:ln w="12700">
            <a:solidFill>
              <a:srgbClr val="AEB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39312" y="6986016"/>
            <a:ext cx="594360" cy="5212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0" i="0" lang="zh-CN" spc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7022592"/>
            <a:ext cx="14173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3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尾巴磁吸不稳</a:t>
            </a:r>
          </a:p>
        </p:txBody>
      </p:sp>
      <p:sp>
        <p:nvSpPr>
          <p:cNvPr id="38" name="Oval 37"/>
          <p:cNvSpPr/>
          <p:nvPr/>
        </p:nvSpPr>
        <p:spPr>
          <a:xfrm>
            <a:off x="2359152" y="7635240"/>
            <a:ext cx="548640" cy="548640"/>
          </a:xfrm>
          <a:prstGeom prst="ellipse">
            <a:avLst/>
          </a:prstGeom>
          <a:solidFill>
            <a:srgbClr val="C5C1B8"/>
          </a:solidFill>
          <a:ln w="12700">
            <a:solidFill>
              <a:srgbClr val="C5C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59152" y="7671815"/>
            <a:ext cx="54864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0" i="0" lang="zh-CN" spc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9232" y="7708392"/>
            <a:ext cx="14173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3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运输压塌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84280" y="2816352"/>
            <a:ext cx="54864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TOP RISKS / RESPONSE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65992" y="3246120"/>
            <a:ext cx="5760720" cy="85953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612880" y="3346703"/>
            <a:ext cx="53035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A  抱爪机构耐久不足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12880" y="3657600"/>
            <a:ext cx="5257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7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1000次循环测试；先保闭合、保持、释放。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365992" y="4315968"/>
            <a:ext cx="5760720" cy="859536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612880" y="4416552"/>
            <a:ext cx="53035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B  毛绒包覆削弱动作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12880" y="4727448"/>
            <a:ext cx="5257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7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增大有效行程；机构测试先于外观封样。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365992" y="5385816"/>
            <a:ext cx="5760720" cy="85953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612880" y="5486400"/>
            <a:ext cx="53035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C  校园授权推进慢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12880" y="5797296"/>
            <a:ext cx="5257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7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先做非联名验证样；授权流程并行。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365992" y="6455664"/>
            <a:ext cx="5760720" cy="85953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612880" y="6556248"/>
            <a:ext cx="53035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E  用户第一次不会玩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12880" y="6867144"/>
            <a:ext cx="5257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7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包装与陈列只强调一句：捏一下。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65992" y="7525512"/>
            <a:ext cx="5760720" cy="85953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612880" y="7626096"/>
            <a:ext cx="53035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0" i="0" lang="zh-CN" spc="0">
                <a:solidFill>
                  <a:srgbClr val="655C52"/>
                </a:solidFill>
                <a:latin typeface="SimSun"/>
                <a:ea typeface="SimSun"/>
                <a:cs typeface="SimSun"/>
              </a:rPr>
              <a:t>G  尾巴磁吸不稳定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12880" y="7936992"/>
            <a:ext cx="5257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7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降为次级功能；不影响首版拥抱上线。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384280" y="8613649"/>
            <a:ext cx="5760720" cy="658368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FF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631168" y="8759953"/>
            <a:ext cx="52578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40" b="0" i="0" lang="zh-CN" spc="0">
                <a:solidFill>
                  <a:srgbClr val="E66E43"/>
                </a:solidFill>
                <a:latin typeface="SimSun"/>
                <a:ea typeface="SimSun"/>
                <a:cs typeface="SimSun"/>
              </a:rPr>
              <a:t>Go / No-Go：动作失效或安全不通过 → 暂停量产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8" y="9235440"/>
            <a:ext cx="1261872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50" b="0" i="0" lang="zh-CN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风险矩阵为课程阶段判断 · 概率与影响等级需在样机、供应链和授权推进中持续更新</a:t>
            </a:r>
          </a:p>
        </p:txBody>
      </p:sp>
      <p:sp>
        <p:nvSpPr>
          <p:cNvPr id="64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65" name="SUDA small 24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2312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1877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3278" y="572548"/>
            <a:ext cx="40541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AI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10198" y="572548"/>
            <a:ext cx="107111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22819" y="572548"/>
            <a:ext cx="15601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945261"/>
            <a:ext cx="70976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94695" y="945261"/>
            <a:ext cx="882030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产出候选，人负责证据与取舍。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7250" y="2834583"/>
            <a:ext cx="3957638" cy="3190875"/>
            <a:chOff x="0" y="0"/>
            <a:chExt cx="5276850" cy="4254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76850" cy="4254500"/>
            </a:xfrm>
            <a:custGeom>
              <a:avLst/>
              <a:gdLst/>
              <a:ahLst/>
              <a:cxnLst/>
              <a:rect l="l" t="t" r="r" b="b"/>
              <a:pathLst>
                <a:path w="5276850" h="4254500">
                  <a:moveTo>
                    <a:pt x="381000" y="0"/>
                  </a:moveTo>
                  <a:lnTo>
                    <a:pt x="4895850" y="0"/>
                  </a:lnTo>
                  <a:cubicBezTo>
                    <a:pt x="5106289" y="0"/>
                    <a:pt x="5276850" y="170561"/>
                    <a:pt x="5276850" y="381000"/>
                  </a:cubicBezTo>
                  <a:lnTo>
                    <a:pt x="5276850" y="3873500"/>
                  </a:lnTo>
                  <a:cubicBezTo>
                    <a:pt x="5276850" y="4083939"/>
                    <a:pt x="5106289" y="4254500"/>
                    <a:pt x="4895850" y="4254500"/>
                  </a:cubicBezTo>
                  <a:lnTo>
                    <a:pt x="381000" y="4254500"/>
                  </a:lnTo>
                  <a:cubicBezTo>
                    <a:pt x="170561" y="4254500"/>
                    <a:pt x="0" y="4083939"/>
                    <a:pt x="0" y="3873500"/>
                  </a:cubicBezTo>
                  <a:lnTo>
                    <a:pt x="0" y="381000"/>
                  </a:lnTo>
                  <a:cubicBezTo>
                    <a:pt x="0" y="170561"/>
                    <a:pt x="170561" y="0"/>
                    <a:pt x="381000" y="0"/>
                  </a:cubicBezTo>
                  <a:close/>
                </a:path>
              </a:pathLst>
            </a:custGeom>
            <a:solidFill>
              <a:srgbClr val="F0E9DD"/>
            </a:solidFill>
          </p:spPr>
          <p:txBody>
            <a:bodyPr/>
            <a:p/>
          </p:txBody>
        </p:sp>
      </p:grpSp>
      <p:sp>
        <p:nvSpPr>
          <p:cNvPr id="11" name="TextBox 11"/>
          <p:cNvSpPr txBox="1"/>
          <p:nvPr/>
        </p:nvSpPr>
        <p:spPr>
          <a:xfrm>
            <a:off x="1143000" y="3097187"/>
            <a:ext cx="1341234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spc="0" b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Research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3740601"/>
            <a:ext cx="137175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zh-CN" sz="24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研究助理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4451452"/>
            <a:ext cx="34863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交付：产品与行为索引；验收：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4880077"/>
            <a:ext cx="20575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每条事实可追溯。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062538" y="2834583"/>
            <a:ext cx="3957638" cy="3190875"/>
            <a:chOff x="0" y="0"/>
            <a:chExt cx="5276850" cy="4254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76850" cy="4254500"/>
            </a:xfrm>
            <a:custGeom>
              <a:avLst/>
              <a:gdLst/>
              <a:ahLst/>
              <a:cxnLst/>
              <a:rect l="l" t="t" r="r" b="b"/>
              <a:pathLst>
                <a:path w="5276850" h="4254500">
                  <a:moveTo>
                    <a:pt x="381000" y="0"/>
                  </a:moveTo>
                  <a:lnTo>
                    <a:pt x="4895850" y="0"/>
                  </a:lnTo>
                  <a:cubicBezTo>
                    <a:pt x="5106289" y="0"/>
                    <a:pt x="5276850" y="170561"/>
                    <a:pt x="5276850" y="381000"/>
                  </a:cubicBezTo>
                  <a:lnTo>
                    <a:pt x="5276850" y="3873500"/>
                  </a:lnTo>
                  <a:cubicBezTo>
                    <a:pt x="5276850" y="4083939"/>
                    <a:pt x="5106289" y="4254500"/>
                    <a:pt x="4895850" y="4254500"/>
                  </a:cubicBezTo>
                  <a:lnTo>
                    <a:pt x="381000" y="4254500"/>
                  </a:lnTo>
                  <a:cubicBezTo>
                    <a:pt x="170561" y="4254500"/>
                    <a:pt x="0" y="4083939"/>
                    <a:pt x="0" y="3873500"/>
                  </a:cubicBezTo>
                  <a:lnTo>
                    <a:pt x="0" y="381000"/>
                  </a:lnTo>
                  <a:cubicBezTo>
                    <a:pt x="0" y="170561"/>
                    <a:pt x="170561" y="0"/>
                    <a:pt x="381000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17" name="TextBox 17"/>
          <p:cNvSpPr txBox="1"/>
          <p:nvPr/>
        </p:nvSpPr>
        <p:spPr>
          <a:xfrm>
            <a:off x="5348288" y="3097187"/>
            <a:ext cx="123021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spc="0" b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Concept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8288" y="3750126"/>
            <a:ext cx="167655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zh-CN" sz="24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概念设计师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48288" y="4451452"/>
            <a:ext cx="34863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交付：统一造型与场景；验收：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48288" y="4880077"/>
            <a:ext cx="277192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比例、耳鼻、色彩一致。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67825" y="2834583"/>
            <a:ext cx="3957638" cy="3190875"/>
            <a:chOff x="0" y="0"/>
            <a:chExt cx="5276850" cy="4254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76850" cy="4254500"/>
            </a:xfrm>
            <a:custGeom>
              <a:avLst/>
              <a:gdLst/>
              <a:ahLst/>
              <a:cxnLst/>
              <a:rect l="l" t="t" r="r" b="b"/>
              <a:pathLst>
                <a:path w="5276850" h="4254500">
                  <a:moveTo>
                    <a:pt x="381000" y="0"/>
                  </a:moveTo>
                  <a:lnTo>
                    <a:pt x="4895850" y="0"/>
                  </a:lnTo>
                  <a:cubicBezTo>
                    <a:pt x="5106289" y="0"/>
                    <a:pt x="5276850" y="170561"/>
                    <a:pt x="5276850" y="381000"/>
                  </a:cubicBezTo>
                  <a:lnTo>
                    <a:pt x="5276850" y="3873500"/>
                  </a:lnTo>
                  <a:cubicBezTo>
                    <a:pt x="5276850" y="4083939"/>
                    <a:pt x="5106289" y="4254500"/>
                    <a:pt x="4895850" y="4254500"/>
                  </a:cubicBezTo>
                  <a:lnTo>
                    <a:pt x="381000" y="4254500"/>
                  </a:lnTo>
                  <a:cubicBezTo>
                    <a:pt x="170561" y="4254500"/>
                    <a:pt x="0" y="4083939"/>
                    <a:pt x="0" y="3873500"/>
                  </a:cubicBezTo>
                  <a:lnTo>
                    <a:pt x="0" y="381000"/>
                  </a:lnTo>
                  <a:cubicBezTo>
                    <a:pt x="0" y="170561"/>
                    <a:pt x="170561" y="0"/>
                    <a:pt x="381000" y="0"/>
                  </a:cubicBezTo>
                  <a:close/>
                </a:path>
              </a:pathLst>
            </a:custGeom>
            <a:solidFill>
              <a:srgbClr val="F0DEDC"/>
            </a:solidFill>
          </p:spPr>
          <p:txBody>
            <a:bodyPr/>
            <a:p/>
          </p:txBody>
        </p:sp>
      </p:grpSp>
      <p:sp>
        <p:nvSpPr>
          <p:cNvPr id="23" name="TextBox 23"/>
          <p:cNvSpPr txBox="1"/>
          <p:nvPr/>
        </p:nvSpPr>
        <p:spPr>
          <a:xfrm>
            <a:off x="9553575" y="3097187"/>
            <a:ext cx="1394069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spc="0" b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Structure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53575" y="3750126"/>
            <a:ext cx="137175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zh-CN" sz="24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结构助理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53575" y="4451452"/>
            <a:ext cx="34863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交付：机构候选与风险；验收：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53575" y="4880077"/>
            <a:ext cx="20575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由工程样机证实。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473112" y="2834583"/>
            <a:ext cx="3957638" cy="3190875"/>
            <a:chOff x="0" y="0"/>
            <a:chExt cx="5276850" cy="4254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276850" cy="4254500"/>
            </a:xfrm>
            <a:custGeom>
              <a:avLst/>
              <a:gdLst/>
              <a:ahLst/>
              <a:cxnLst/>
              <a:rect l="l" t="t" r="r" b="b"/>
              <a:pathLst>
                <a:path w="5276850" h="4254500">
                  <a:moveTo>
                    <a:pt x="381000" y="0"/>
                  </a:moveTo>
                  <a:lnTo>
                    <a:pt x="4895850" y="0"/>
                  </a:lnTo>
                  <a:cubicBezTo>
                    <a:pt x="5106289" y="0"/>
                    <a:pt x="5276850" y="170561"/>
                    <a:pt x="5276850" y="381000"/>
                  </a:cubicBezTo>
                  <a:lnTo>
                    <a:pt x="5276850" y="3873500"/>
                  </a:lnTo>
                  <a:cubicBezTo>
                    <a:pt x="5276850" y="4083939"/>
                    <a:pt x="5106289" y="4254500"/>
                    <a:pt x="4895850" y="4254500"/>
                  </a:cubicBezTo>
                  <a:lnTo>
                    <a:pt x="381000" y="4254500"/>
                  </a:lnTo>
                  <a:cubicBezTo>
                    <a:pt x="170561" y="4254500"/>
                    <a:pt x="0" y="4083939"/>
                    <a:pt x="0" y="3873500"/>
                  </a:cubicBezTo>
                  <a:lnTo>
                    <a:pt x="0" y="381000"/>
                  </a:lnTo>
                  <a:cubicBezTo>
                    <a:pt x="0" y="170561"/>
                    <a:pt x="170561" y="0"/>
                    <a:pt x="381000" y="0"/>
                  </a:cubicBezTo>
                  <a:close/>
                </a:path>
              </a:pathLst>
            </a:custGeom>
            <a:solidFill>
              <a:srgbClr val="EDEADF"/>
            </a:solidFill>
          </p:spPr>
          <p:txBody>
            <a:bodyPr/>
            <a:p/>
          </p:txBody>
        </p:sp>
      </p:grpSp>
      <p:sp>
        <p:nvSpPr>
          <p:cNvPr id="29" name="TextBox 29"/>
          <p:cNvSpPr txBox="1"/>
          <p:nvPr/>
        </p:nvSpPr>
        <p:spPr>
          <a:xfrm>
            <a:off x="13758862" y="3097187"/>
            <a:ext cx="93047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spc="0" b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Visual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58862" y="3750126"/>
            <a:ext cx="167655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zh-CN" sz="24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视觉设计师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758862" y="4451452"/>
            <a:ext cx="324817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交付：讲解图与品牌页面；验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758862" y="4880077"/>
            <a:ext cx="30100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收：结论清楚、假设可见。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57250" y="6787458"/>
            <a:ext cx="16573500" cy="1413424"/>
            <a:chOff x="0" y="0"/>
            <a:chExt cx="22098000" cy="188456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098000" cy="1884553"/>
            </a:xfrm>
            <a:custGeom>
              <a:avLst/>
              <a:gdLst/>
              <a:ahLst/>
              <a:cxnLst/>
              <a:rect l="l" t="t" r="r" b="b"/>
              <a:pathLst>
                <a:path w="22098000" h="1884553">
                  <a:moveTo>
                    <a:pt x="304800" y="0"/>
                  </a:moveTo>
                  <a:lnTo>
                    <a:pt x="21793200" y="0"/>
                  </a:lnTo>
                  <a:cubicBezTo>
                    <a:pt x="21961475" y="0"/>
                    <a:pt x="22098000" y="136525"/>
                    <a:pt x="22098000" y="304800"/>
                  </a:cubicBezTo>
                  <a:lnTo>
                    <a:pt x="22098000" y="1579753"/>
                  </a:lnTo>
                  <a:cubicBezTo>
                    <a:pt x="22098000" y="1748028"/>
                    <a:pt x="21961475" y="1884553"/>
                    <a:pt x="21793200" y="1884553"/>
                  </a:cubicBezTo>
                  <a:lnTo>
                    <a:pt x="304800" y="1884553"/>
                  </a:lnTo>
                  <a:cubicBezTo>
                    <a:pt x="136525" y="1884553"/>
                    <a:pt x="0" y="1748028"/>
                    <a:pt x="0" y="1579753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1E8DA"/>
            </a:solidFill>
          </p:spPr>
          <p:txBody>
            <a:bodyPr/>
            <a:p/>
          </p:txBody>
        </p:sp>
      </p:grpSp>
      <p:sp>
        <p:nvSpPr>
          <p:cNvPr id="35" name="TextBox 35"/>
          <p:cNvSpPr txBox="1"/>
          <p:nvPr/>
        </p:nvSpPr>
        <p:spPr>
          <a:xfrm>
            <a:off x="1181100" y="6992055"/>
            <a:ext cx="682005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zh-CN" sz="21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设计总监的门槛：来源、造型、机构、成本，四道验收。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81100" y="7515492"/>
            <a:ext cx="12954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本轮已完成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388098" y="7515492"/>
            <a:ext cx="35435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AI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653903" y="7515492"/>
            <a:ext cx="792495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8"/>
              </a:lnSpc>
            </a:pPr>
            <a:r>
              <a:rPr lang="zh-CN" sz="1800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场景与页面执行；品牌产品已核对官方总览；用户研究与机构性能仍待验证。</a:t>
            </a:r>
          </a:p>
        </p:txBody>
      </p:sp>
      <p:sp>
        <p:nvSpPr>
          <p:cNvPr id="39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40" name="SUDA small 25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2312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1877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3278" y="572548"/>
            <a:ext cx="77628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LESS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81073" y="572548"/>
            <a:ext cx="64264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BUT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65374" y="572548"/>
            <a:ext cx="148857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STRONGER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945261"/>
            <a:ext cx="100584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不断删减，才留下最强的那个动作。</a:t>
            </a:r>
          </a:p>
        </p:txBody>
      </p:sp>
      <p:sp>
        <p:nvSpPr>
          <p:cNvPr id="8" name="AutoShape 8"/>
          <p:cNvSpPr/>
          <p:nvPr/>
        </p:nvSpPr>
        <p:spPr>
          <a:xfrm rot="20880">
            <a:off x="847696" y="3163195"/>
            <a:ext cx="3135573" cy="0"/>
          </a:xfrm>
          <a:prstGeom prst="line">
            <a:avLst/>
          </a:prstGeom>
          <a:ln w="9525" cap="rnd">
            <a:solidFill>
              <a:srgbClr val="D9CCB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047750" y="3303594"/>
            <a:ext cx="69323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BCA98E"/>
                </a:solidFill>
                <a:latin typeface="ChillRoundM"/>
                <a:ea typeface="寒蝉半圆体"/>
                <a:cs typeface="ChillRoundM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" y="4653286"/>
            <a:ext cx="144780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7"/>
              </a:lnSpc>
            </a:pPr>
            <a:r>
              <a:rPr lang="zh-CN" sz="255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晚安海豹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750" y="5423002"/>
            <a:ext cx="181942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探索安抚与陪伴</a:t>
            </a:r>
          </a:p>
        </p:txBody>
      </p:sp>
      <p:sp>
        <p:nvSpPr>
          <p:cNvPr id="12" name="AutoShape 12"/>
          <p:cNvSpPr/>
          <p:nvPr/>
        </p:nvSpPr>
        <p:spPr>
          <a:xfrm rot="20880">
            <a:off x="4211812" y="3163195"/>
            <a:ext cx="3135716" cy="0"/>
          </a:xfrm>
          <a:prstGeom prst="line">
            <a:avLst/>
          </a:prstGeom>
          <a:ln w="9525" cap="rnd">
            <a:solidFill>
              <a:srgbClr val="D9CCB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411866" y="3303594"/>
            <a:ext cx="73104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BCA98E"/>
                </a:solidFill>
                <a:latin typeface="ChillRoundM"/>
                <a:ea typeface="寒蝉半圆体"/>
                <a:cs typeface="ChillRoundM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11866" y="4653286"/>
            <a:ext cx="144780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7"/>
              </a:lnSpc>
            </a:pPr>
            <a:r>
              <a:rPr lang="zh-CN" sz="255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旅行陪伴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11866" y="5423002"/>
            <a:ext cx="15813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转向随身场景</a:t>
            </a:r>
          </a:p>
        </p:txBody>
      </p:sp>
      <p:sp>
        <p:nvSpPr>
          <p:cNvPr id="16" name="AutoShape 16"/>
          <p:cNvSpPr/>
          <p:nvPr/>
        </p:nvSpPr>
        <p:spPr>
          <a:xfrm rot="20880">
            <a:off x="7576071" y="3163195"/>
            <a:ext cx="3135716" cy="0"/>
          </a:xfrm>
          <a:prstGeom prst="line">
            <a:avLst/>
          </a:prstGeom>
          <a:ln w="9525" cap="rnd">
            <a:solidFill>
              <a:srgbClr val="D9CCB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7776124" y="3303594"/>
            <a:ext cx="75470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BCA98E"/>
                </a:solidFill>
                <a:latin typeface="ChillRoundM"/>
                <a:ea typeface="寒蝉半圆体"/>
                <a:cs typeface="ChillRoundM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76124" y="4653286"/>
            <a:ext cx="112395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7"/>
              </a:lnSpc>
            </a:pPr>
            <a:r>
              <a:rPr lang="zh-CN" sz="255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花枝鼠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76124" y="5423002"/>
            <a:ext cx="229567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建立校园命名与体态</a:t>
            </a:r>
          </a:p>
        </p:txBody>
      </p:sp>
      <p:sp>
        <p:nvSpPr>
          <p:cNvPr id="20" name="AutoShape 20"/>
          <p:cNvSpPr/>
          <p:nvPr/>
        </p:nvSpPr>
        <p:spPr>
          <a:xfrm rot="20880">
            <a:off x="10940329" y="3163195"/>
            <a:ext cx="3135716" cy="0"/>
          </a:xfrm>
          <a:prstGeom prst="line">
            <a:avLst/>
          </a:prstGeom>
          <a:ln w="9525" cap="rnd">
            <a:solidFill>
              <a:srgbClr val="D9CCB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1140383" y="3303594"/>
            <a:ext cx="76020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BCA98E"/>
                </a:solidFill>
                <a:latin typeface="ChillRoundM"/>
                <a:ea typeface="寒蝉半圆体"/>
                <a:cs typeface="ChillRoundM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40383" y="4653286"/>
            <a:ext cx="177165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7"/>
              </a:lnSpc>
            </a:pPr>
            <a:r>
              <a:rPr lang="zh-CN" sz="255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多交互探索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40383" y="5423002"/>
            <a:ext cx="229567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减少机构与记忆负担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314141" y="3167958"/>
            <a:ext cx="3116609" cy="3000375"/>
            <a:chOff x="0" y="0"/>
            <a:chExt cx="4155478" cy="4000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155440" cy="4000500"/>
            </a:xfrm>
            <a:custGeom>
              <a:avLst/>
              <a:gdLst/>
              <a:ahLst/>
              <a:cxnLst/>
              <a:rect l="l" t="t" r="r" b="b"/>
              <a:pathLst>
                <a:path w="4155440" h="4000500">
                  <a:moveTo>
                    <a:pt x="0" y="0"/>
                  </a:moveTo>
                  <a:lnTo>
                    <a:pt x="4155440" y="0"/>
                  </a:lnTo>
                  <a:lnTo>
                    <a:pt x="4155440" y="3683000"/>
                  </a:lnTo>
                  <a:cubicBezTo>
                    <a:pt x="4155440" y="3858387"/>
                    <a:pt x="4013327" y="4000500"/>
                    <a:pt x="3837940" y="4000500"/>
                  </a:cubicBezTo>
                  <a:lnTo>
                    <a:pt x="317500" y="4000500"/>
                  </a:lnTo>
                  <a:cubicBezTo>
                    <a:pt x="142113" y="4000500"/>
                    <a:pt x="0" y="3858387"/>
                    <a:pt x="0" y="36830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DDC7"/>
            </a:solidFill>
          </p:spPr>
          <p:txBody>
            <a:bodyPr/>
            <a:p/>
          </p:txBody>
        </p:sp>
      </p:grpSp>
      <p:sp>
        <p:nvSpPr>
          <p:cNvPr id="26" name="AutoShape 26"/>
          <p:cNvSpPr/>
          <p:nvPr/>
        </p:nvSpPr>
        <p:spPr>
          <a:xfrm rot="20880">
            <a:off x="14304588" y="3163195"/>
            <a:ext cx="3135716" cy="0"/>
          </a:xfrm>
          <a:prstGeom prst="line">
            <a:avLst/>
          </a:prstGeom>
          <a:ln w="9525" cap="rnd">
            <a:solidFill>
              <a:srgbClr val="E07B5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4504641" y="3303594"/>
            <a:ext cx="74503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504641" y="4653286"/>
            <a:ext cx="144780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7"/>
              </a:lnSpc>
            </a:pPr>
            <a:r>
              <a:rPr lang="zh-CN" sz="255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捏压拥抱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504641" y="5423002"/>
            <a:ext cx="25338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保留可演示的第一动作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7250" y="9114320"/>
            <a:ext cx="123840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概念演进复盘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93697" y="9114320"/>
            <a:ext cx="19645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88356" y="9114320"/>
            <a:ext cx="232425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zh-CN" sz="1425" b="0" spc="0">
                <a:solidFill>
                  <a:srgbClr val="9A8C7B"/>
                </a:solidFill>
                <a:latin typeface="SimSun"/>
                <a:ea typeface="SimSun"/>
                <a:cs typeface="SimSun"/>
              </a:rPr>
              <a:t>未提供历史样机与实验数据</a:t>
            </a:r>
          </a:p>
        </p:txBody>
      </p:sp>
      <p:sp>
        <p:nvSpPr>
          <p:cNvPr id="33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34" name="SUDA small 26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2802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6934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8336" y="572548"/>
            <a:ext cx="63891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THE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48770" y="572548"/>
            <a:ext cx="133930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DECISION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7250" y="945261"/>
            <a:ext cx="6962775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 dirty="0" err="1">
                <a:solidFill>
                  <a:srgbClr val="E66E43"/>
                </a:solidFill>
                <a:latin typeface="ChillRoundM" pitchFamily="2" charset="-122"/>
                <a:ea typeface="寒蝉半圆体"/>
                <a:cs typeface="ChillRoundM"/>
              </a:rPr>
              <a:t>先做一只会拥抱的鼠鼠</a:t>
            </a:r>
            <a:r>
              <a:rPr lang="zh-CN" sz="4800" b="0" spc="0" dirty="0">
                <a:solidFill>
                  <a:srgbClr val="E66E43"/>
                </a:solidFill>
                <a:latin typeface="ChillRoundM" pitchFamily="2" charset="-122"/>
                <a:ea typeface="寒蝉半圆体"/>
                <a:cs typeface="ChillRoundM"/>
              </a:rPr>
              <a:t>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3740125"/>
            <a:ext cx="2216496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75"/>
              </a:lnSpc>
            </a:pPr>
            <a:r>
              <a:rPr lang="zh-CN" sz="7500" spc="0" b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ONE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16478" y="3740125"/>
            <a:ext cx="250522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75"/>
              </a:lnSpc>
            </a:pPr>
            <a:r>
              <a:rPr lang="zh-CN" sz="7500" spc="0" b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HUG.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250" y="4845025"/>
            <a:ext cx="2678459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75"/>
              </a:lnSpc>
            </a:pPr>
            <a:r>
              <a:rPr lang="zh-CN" sz="7500" spc="0" b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THAT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64116" y="4845025"/>
            <a:ext cx="44782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75"/>
              </a:lnSpc>
            </a:pPr>
            <a:r>
              <a:rPr lang="zh-CN" sz="7500" spc="0" b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40341" y="4845025"/>
            <a:ext cx="798309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75"/>
              </a:lnSpc>
            </a:pPr>
            <a:r>
              <a:rPr lang="zh-CN" sz="7500" spc="0" b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81373" y="4845025"/>
            <a:ext cx="1334691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75"/>
              </a:lnSpc>
            </a:pPr>
            <a:r>
              <a:rPr lang="zh-CN" sz="7500" spc="0" b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IT.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881472" y="3229870"/>
            <a:ext cx="8484241" cy="1323975"/>
            <a:chOff x="0" y="0"/>
            <a:chExt cx="11312322" cy="1765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12271" cy="1765300"/>
            </a:xfrm>
            <a:custGeom>
              <a:avLst/>
              <a:gdLst/>
              <a:ahLst/>
              <a:cxnLst/>
              <a:rect l="l" t="t" r="r" b="b"/>
              <a:pathLst>
                <a:path w="11312271" h="1765300">
                  <a:moveTo>
                    <a:pt x="381000" y="0"/>
                  </a:moveTo>
                  <a:lnTo>
                    <a:pt x="10931271" y="0"/>
                  </a:lnTo>
                  <a:cubicBezTo>
                    <a:pt x="11141710" y="0"/>
                    <a:pt x="11312271" y="170561"/>
                    <a:pt x="11312271" y="381000"/>
                  </a:cubicBezTo>
                  <a:lnTo>
                    <a:pt x="11312271" y="1384300"/>
                  </a:lnTo>
                  <a:cubicBezTo>
                    <a:pt x="11312271" y="1594739"/>
                    <a:pt x="11141710" y="1765300"/>
                    <a:pt x="10931271" y="1765300"/>
                  </a:cubicBezTo>
                  <a:lnTo>
                    <a:pt x="381000" y="1765300"/>
                  </a:lnTo>
                  <a:cubicBezTo>
                    <a:pt x="170561" y="1765300"/>
                    <a:pt x="0" y="1594739"/>
                    <a:pt x="0" y="1384300"/>
                  </a:cubicBezTo>
                  <a:lnTo>
                    <a:pt x="0" y="381000"/>
                  </a:lnTo>
                  <a:cubicBezTo>
                    <a:pt x="0" y="170561"/>
                    <a:pt x="170561" y="0"/>
                    <a:pt x="381000" y="0"/>
                  </a:cubicBezTo>
                  <a:close/>
                </a:path>
              </a:pathLst>
            </a:custGeom>
            <a:solidFill>
              <a:srgbClr val="F0E9DD"/>
            </a:solidFill>
          </p:spPr>
          <p:txBody>
            <a:bodyPr/>
            <a:p/>
          </p:txBody>
        </p:sp>
      </p:grpSp>
      <p:sp>
        <p:nvSpPr>
          <p:cNvPr id="15" name="TextBox 15"/>
          <p:cNvSpPr txBox="1"/>
          <p:nvPr/>
        </p:nvSpPr>
        <p:spPr>
          <a:xfrm>
            <a:off x="9167222" y="3406750"/>
            <a:ext cx="41865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spc="0" b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86347" y="3373888"/>
            <a:ext cx="228615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zh-CN" sz="24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只保留最强动作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86347" y="3875189"/>
            <a:ext cx="34863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先把捏压、保持、释放做可靠。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881472" y="4725295"/>
            <a:ext cx="8484241" cy="1323975"/>
            <a:chOff x="0" y="0"/>
            <a:chExt cx="11312322" cy="1765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12271" cy="1765300"/>
            </a:xfrm>
            <a:custGeom>
              <a:avLst/>
              <a:gdLst/>
              <a:ahLst/>
              <a:cxnLst/>
              <a:rect l="l" t="t" r="r" b="b"/>
              <a:pathLst>
                <a:path w="11312271" h="1765300">
                  <a:moveTo>
                    <a:pt x="381000" y="0"/>
                  </a:moveTo>
                  <a:lnTo>
                    <a:pt x="10931271" y="0"/>
                  </a:lnTo>
                  <a:cubicBezTo>
                    <a:pt x="11141710" y="0"/>
                    <a:pt x="11312271" y="170561"/>
                    <a:pt x="11312271" y="381000"/>
                  </a:cubicBezTo>
                  <a:lnTo>
                    <a:pt x="11312271" y="1384300"/>
                  </a:lnTo>
                  <a:cubicBezTo>
                    <a:pt x="11312271" y="1594739"/>
                    <a:pt x="11141710" y="1765300"/>
                    <a:pt x="10931271" y="1765300"/>
                  </a:cubicBezTo>
                  <a:lnTo>
                    <a:pt x="381000" y="1765300"/>
                  </a:lnTo>
                  <a:cubicBezTo>
                    <a:pt x="170561" y="1765300"/>
                    <a:pt x="0" y="1594739"/>
                    <a:pt x="0" y="1384300"/>
                  </a:cubicBezTo>
                  <a:lnTo>
                    <a:pt x="0" y="381000"/>
                  </a:lnTo>
                  <a:cubicBezTo>
                    <a:pt x="0" y="170561"/>
                    <a:pt x="170561" y="0"/>
                    <a:pt x="381000" y="0"/>
                  </a:cubicBezTo>
                  <a:close/>
                </a:path>
              </a:pathLst>
            </a:custGeom>
            <a:solidFill>
              <a:srgbClr val="DBE9EC"/>
            </a:solidFill>
          </p:spPr>
          <p:txBody>
            <a:bodyPr/>
            <a:p/>
          </p:txBody>
        </p:sp>
      </p:grpSp>
      <p:sp>
        <p:nvSpPr>
          <p:cNvPr id="20" name="TextBox 20"/>
          <p:cNvSpPr txBox="1"/>
          <p:nvPr/>
        </p:nvSpPr>
        <p:spPr>
          <a:xfrm>
            <a:off x="9167222" y="4902175"/>
            <a:ext cx="43457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spc="0" b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86347" y="4869313"/>
            <a:ext cx="289575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zh-CN" sz="24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先做一色、一套机构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86347" y="5370614"/>
            <a:ext cx="34863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把授权、触感与安全一起验证。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881472" y="6220720"/>
            <a:ext cx="8484241" cy="1323975"/>
            <a:chOff x="0" y="0"/>
            <a:chExt cx="11312322" cy="17653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312271" cy="1765300"/>
            </a:xfrm>
            <a:custGeom>
              <a:avLst/>
              <a:gdLst/>
              <a:ahLst/>
              <a:cxnLst/>
              <a:rect l="l" t="t" r="r" b="b"/>
              <a:pathLst>
                <a:path w="11312271" h="1765300">
                  <a:moveTo>
                    <a:pt x="381000" y="0"/>
                  </a:moveTo>
                  <a:lnTo>
                    <a:pt x="10931271" y="0"/>
                  </a:lnTo>
                  <a:cubicBezTo>
                    <a:pt x="11141710" y="0"/>
                    <a:pt x="11312271" y="170561"/>
                    <a:pt x="11312271" y="381000"/>
                  </a:cubicBezTo>
                  <a:lnTo>
                    <a:pt x="11312271" y="1384300"/>
                  </a:lnTo>
                  <a:cubicBezTo>
                    <a:pt x="11312271" y="1594739"/>
                    <a:pt x="11141710" y="1765300"/>
                    <a:pt x="10931271" y="1765300"/>
                  </a:cubicBezTo>
                  <a:lnTo>
                    <a:pt x="381000" y="1765300"/>
                  </a:lnTo>
                  <a:cubicBezTo>
                    <a:pt x="170561" y="1765300"/>
                    <a:pt x="0" y="1594739"/>
                    <a:pt x="0" y="1384300"/>
                  </a:cubicBezTo>
                  <a:lnTo>
                    <a:pt x="0" y="381000"/>
                  </a:lnTo>
                  <a:cubicBezTo>
                    <a:pt x="0" y="170561"/>
                    <a:pt x="170561" y="0"/>
                    <a:pt x="381000" y="0"/>
                  </a:cubicBezTo>
                  <a:close/>
                </a:path>
              </a:pathLst>
            </a:custGeom>
            <a:solidFill>
              <a:srgbClr val="F0DEDC"/>
            </a:solidFill>
          </p:spPr>
          <p:txBody>
            <a:bodyPr/>
            <a:p/>
          </p:txBody>
        </p:sp>
      </p:grpSp>
      <p:sp>
        <p:nvSpPr>
          <p:cNvPr id="25" name="TextBox 25"/>
          <p:cNvSpPr txBox="1"/>
          <p:nvPr/>
        </p:nvSpPr>
        <p:spPr>
          <a:xfrm>
            <a:off x="9167222" y="6397600"/>
            <a:ext cx="444703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5"/>
              </a:lnSpc>
            </a:pPr>
            <a:r>
              <a:rPr lang="zh-CN" sz="2025" spc="0" b="0">
                <a:solidFill>
                  <a:srgbClr val="E66E43"/>
                </a:solidFill>
                <a:latin typeface="致一圓體_傳承形"/>
                <a:ea typeface="致一圓體_傳承形"/>
                <a:cs typeface="致一圓體_傳承形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86347" y="6364738"/>
            <a:ext cx="259095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zh-CN" sz="240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用证据决定下一步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86347" y="6866039"/>
            <a:ext cx="515317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用户愿带、工厂能做、试售算得过账，再扩展。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7250" y="1921326"/>
            <a:ext cx="58674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zh-CN" sz="3000" b="0" spc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而不是一只功能很多的电子玩具。</a:t>
            </a:r>
          </a:p>
        </p:txBody>
      </p:sp>
      <p:sp>
        <p:nvSpPr>
          <p:cNvPr id="29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30" name="SUDA small 27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72548"/>
            <a:ext cx="42802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06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6934" y="572548"/>
            <a:ext cx="29988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8336" y="572548"/>
            <a:ext cx="9880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THANK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98071" y="572548"/>
            <a:ext cx="65037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spc="0" b="0">
                <a:solidFill>
                  <a:srgbClr val="998D7C"/>
                </a:solidFill>
                <a:latin typeface="致一圓體_傳承形"/>
                <a:ea typeface="致一圓體_傳承形"/>
                <a:cs typeface="致一圓體_傳承形"/>
              </a:rPr>
              <a:t>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7250" y="945261"/>
            <a:ext cx="5105400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9"/>
              </a:lnSpc>
            </a:pPr>
            <a:r>
              <a:rPr lang="zh-CN" sz="4800" b="0" spc="0" dirty="0" err="1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它只是会抱住你</a:t>
            </a:r>
            <a:r>
              <a:rPr lang="zh-CN" sz="4800" b="0" spc="0" dirty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2204599"/>
            <a:ext cx="4973374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77"/>
              </a:lnSpc>
            </a:pPr>
            <a:r>
              <a:rPr lang="zh-CN" sz="10950" spc="0" b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THANK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3817744"/>
            <a:ext cx="3446107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77"/>
              </a:lnSpc>
            </a:pPr>
            <a:r>
              <a:rPr lang="zh-CN" sz="10950" spc="0" b="0">
                <a:solidFill>
                  <a:srgbClr val="E66E43"/>
                </a:solidFill>
                <a:latin typeface="ChillRoundM"/>
                <a:ea typeface="寒蝉半圆体"/>
                <a:cs typeface="ChillRoundM"/>
              </a:rPr>
              <a:t>YOU.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48175" y="2713615"/>
            <a:ext cx="114940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Sources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25100" y="2713615"/>
            <a:ext cx="30852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/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61139" y="2713615"/>
            <a:ext cx="129555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zh-CN" sz="2250" b="0" spc="0">
                <a:solidFill>
                  <a:srgbClr val="655C52"/>
                </a:solidFill>
                <a:latin typeface="ChillRoundM"/>
                <a:ea typeface="寒蝉半圆体"/>
                <a:cs typeface="ChillRoundM"/>
              </a:rPr>
              <a:t>研究入口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48175" y="3403702"/>
            <a:ext cx="6947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Yukai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57032" y="3403702"/>
            <a:ext cx="138291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Engineering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54070" y="3403702"/>
            <a:ext cx="28262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50828" y="3403702"/>
            <a:ext cx="15813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官方产品总览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48175" y="3856139"/>
            <a:ext cx="8471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Qoobo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09432" y="3856139"/>
            <a:ext cx="28247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6038" y="3856139"/>
            <a:ext cx="11050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摇尾陪伴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48175" y="4308577"/>
            <a:ext cx="119404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AMAGAMI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56352" y="4308577"/>
            <a:ext cx="65425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HAM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24727" y="4308577"/>
            <a:ext cx="65425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HAM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93103" y="4308577"/>
            <a:ext cx="28262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89852" y="4308577"/>
            <a:ext cx="6288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轻咬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48175" y="4761014"/>
            <a:ext cx="315811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11443" y="4761014"/>
            <a:ext cx="27741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36316" y="4761014"/>
            <a:ext cx="71541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kojita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65852" y="4761014"/>
            <a:ext cx="66214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FuFu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742114" y="4761014"/>
            <a:ext cx="28262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38862" y="4761014"/>
            <a:ext cx="6288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吹气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48175" y="5213452"/>
            <a:ext cx="85427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Mirumi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16576" y="5213452"/>
            <a:ext cx="28247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/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13181" y="5213452"/>
            <a:ext cx="110505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zh-CN" sz="1875" b="0" spc="0">
                <a:solidFill>
                  <a:srgbClr val="9A704B"/>
                </a:solidFill>
                <a:latin typeface="致一圓體_傳承形"/>
                <a:ea typeface="致一圓體_傳承形"/>
                <a:cs typeface="致一圓體_傳承形"/>
              </a:rPr>
              <a:t>随身反应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48175" y="5850293"/>
            <a:ext cx="23526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品牌行为与产品图已核对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04409" y="5850293"/>
            <a:ext cx="60796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Yukai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015788" y="5850293"/>
            <a:ext cx="255285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官方产品总览；查阅日期：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416088" y="5850293"/>
            <a:ext cx="97035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351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2026.10.21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233894" y="5850293"/>
            <a:ext cx="35257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248175" y="6380712"/>
            <a:ext cx="115252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鼠大图像：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48157" y="6380712"/>
            <a:ext cx="32921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AI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80919" y="6380712"/>
            <a:ext cx="25527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概念可视化；品牌产品图：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881077" y="6380712"/>
            <a:ext cx="60811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Yukai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392598" y="6380712"/>
            <a:ext cx="118601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Engineering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482162" y="6380712"/>
            <a:ext cx="155272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官方产品总览。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248175" y="6720640"/>
            <a:ext cx="63531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校园授权、用户画像、市场定位、结构与商业指标均按提案假设处理。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48175" y="7051034"/>
            <a:ext cx="115252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页面实现：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48157" y="7060559"/>
            <a:ext cx="94684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Frontend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098559" y="7060559"/>
            <a:ext cx="67434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Slides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676459" y="7060559"/>
            <a:ext cx="20106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75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·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781082" y="7060559"/>
            <a:ext cx="379317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zh-CN" sz="1523" b="0" spc="0">
                <a:solidFill>
                  <a:srgbClr val="655C52"/>
                </a:solidFill>
                <a:latin typeface="致一圓體_傳承形"/>
                <a:ea typeface="致一圓體_傳承形"/>
                <a:cs typeface="致一圓體_傳承形"/>
              </a:rPr>
              <a:t>github.com/zarazhangrui/frontend-slides</a:t>
            </a:r>
          </a:p>
        </p:txBody>
      </p:sp>
      <p:sp>
        <p:nvSpPr>
          <p:cNvPr id="50" name="SUDA small 鼠大 / SUDA  ·  设计管理 / 产品策划"/>
          <p:cNvSpPr txBox="1"/>
          <p:nvPr/>
        </p:nvSpPr>
        <p:spPr>
          <a:xfrm>
            <a:off x="781050" y="9658350"/>
            <a:ext cx="12858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鼠大 / SUDA  ·  设计管理 / 产品策划</a:t>
            </a:r>
          </a:p>
        </p:txBody>
      </p:sp>
      <p:sp>
        <p:nvSpPr>
          <p:cNvPr id="51" name="SUDA small 28 / 28"/>
          <p:cNvSpPr txBox="1"/>
          <p:nvPr/>
        </p:nvSpPr>
        <p:spPr>
          <a:xfrm>
            <a:off x="16383000" y="9648825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 spc="0">
                <a:solidFill>
                  <a:srgbClr val="A09280"/>
                </a:solidFill>
                <a:latin typeface="SimSun"/>
                <a:ea typeface="SimSun"/>
                <a:cs typeface="SimSun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9">
      <a:majorFont>
        <a:latin typeface="致一圓體_傳承形"/>
        <a:ea typeface="致一圓體_傳承形"/>
        <a:cs typeface="致一圓體_傳承形"/>
      </a:majorFont>
      <a:minorFont>
        <a:latin typeface="致一圓體_傳承形"/>
        <a:ea typeface="致一圓體_傳承形"/>
        <a:cs typeface="致一圓體_傳承形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致一圓體_傳承形"/>
        <a:ea typeface="致一圓體_傳承形"/>
        <a:cs typeface="致一圓體_傳承形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致一圓體_傳承形"/>
        <a:ea typeface="致一圓體_傳承形"/>
        <a:cs typeface="致一圓體_傳承形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1767</Words>
  <Application>Microsoft Office PowerPoint</Application>
  <PresentationFormat>自定义</PresentationFormat>
  <Paragraphs>931</Paragraphs>
  <Slides>28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寒蝉半圆体</vt:lpstr>
      <vt:lpstr>Calibri</vt:lpstr>
      <vt:lpstr>Zen Maru Gothic Bold</vt:lpstr>
      <vt:lpstr>Arial</vt:lpstr>
      <vt:lpstr>Noto Sans</vt:lpstr>
      <vt:lpstr>Zen Maru Gothic</vt:lpstr>
      <vt:lpstr>Noto Sans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苏大鼠大互动花枝鼠玩偶产品策划 · 69元定价与统一字体修订版</dc:title>
  <cp:lastModifiedBy>2671955103@qq.com</cp:lastModifiedBy>
  <cp:revision>3</cp:revision>
  <dcterms:created xsi:type="dcterms:W3CDTF">2006-08-16T00:00:00Z</dcterms:created>
  <dcterms:modified xsi:type="dcterms:W3CDTF">2026-10-22T01:45:41Z</dcterms:modified>
  <dc:identifier>DAHYpyemxmk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{"Label":"1","ContentProducer":"001191110105MA01AN806X00000","ProduceID":"DAHYpyemxmk","ReservedCode1":"","ContentPropagator":"001191110105MA01AN806X00000","PropagateID":"DAHYpyemxmk","ReservedCode2":""}</vt:lpwstr>
  </property>
</Properties>
</file>